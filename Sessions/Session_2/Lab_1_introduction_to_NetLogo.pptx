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5" r:id="rId2"/>
    <p:sldId id="296" r:id="rId3"/>
    <p:sldId id="369" r:id="rId4"/>
    <p:sldId id="387" r:id="rId5"/>
    <p:sldId id="305" r:id="rId6"/>
    <p:sldId id="298" r:id="rId7"/>
    <p:sldId id="373" r:id="rId8"/>
    <p:sldId id="374" r:id="rId9"/>
    <p:sldId id="377" r:id="rId10"/>
    <p:sldId id="378" r:id="rId11"/>
    <p:sldId id="375" r:id="rId12"/>
    <p:sldId id="379" r:id="rId13"/>
    <p:sldId id="370" r:id="rId14"/>
    <p:sldId id="328" r:id="rId15"/>
    <p:sldId id="310" r:id="rId16"/>
    <p:sldId id="357" r:id="rId17"/>
    <p:sldId id="347" r:id="rId18"/>
    <p:sldId id="381" r:id="rId19"/>
    <p:sldId id="382" r:id="rId20"/>
    <p:sldId id="311" r:id="rId21"/>
    <p:sldId id="333" r:id="rId22"/>
    <p:sldId id="335" r:id="rId23"/>
    <p:sldId id="334" r:id="rId24"/>
    <p:sldId id="371" r:id="rId25"/>
    <p:sldId id="358" r:id="rId26"/>
    <p:sldId id="384" r:id="rId27"/>
    <p:sldId id="385" r:id="rId28"/>
    <p:sldId id="372" r:id="rId29"/>
    <p:sldId id="359" r:id="rId30"/>
    <p:sldId id="353" r:id="rId31"/>
    <p:sldId id="331" r:id="rId32"/>
    <p:sldId id="300" r:id="rId33"/>
    <p:sldId id="304" r:id="rId34"/>
    <p:sldId id="327" r:id="rId35"/>
    <p:sldId id="313" r:id="rId36"/>
    <p:sldId id="314" r:id="rId37"/>
    <p:sldId id="325" r:id="rId38"/>
    <p:sldId id="356" r:id="rId39"/>
    <p:sldId id="326" r:id="rId40"/>
    <p:sldId id="306" r:id="rId41"/>
    <p:sldId id="307" r:id="rId42"/>
    <p:sldId id="301" r:id="rId43"/>
    <p:sldId id="302" r:id="rId44"/>
    <p:sldId id="355" r:id="rId45"/>
    <p:sldId id="365" r:id="rId46"/>
    <p:sldId id="344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017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66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978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99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89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85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2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545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44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390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E59B-7513-4EDE-B2E2-29438AA372F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09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6E59B-7513-4EDE-B2E2-29438AA372F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DEFEA-ABBC-4F81-8C65-303F609F6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059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hyperlink" Target="file:///C:\Program%20Files%20(x86)\NetLogo%205.1.0\docs\index.html" TargetMode="External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modelingcommons.org/account/login" TargetMode="External"/><Relationship Id="rId5" Type="http://schemas.openxmlformats.org/officeDocument/2006/relationships/hyperlink" Target="https://groups.yahoo.com/neo/groups/netlogo-users/info" TargetMode="External"/><Relationship Id="rId4" Type="http://schemas.openxmlformats.org/officeDocument/2006/relationships/hyperlink" Target="file:///C:\Program%20Files%20(x86)\NetLogo%205.1.0\docs\index2.html" TargetMode="Externa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611" y="878861"/>
            <a:ext cx="11660777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6000" dirty="0">
                <a:solidFill>
                  <a:schemeClr val="bg1"/>
                </a:solidFill>
              </a:rPr>
              <a:t>NetLogo </a:t>
            </a:r>
          </a:p>
          <a:p>
            <a:pPr algn="ctr"/>
            <a:r>
              <a:rPr lang="sv-SE" sz="6000" dirty="0">
                <a:solidFill>
                  <a:schemeClr val="bg1"/>
                </a:solidFill>
              </a:rPr>
              <a:t>7.0</a:t>
            </a:r>
          </a:p>
          <a:p>
            <a:pPr algn="ctr"/>
            <a:endParaRPr lang="sv-SE" sz="6000" dirty="0">
              <a:solidFill>
                <a:schemeClr val="bg1"/>
              </a:solidFill>
            </a:endParaRPr>
          </a:p>
          <a:p>
            <a:pPr algn="ctr"/>
            <a:r>
              <a:rPr lang="sv-SE" sz="6000">
                <a:solidFill>
                  <a:schemeClr val="bg1"/>
                </a:solidFill>
              </a:rPr>
              <a:t>Session 2</a:t>
            </a:r>
            <a:endParaRPr lang="sv-SE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511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C2831A5-3943-417F-9486-328563811AF6}"/>
              </a:ext>
            </a:extLst>
          </p:cNvPr>
          <p:cNvSpPr/>
          <p:nvPr/>
        </p:nvSpPr>
        <p:spPr>
          <a:xfrm>
            <a:off x="2583543" y="1355968"/>
            <a:ext cx="827314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2700" b="1" dirty="0" err="1"/>
              <a:t>Goals</a:t>
            </a:r>
            <a:endParaRPr lang="sv-SE" sz="2700" b="1" dirty="0"/>
          </a:p>
          <a:p>
            <a:endParaRPr lang="sv-SE" sz="27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v-SE" sz="2700" dirty="0" err="1"/>
              <a:t>Introduction</a:t>
            </a:r>
            <a:r>
              <a:rPr lang="sv-SE" sz="2700" dirty="0"/>
              <a:t> to NetLogo – Basic </a:t>
            </a:r>
            <a:r>
              <a:rPr lang="sv-SE" sz="2700" dirty="0" err="1"/>
              <a:t>concepts</a:t>
            </a:r>
            <a:endParaRPr lang="sv-SE" sz="27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sv-SE" sz="27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v-SE" sz="2700" dirty="0">
                <a:highlight>
                  <a:srgbClr val="FFFF00"/>
                </a:highlight>
              </a:rPr>
              <a:t>Lab 1: </a:t>
            </a:r>
            <a:r>
              <a:rPr lang="sv-SE" sz="2700" dirty="0" err="1"/>
              <a:t>Introduction</a:t>
            </a:r>
            <a:r>
              <a:rPr lang="sv-SE" sz="2700" dirty="0"/>
              <a:t> to </a:t>
            </a:r>
            <a:r>
              <a:rPr lang="sv-SE" sz="2700" dirty="0" err="1"/>
              <a:t>coding</a:t>
            </a:r>
            <a:r>
              <a:rPr lang="sv-SE" sz="2700" dirty="0"/>
              <a:t> in NetLogo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sv-SE" sz="2700" dirty="0"/>
              <a:t>Creating </a:t>
            </a:r>
            <a:r>
              <a:rPr lang="sv-SE" sz="2700" dirty="0" err="1"/>
              <a:t>variables</a:t>
            </a:r>
            <a:endParaRPr lang="sv-SE" sz="27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sv-SE" sz="2700" dirty="0"/>
              <a:t>Creating </a:t>
            </a:r>
            <a:r>
              <a:rPr lang="sv-SE" sz="2700" dirty="0" err="1"/>
              <a:t>breeds</a:t>
            </a:r>
            <a:endParaRPr lang="sv-SE" sz="27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sv-SE" sz="2700" dirty="0"/>
              <a:t>Creating </a:t>
            </a:r>
            <a:r>
              <a:rPr lang="sv-SE" sz="2700" dirty="0" err="1"/>
              <a:t>turtles</a:t>
            </a:r>
            <a:endParaRPr lang="sv-SE" sz="27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sv-SE" sz="2700" dirty="0"/>
              <a:t>Creating </a:t>
            </a:r>
            <a:r>
              <a:rPr lang="sv-SE" sz="2700" dirty="0" err="1"/>
              <a:t>buttons</a:t>
            </a:r>
            <a:r>
              <a:rPr lang="sv-SE" sz="2700" dirty="0"/>
              <a:t> and sliders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sv-SE" sz="2700" dirty="0"/>
              <a:t>Creating </a:t>
            </a:r>
            <a:r>
              <a:rPr lang="sv-SE" sz="2700" dirty="0" err="1"/>
              <a:t>basic</a:t>
            </a:r>
            <a:r>
              <a:rPr lang="sv-SE" sz="2700" dirty="0"/>
              <a:t> </a:t>
            </a:r>
            <a:r>
              <a:rPr lang="sv-SE" sz="2700" dirty="0" err="1"/>
              <a:t>procedures</a:t>
            </a:r>
            <a:endParaRPr lang="sv-SE" sz="2700" dirty="0"/>
          </a:p>
        </p:txBody>
      </p:sp>
    </p:spTree>
    <p:extLst>
      <p:ext uri="{BB962C8B-B14F-4D97-AF65-F5344CB8AC3E}">
        <p14:creationId xmlns:p14="http://schemas.microsoft.com/office/powerpoint/2010/main" val="2364222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sp>
        <p:nvSpPr>
          <p:cNvPr id="2" name="Rectangle 1"/>
          <p:cNvSpPr/>
          <p:nvPr/>
        </p:nvSpPr>
        <p:spPr>
          <a:xfrm>
            <a:off x="2098589" y="1259298"/>
            <a:ext cx="6021596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NetLogo</a:t>
            </a:r>
            <a:r>
              <a:rPr lang="en-US" dirty="0"/>
              <a:t> is a programmable modeling environment for simulating natural and social phenomena. It was authored by Uri </a:t>
            </a:r>
            <a:r>
              <a:rPr lang="en-US" dirty="0" err="1"/>
              <a:t>Wilensky</a:t>
            </a:r>
            <a:r>
              <a:rPr lang="en-US" dirty="0"/>
              <a:t> in 1999 and has been in continuous development ever since at the Center for Connected Learning and Computer-Based Modeling. (</a:t>
            </a:r>
            <a:r>
              <a:rPr lang="en-US" dirty="0" err="1"/>
              <a:t>Wilensky</a:t>
            </a:r>
            <a:r>
              <a:rPr lang="en-US" dirty="0"/>
              <a:t>, U. 1999)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98589" y="3844376"/>
            <a:ext cx="629513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NetLogo was designed under two main principles: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very accessible programming language able to be used for any individual without any particular training on programing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programming language able to be used to create highly complicated models</a:t>
            </a:r>
          </a:p>
        </p:txBody>
      </p:sp>
      <p:pic>
        <p:nvPicPr>
          <p:cNvPr id="9" name="Picture 2" descr="Image result for Uri Wilensky netlogo">
            <a:extLst>
              <a:ext uri="{FF2B5EF4-FFF2-40B4-BE49-F238E27FC236}">
                <a16:creationId xmlns:a16="http://schemas.microsoft.com/office/drawing/2014/main" id="{4C413F5F-0B9A-498F-839A-BDB1D11FD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48345" y="2536210"/>
            <a:ext cx="2616332" cy="2616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BD1004-29C3-417D-A8C1-48EC1EA2056D}"/>
              </a:ext>
            </a:extLst>
          </p:cNvPr>
          <p:cNvSpPr txBox="1"/>
          <p:nvPr/>
        </p:nvSpPr>
        <p:spPr>
          <a:xfrm>
            <a:off x="9728719" y="5152542"/>
            <a:ext cx="1573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Uri Wilensky 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872783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sp>
        <p:nvSpPr>
          <p:cNvPr id="2" name="Rectangle 1"/>
          <p:cNvSpPr/>
          <p:nvPr/>
        </p:nvSpPr>
        <p:spPr>
          <a:xfrm>
            <a:off x="2098589" y="1259298"/>
            <a:ext cx="6021596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NetLogo</a:t>
            </a:r>
            <a:r>
              <a:rPr lang="en-US" dirty="0"/>
              <a:t> is a programmable modeling environment for simulating natural and social phenomena. It was authored by Uri </a:t>
            </a:r>
            <a:r>
              <a:rPr lang="en-US" dirty="0" err="1"/>
              <a:t>Wilensky</a:t>
            </a:r>
            <a:r>
              <a:rPr lang="en-US" dirty="0"/>
              <a:t> in 1999 and has been in continuous development ever since at the Center for Connected Learning and Computer-Based Modeling. (</a:t>
            </a:r>
            <a:r>
              <a:rPr lang="en-US" dirty="0" err="1"/>
              <a:t>Wilensky</a:t>
            </a:r>
            <a:r>
              <a:rPr lang="en-US" dirty="0"/>
              <a:t>, U. 1999)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98589" y="3844376"/>
            <a:ext cx="629513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NetLogo was designed under two main principles: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very accessible programming language able to be used for any individual without any particular training on programing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programming language able to be used to create highly complicated 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ED716D-29CB-4183-8E89-4B7B055673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437" y="1571025"/>
            <a:ext cx="3048000" cy="423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277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611" y="878861"/>
            <a:ext cx="11660777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6000" dirty="0" err="1">
                <a:solidFill>
                  <a:schemeClr val="bg1"/>
                </a:solidFill>
              </a:rPr>
              <a:t>Why</a:t>
            </a:r>
            <a:r>
              <a:rPr lang="sv-SE" sz="60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sv-SE" sz="6000" dirty="0">
                <a:solidFill>
                  <a:schemeClr val="bg1"/>
                </a:solidFill>
              </a:rPr>
              <a:t>NetLogo?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56144" y="2463172"/>
            <a:ext cx="2467232" cy="246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262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>
                <a:solidFill>
                  <a:schemeClr val="bg1"/>
                </a:solidFill>
              </a:rPr>
              <a:t>ABM with NetLogo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3000" dirty="0" err="1">
                <a:solidFill>
                  <a:schemeClr val="bg1"/>
                </a:solidFill>
              </a:rPr>
              <a:t>Why</a:t>
            </a:r>
            <a:endParaRPr lang="en-US" sz="3000" dirty="0">
              <a:solidFill>
                <a:schemeClr val="bg1"/>
              </a:solidFill>
            </a:endParaRPr>
          </a:p>
          <a:p>
            <a:pPr algn="ctr"/>
            <a:r>
              <a:rPr lang="en-US" sz="3000" dirty="0">
                <a:solidFill>
                  <a:schemeClr val="bg1"/>
                </a:solidFill>
              </a:rPr>
              <a:t>NetLogo?</a:t>
            </a:r>
          </a:p>
        </p:txBody>
      </p:sp>
      <p:sp>
        <p:nvSpPr>
          <p:cNvPr id="2" name="Rectangle 1"/>
          <p:cNvSpPr/>
          <p:nvPr/>
        </p:nvSpPr>
        <p:spPr>
          <a:xfrm>
            <a:off x="2327140" y="1618828"/>
            <a:ext cx="9385889" cy="4072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Because is easy!!!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It’s being used in many scientific fields (</a:t>
            </a:r>
            <a:r>
              <a:rPr lang="sv-SE" sz="2500" dirty="0" err="1"/>
              <a:t>It’s</a:t>
            </a:r>
            <a:r>
              <a:rPr lang="sv-SE" sz="2500" dirty="0"/>
              <a:t> the </a:t>
            </a:r>
            <a:r>
              <a:rPr lang="sv-SE" sz="2500" dirty="0" err="1"/>
              <a:t>most</a:t>
            </a:r>
            <a:r>
              <a:rPr lang="sv-SE" sz="2500" dirty="0"/>
              <a:t> </a:t>
            </a:r>
            <a:r>
              <a:rPr lang="sv-SE" sz="2500" dirty="0" err="1"/>
              <a:t>widely</a:t>
            </a:r>
            <a:r>
              <a:rPr lang="sv-SE" sz="2500" dirty="0"/>
              <a:t> </a:t>
            </a:r>
            <a:r>
              <a:rPr lang="sv-SE" sz="2500" dirty="0" err="1"/>
              <a:t>used</a:t>
            </a:r>
            <a:r>
              <a:rPr lang="sv-SE" sz="2500" dirty="0"/>
              <a:t> </a:t>
            </a:r>
            <a:r>
              <a:rPr lang="sv-SE" sz="2500" dirty="0" err="1"/>
              <a:t>platform</a:t>
            </a:r>
            <a:r>
              <a:rPr lang="sv-SE" sz="2500" dirty="0"/>
              <a:t> for ABMs</a:t>
            </a:r>
            <a:r>
              <a:rPr lang="en-US" sz="2500" dirty="0"/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It’s well documented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It’s a free and open source software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Cross-platform: runs on Mac, Windows, Linux.</a:t>
            </a:r>
            <a:endParaRPr lang="sv-SE" sz="25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It’s an </a:t>
            </a:r>
            <a:r>
              <a:rPr lang="en-US" sz="2500" dirty="0">
                <a:solidFill>
                  <a:srgbClr val="FF0000"/>
                </a:solidFill>
              </a:rPr>
              <a:t>object-oriented programming </a:t>
            </a:r>
            <a:r>
              <a:rPr lang="en-US" sz="2500" dirty="0"/>
              <a:t>language.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462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Object-oriented programing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277CE5-CC93-4ACD-98AC-95DF25A5DC77}"/>
              </a:ext>
            </a:extLst>
          </p:cNvPr>
          <p:cNvSpPr txBox="1"/>
          <p:nvPr/>
        </p:nvSpPr>
        <p:spPr>
          <a:xfrm>
            <a:off x="336059" y="1241860"/>
            <a:ext cx="148239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Object</a:t>
            </a:r>
            <a:r>
              <a:rPr lang="sv-SE" dirty="0"/>
              <a:t> </a:t>
            </a:r>
            <a:r>
              <a:rPr lang="sv-SE" sz="1100" dirty="0"/>
              <a:t>A</a:t>
            </a:r>
            <a:endParaRPr lang="sv-SE" dirty="0"/>
          </a:p>
          <a:p>
            <a:r>
              <a:rPr lang="sv-SE" dirty="0"/>
              <a:t>----------------</a:t>
            </a:r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100" dirty="0"/>
              <a:t>A1</a:t>
            </a:r>
            <a:endParaRPr lang="sv-SE" dirty="0"/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200" dirty="0"/>
              <a:t>A2</a:t>
            </a:r>
            <a:endParaRPr lang="sv-SE" dirty="0"/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200" dirty="0"/>
              <a:t>An</a:t>
            </a:r>
            <a:endParaRPr lang="sv-SE" dirty="0"/>
          </a:p>
          <a:p>
            <a:r>
              <a:rPr lang="sv-SE" dirty="0"/>
              <a:t>----------------</a:t>
            </a:r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/>
              <a:t>PA1</a:t>
            </a:r>
            <a:endParaRPr lang="sv-SE" dirty="0"/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/>
              <a:t>PA2</a:t>
            </a:r>
            <a:endParaRPr lang="sv-SE" dirty="0"/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 err="1"/>
              <a:t>PAn</a:t>
            </a:r>
            <a:endParaRPr lang="sv-SE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0722B7-4186-46C4-9DD7-D65866BA65D2}"/>
              </a:ext>
            </a:extLst>
          </p:cNvPr>
          <p:cNvSpPr/>
          <p:nvPr/>
        </p:nvSpPr>
        <p:spPr>
          <a:xfrm>
            <a:off x="2312317" y="1241860"/>
            <a:ext cx="23304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 (Body)"/>
              </a:rPr>
              <a:t>Computational entities</a:t>
            </a:r>
            <a:endParaRPr lang="sv-SE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3156B10-38C6-4B57-8D2E-88FC80395088}"/>
              </a:ext>
            </a:extLst>
          </p:cNvPr>
          <p:cNvCxnSpPr/>
          <p:nvPr/>
        </p:nvCxnSpPr>
        <p:spPr>
          <a:xfrm>
            <a:off x="1669143" y="1426526"/>
            <a:ext cx="4934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916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Object-oriented programing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277CE5-CC93-4ACD-98AC-95DF25A5DC77}"/>
              </a:ext>
            </a:extLst>
          </p:cNvPr>
          <p:cNvSpPr txBox="1"/>
          <p:nvPr/>
        </p:nvSpPr>
        <p:spPr>
          <a:xfrm>
            <a:off x="336059" y="1241860"/>
            <a:ext cx="148239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Object</a:t>
            </a:r>
            <a:r>
              <a:rPr lang="sv-SE" dirty="0"/>
              <a:t> </a:t>
            </a:r>
            <a:r>
              <a:rPr lang="sv-SE" sz="1100" dirty="0"/>
              <a:t>A</a:t>
            </a:r>
            <a:endParaRPr lang="sv-SE" dirty="0"/>
          </a:p>
          <a:p>
            <a:r>
              <a:rPr lang="sv-SE" dirty="0"/>
              <a:t>----------------</a:t>
            </a:r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100" dirty="0"/>
              <a:t>A1</a:t>
            </a:r>
            <a:endParaRPr lang="sv-SE" dirty="0"/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200" dirty="0"/>
              <a:t>A2</a:t>
            </a:r>
            <a:endParaRPr lang="sv-SE" dirty="0"/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200" dirty="0"/>
              <a:t>An</a:t>
            </a:r>
            <a:endParaRPr lang="sv-SE" dirty="0"/>
          </a:p>
          <a:p>
            <a:r>
              <a:rPr lang="sv-SE" dirty="0"/>
              <a:t>----------------</a:t>
            </a:r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/>
              <a:t>PA1</a:t>
            </a:r>
            <a:endParaRPr lang="sv-SE" dirty="0"/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/>
              <a:t>PA2</a:t>
            </a:r>
            <a:endParaRPr lang="sv-SE" dirty="0"/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 err="1"/>
              <a:t>PAn</a:t>
            </a:r>
            <a:endParaRPr lang="sv-S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AFF44D-980C-44E5-9042-571909783B56}"/>
              </a:ext>
            </a:extLst>
          </p:cNvPr>
          <p:cNvSpPr txBox="1"/>
          <p:nvPr/>
        </p:nvSpPr>
        <p:spPr>
          <a:xfrm>
            <a:off x="4606810" y="1241860"/>
            <a:ext cx="148919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Object</a:t>
            </a:r>
            <a:r>
              <a:rPr lang="sv-SE" dirty="0"/>
              <a:t> </a:t>
            </a:r>
            <a:r>
              <a:rPr lang="sv-SE" sz="1200" dirty="0"/>
              <a:t>B</a:t>
            </a:r>
            <a:endParaRPr lang="sv-SE" dirty="0"/>
          </a:p>
          <a:p>
            <a:r>
              <a:rPr lang="sv-SE" dirty="0"/>
              <a:t>----------------</a:t>
            </a:r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200" dirty="0"/>
              <a:t>B1</a:t>
            </a:r>
            <a:endParaRPr lang="sv-SE" dirty="0"/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200" dirty="0"/>
              <a:t>B2</a:t>
            </a:r>
            <a:endParaRPr lang="sv-SE" dirty="0"/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200" dirty="0" err="1"/>
              <a:t>Bn</a:t>
            </a:r>
            <a:endParaRPr lang="sv-SE" dirty="0"/>
          </a:p>
          <a:p>
            <a:r>
              <a:rPr lang="sv-SE" dirty="0"/>
              <a:t>----------------</a:t>
            </a:r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/>
              <a:t>PB1</a:t>
            </a:r>
            <a:endParaRPr lang="sv-SE" dirty="0"/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/>
              <a:t>PB2</a:t>
            </a:r>
            <a:endParaRPr lang="sv-SE" dirty="0"/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 err="1"/>
              <a:t>PBn</a:t>
            </a:r>
            <a:endParaRPr lang="sv-S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2781A7-41AB-4014-BD07-C1599440F91F}"/>
              </a:ext>
            </a:extLst>
          </p:cNvPr>
          <p:cNvSpPr txBox="1"/>
          <p:nvPr/>
        </p:nvSpPr>
        <p:spPr>
          <a:xfrm>
            <a:off x="2600640" y="2303689"/>
            <a:ext cx="99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message</a:t>
            </a:r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CD4CD5D-B64F-489E-8F34-328705D84DEB}"/>
              </a:ext>
            </a:extLst>
          </p:cNvPr>
          <p:cNvCxnSpPr/>
          <p:nvPr/>
        </p:nvCxnSpPr>
        <p:spPr>
          <a:xfrm flipV="1">
            <a:off x="2224237" y="1742913"/>
            <a:ext cx="1828800" cy="11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143FA3C-EE5A-488B-8F18-2D0F0D30AB39}"/>
              </a:ext>
            </a:extLst>
          </p:cNvPr>
          <p:cNvCxnSpPr/>
          <p:nvPr/>
        </p:nvCxnSpPr>
        <p:spPr>
          <a:xfrm flipH="1">
            <a:off x="2298231" y="3120451"/>
            <a:ext cx="18023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9734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Object-oriented programing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277CE5-CC93-4ACD-98AC-95DF25A5DC77}"/>
              </a:ext>
            </a:extLst>
          </p:cNvPr>
          <p:cNvSpPr txBox="1"/>
          <p:nvPr/>
        </p:nvSpPr>
        <p:spPr>
          <a:xfrm>
            <a:off x="336059" y="1241860"/>
            <a:ext cx="148239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Object</a:t>
            </a:r>
            <a:r>
              <a:rPr lang="sv-SE" dirty="0"/>
              <a:t> </a:t>
            </a:r>
            <a:r>
              <a:rPr lang="sv-SE" sz="1100" dirty="0"/>
              <a:t>A</a:t>
            </a:r>
            <a:endParaRPr lang="sv-SE" dirty="0"/>
          </a:p>
          <a:p>
            <a:r>
              <a:rPr lang="sv-SE" dirty="0"/>
              <a:t>----------------</a:t>
            </a:r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100" dirty="0"/>
              <a:t>A1</a:t>
            </a:r>
            <a:endParaRPr lang="sv-SE" dirty="0"/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200" dirty="0"/>
              <a:t>A2</a:t>
            </a:r>
            <a:endParaRPr lang="sv-SE" dirty="0"/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200" dirty="0"/>
              <a:t>An</a:t>
            </a:r>
            <a:endParaRPr lang="sv-SE" dirty="0"/>
          </a:p>
          <a:p>
            <a:r>
              <a:rPr lang="sv-SE" dirty="0"/>
              <a:t>----------------</a:t>
            </a:r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/>
              <a:t>PA1</a:t>
            </a:r>
            <a:endParaRPr lang="sv-SE" dirty="0"/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/>
              <a:t>PA2</a:t>
            </a:r>
            <a:endParaRPr lang="sv-SE" dirty="0"/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 err="1"/>
              <a:t>PAn</a:t>
            </a:r>
            <a:endParaRPr lang="sv-S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AFF44D-980C-44E5-9042-571909783B56}"/>
              </a:ext>
            </a:extLst>
          </p:cNvPr>
          <p:cNvSpPr txBox="1"/>
          <p:nvPr/>
        </p:nvSpPr>
        <p:spPr>
          <a:xfrm>
            <a:off x="4606810" y="1241860"/>
            <a:ext cx="148919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Object</a:t>
            </a:r>
            <a:r>
              <a:rPr lang="sv-SE" dirty="0"/>
              <a:t> </a:t>
            </a:r>
            <a:r>
              <a:rPr lang="sv-SE" sz="1200" dirty="0"/>
              <a:t>B</a:t>
            </a:r>
            <a:endParaRPr lang="sv-SE" dirty="0"/>
          </a:p>
          <a:p>
            <a:r>
              <a:rPr lang="sv-SE" dirty="0"/>
              <a:t>----------------</a:t>
            </a:r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200" dirty="0"/>
              <a:t>B1</a:t>
            </a:r>
            <a:endParaRPr lang="sv-SE" dirty="0"/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200" dirty="0"/>
              <a:t>B2</a:t>
            </a:r>
            <a:endParaRPr lang="sv-SE" dirty="0"/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200" dirty="0" err="1"/>
              <a:t>Bn</a:t>
            </a:r>
            <a:endParaRPr lang="sv-SE" dirty="0"/>
          </a:p>
          <a:p>
            <a:r>
              <a:rPr lang="sv-SE" dirty="0"/>
              <a:t>----------------</a:t>
            </a:r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/>
              <a:t>PB1</a:t>
            </a:r>
            <a:endParaRPr lang="sv-SE" dirty="0"/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/>
              <a:t>PB2</a:t>
            </a:r>
            <a:endParaRPr lang="sv-SE" dirty="0"/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 err="1"/>
              <a:t>PBn</a:t>
            </a:r>
            <a:endParaRPr lang="sv-S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2781A7-41AB-4014-BD07-C1599440F91F}"/>
              </a:ext>
            </a:extLst>
          </p:cNvPr>
          <p:cNvSpPr txBox="1"/>
          <p:nvPr/>
        </p:nvSpPr>
        <p:spPr>
          <a:xfrm>
            <a:off x="2600640" y="2303689"/>
            <a:ext cx="99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message</a:t>
            </a:r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CD4CD5D-B64F-489E-8F34-328705D84DEB}"/>
              </a:ext>
            </a:extLst>
          </p:cNvPr>
          <p:cNvCxnSpPr/>
          <p:nvPr/>
        </p:nvCxnSpPr>
        <p:spPr>
          <a:xfrm flipV="1">
            <a:off x="2224237" y="1742913"/>
            <a:ext cx="1828800" cy="11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143FA3C-EE5A-488B-8F18-2D0F0D30AB39}"/>
              </a:ext>
            </a:extLst>
          </p:cNvPr>
          <p:cNvCxnSpPr/>
          <p:nvPr/>
        </p:nvCxnSpPr>
        <p:spPr>
          <a:xfrm flipH="1">
            <a:off x="2298231" y="3120451"/>
            <a:ext cx="18023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B35C9A2-E70E-4E1E-BF81-9AA8144A8C4A}"/>
              </a:ext>
            </a:extLst>
          </p:cNvPr>
          <p:cNvSpPr/>
          <p:nvPr/>
        </p:nvSpPr>
        <p:spPr>
          <a:xfrm>
            <a:off x="707182" y="4479965"/>
            <a:ext cx="5258538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2500" dirty="0" err="1"/>
              <a:t>Because</a:t>
            </a:r>
            <a:r>
              <a:rPr lang="sv-SE" sz="2500" dirty="0"/>
              <a:t> </a:t>
            </a:r>
            <a:r>
              <a:rPr lang="sv-SE" sz="2500" dirty="0" err="1"/>
              <a:t>of</a:t>
            </a:r>
            <a:r>
              <a:rPr lang="sv-SE" sz="2500" dirty="0"/>
              <a:t> </a:t>
            </a:r>
            <a:r>
              <a:rPr lang="sv-SE" sz="2500" dirty="0" err="1"/>
              <a:t>this</a:t>
            </a:r>
            <a:r>
              <a:rPr lang="sv-SE" sz="2500" dirty="0"/>
              <a:t>, </a:t>
            </a:r>
            <a:r>
              <a:rPr lang="sv-SE" sz="2500" dirty="0" err="1"/>
              <a:t>somebody</a:t>
            </a:r>
            <a:r>
              <a:rPr lang="sv-SE" sz="2500" dirty="0"/>
              <a:t> </a:t>
            </a:r>
            <a:r>
              <a:rPr lang="sv-SE" sz="2500" dirty="0" err="1"/>
              <a:t>thought</a:t>
            </a:r>
            <a:r>
              <a:rPr lang="sv-SE" sz="2500" dirty="0"/>
              <a:t>:</a:t>
            </a:r>
          </a:p>
          <a:p>
            <a:r>
              <a:rPr lang="sv-SE" sz="2500" dirty="0"/>
              <a:t> </a:t>
            </a:r>
          </a:p>
          <a:p>
            <a:r>
              <a:rPr lang="sv-SE" sz="2500" dirty="0"/>
              <a:t>Aha! </a:t>
            </a:r>
            <a:r>
              <a:rPr lang="sv-SE" sz="2500" dirty="0" err="1"/>
              <a:t>This</a:t>
            </a:r>
            <a:r>
              <a:rPr lang="sv-SE" sz="2500" dirty="0"/>
              <a:t> </a:t>
            </a:r>
            <a:r>
              <a:rPr lang="sv-SE" sz="2500" dirty="0" err="1"/>
              <a:t>resembles</a:t>
            </a:r>
            <a:r>
              <a:rPr lang="sv-SE" sz="2500" dirty="0"/>
              <a:t> </a:t>
            </a:r>
            <a:r>
              <a:rPr lang="sv-SE" sz="2500" dirty="0" err="1"/>
              <a:t>something</a:t>
            </a:r>
            <a:r>
              <a:rPr lang="sv-SE" sz="25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559930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Object-oriented programing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277CE5-CC93-4ACD-98AC-95DF25A5DC77}"/>
              </a:ext>
            </a:extLst>
          </p:cNvPr>
          <p:cNvSpPr txBox="1"/>
          <p:nvPr/>
        </p:nvSpPr>
        <p:spPr>
          <a:xfrm>
            <a:off x="336059" y="1241860"/>
            <a:ext cx="148239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Object</a:t>
            </a:r>
            <a:r>
              <a:rPr lang="sv-SE" dirty="0"/>
              <a:t> </a:t>
            </a:r>
            <a:r>
              <a:rPr lang="sv-SE" sz="1100" dirty="0"/>
              <a:t>A</a:t>
            </a:r>
            <a:endParaRPr lang="sv-SE" dirty="0"/>
          </a:p>
          <a:p>
            <a:r>
              <a:rPr lang="sv-SE" dirty="0"/>
              <a:t>----------------</a:t>
            </a:r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100" dirty="0"/>
              <a:t>A1</a:t>
            </a:r>
            <a:endParaRPr lang="sv-SE" dirty="0"/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200" dirty="0"/>
              <a:t>A2</a:t>
            </a:r>
            <a:endParaRPr lang="sv-SE" dirty="0"/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200" dirty="0"/>
              <a:t>An</a:t>
            </a:r>
            <a:endParaRPr lang="sv-SE" dirty="0"/>
          </a:p>
          <a:p>
            <a:r>
              <a:rPr lang="sv-SE" dirty="0"/>
              <a:t>----------------</a:t>
            </a:r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/>
              <a:t>PA1</a:t>
            </a:r>
            <a:endParaRPr lang="sv-SE" dirty="0"/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/>
              <a:t>PA2</a:t>
            </a:r>
            <a:endParaRPr lang="sv-SE" dirty="0"/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 err="1"/>
              <a:t>PAn</a:t>
            </a:r>
            <a:endParaRPr lang="sv-S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AFF44D-980C-44E5-9042-571909783B56}"/>
              </a:ext>
            </a:extLst>
          </p:cNvPr>
          <p:cNvSpPr txBox="1"/>
          <p:nvPr/>
        </p:nvSpPr>
        <p:spPr>
          <a:xfrm>
            <a:off x="4606810" y="1241860"/>
            <a:ext cx="148919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Object</a:t>
            </a:r>
            <a:r>
              <a:rPr lang="sv-SE" dirty="0"/>
              <a:t> </a:t>
            </a:r>
            <a:r>
              <a:rPr lang="sv-SE" sz="1200" dirty="0"/>
              <a:t>B</a:t>
            </a:r>
            <a:endParaRPr lang="sv-SE" dirty="0"/>
          </a:p>
          <a:p>
            <a:r>
              <a:rPr lang="sv-SE" dirty="0"/>
              <a:t>----------------</a:t>
            </a:r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200" dirty="0"/>
              <a:t>B1</a:t>
            </a:r>
            <a:endParaRPr lang="sv-SE" dirty="0"/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200" dirty="0"/>
              <a:t>B2</a:t>
            </a:r>
            <a:endParaRPr lang="sv-SE" dirty="0"/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200" dirty="0" err="1"/>
              <a:t>Bn</a:t>
            </a:r>
            <a:endParaRPr lang="sv-SE" dirty="0"/>
          </a:p>
          <a:p>
            <a:r>
              <a:rPr lang="sv-SE" dirty="0"/>
              <a:t>----------------</a:t>
            </a:r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/>
              <a:t>PB1</a:t>
            </a:r>
            <a:endParaRPr lang="sv-SE" dirty="0"/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/>
              <a:t>PB2</a:t>
            </a:r>
            <a:endParaRPr lang="sv-SE" dirty="0"/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 err="1"/>
              <a:t>PBn</a:t>
            </a:r>
            <a:endParaRPr lang="sv-S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2781A7-41AB-4014-BD07-C1599440F91F}"/>
              </a:ext>
            </a:extLst>
          </p:cNvPr>
          <p:cNvSpPr txBox="1"/>
          <p:nvPr/>
        </p:nvSpPr>
        <p:spPr>
          <a:xfrm>
            <a:off x="2600640" y="2303689"/>
            <a:ext cx="99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message</a:t>
            </a:r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CD4CD5D-B64F-489E-8F34-328705D84DEB}"/>
              </a:ext>
            </a:extLst>
          </p:cNvPr>
          <p:cNvCxnSpPr/>
          <p:nvPr/>
        </p:nvCxnSpPr>
        <p:spPr>
          <a:xfrm flipV="1">
            <a:off x="2224237" y="1742913"/>
            <a:ext cx="1828800" cy="11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143FA3C-EE5A-488B-8F18-2D0F0D30AB39}"/>
              </a:ext>
            </a:extLst>
          </p:cNvPr>
          <p:cNvCxnSpPr/>
          <p:nvPr/>
        </p:nvCxnSpPr>
        <p:spPr>
          <a:xfrm flipH="1">
            <a:off x="2298231" y="3120451"/>
            <a:ext cx="18023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B35C9A2-E70E-4E1E-BF81-9AA8144A8C4A}"/>
              </a:ext>
            </a:extLst>
          </p:cNvPr>
          <p:cNvSpPr/>
          <p:nvPr/>
        </p:nvSpPr>
        <p:spPr>
          <a:xfrm>
            <a:off x="707182" y="4479965"/>
            <a:ext cx="5258538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2500" dirty="0" err="1"/>
              <a:t>Because</a:t>
            </a:r>
            <a:r>
              <a:rPr lang="sv-SE" sz="2500" dirty="0"/>
              <a:t> </a:t>
            </a:r>
            <a:r>
              <a:rPr lang="sv-SE" sz="2500" dirty="0" err="1"/>
              <a:t>of</a:t>
            </a:r>
            <a:r>
              <a:rPr lang="sv-SE" sz="2500" dirty="0"/>
              <a:t> </a:t>
            </a:r>
            <a:r>
              <a:rPr lang="sv-SE" sz="2500" dirty="0" err="1"/>
              <a:t>this</a:t>
            </a:r>
            <a:r>
              <a:rPr lang="sv-SE" sz="2500" dirty="0"/>
              <a:t>, </a:t>
            </a:r>
            <a:r>
              <a:rPr lang="sv-SE" sz="2500" dirty="0" err="1"/>
              <a:t>somebody</a:t>
            </a:r>
            <a:r>
              <a:rPr lang="sv-SE" sz="2500" dirty="0"/>
              <a:t> </a:t>
            </a:r>
            <a:r>
              <a:rPr lang="sv-SE" sz="2500" dirty="0" err="1"/>
              <a:t>thought</a:t>
            </a:r>
            <a:r>
              <a:rPr lang="sv-SE" sz="2500" dirty="0"/>
              <a:t>:</a:t>
            </a:r>
          </a:p>
          <a:p>
            <a:r>
              <a:rPr lang="sv-SE" sz="2500" dirty="0"/>
              <a:t> </a:t>
            </a:r>
          </a:p>
          <a:p>
            <a:r>
              <a:rPr lang="sv-SE" sz="2500" dirty="0"/>
              <a:t>Aha! </a:t>
            </a:r>
            <a:r>
              <a:rPr lang="sv-SE" sz="2500" dirty="0" err="1"/>
              <a:t>This</a:t>
            </a:r>
            <a:r>
              <a:rPr lang="sv-SE" sz="2500" dirty="0"/>
              <a:t> </a:t>
            </a:r>
            <a:r>
              <a:rPr lang="sv-SE" sz="2500" dirty="0" err="1"/>
              <a:t>resembles</a:t>
            </a:r>
            <a:r>
              <a:rPr lang="sv-SE" sz="2500" dirty="0"/>
              <a:t> </a:t>
            </a:r>
            <a:r>
              <a:rPr lang="sv-SE" sz="2500" dirty="0" err="1"/>
              <a:t>something</a:t>
            </a:r>
            <a:r>
              <a:rPr lang="sv-SE" sz="2500" dirty="0"/>
              <a:t>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6EF2CC-FA22-4BBD-8EB8-C807F48370F2}"/>
              </a:ext>
            </a:extLst>
          </p:cNvPr>
          <p:cNvSpPr/>
          <p:nvPr/>
        </p:nvSpPr>
        <p:spPr>
          <a:xfrm>
            <a:off x="6131146" y="1211142"/>
            <a:ext cx="3213829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/>
              <a:t>Causation as Generative Process</a:t>
            </a:r>
          </a:p>
        </p:txBody>
      </p:sp>
      <p:pic>
        <p:nvPicPr>
          <p:cNvPr id="11" name="Picture 2" descr="Image result">
            <a:extLst>
              <a:ext uri="{FF2B5EF4-FFF2-40B4-BE49-F238E27FC236}">
                <a16:creationId xmlns:a16="http://schemas.microsoft.com/office/drawing/2014/main" id="{83D87D8C-73F5-4849-929C-CD4BB3741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5866" y="1738769"/>
            <a:ext cx="1714500" cy="2257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9ECF74-2E92-4F6C-BE28-C6E79F194595}"/>
              </a:ext>
            </a:extLst>
          </p:cNvPr>
          <p:cNvSpPr txBox="1"/>
          <p:nvPr/>
        </p:nvSpPr>
        <p:spPr>
          <a:xfrm>
            <a:off x="6803252" y="4032133"/>
            <a:ext cx="1869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Joshua M. Epstein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73BE07-BDB4-4A67-90E1-EA787EF349D1}"/>
              </a:ext>
            </a:extLst>
          </p:cNvPr>
          <p:cNvSpPr/>
          <p:nvPr/>
        </p:nvSpPr>
        <p:spPr>
          <a:xfrm>
            <a:off x="9664886" y="1237051"/>
            <a:ext cx="2502480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/>
              <a:t>Computational Sociology</a:t>
            </a:r>
          </a:p>
        </p:txBody>
      </p:sp>
      <p:pic>
        <p:nvPicPr>
          <p:cNvPr id="21" name="Picture 2" descr="Image result for nigel gilbert">
            <a:extLst>
              <a:ext uri="{FF2B5EF4-FFF2-40B4-BE49-F238E27FC236}">
                <a16:creationId xmlns:a16="http://schemas.microsoft.com/office/drawing/2014/main" id="{EDD01D46-BAB2-4144-81B5-9DB58FD275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040416" y="1757440"/>
            <a:ext cx="1751421" cy="2286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D84B7E3-E666-4F60-89E3-C4635D1B611E}"/>
              </a:ext>
            </a:extLst>
          </p:cNvPr>
          <p:cNvSpPr txBox="1"/>
          <p:nvPr/>
        </p:nvSpPr>
        <p:spPr>
          <a:xfrm>
            <a:off x="10235651" y="4032133"/>
            <a:ext cx="136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Nigel Gilbert</a:t>
            </a:r>
            <a:endParaRPr lang="en-US" dirty="0"/>
          </a:p>
        </p:txBody>
      </p:sp>
      <p:pic>
        <p:nvPicPr>
          <p:cNvPr id="23" name="Picture 6" descr="Image result for Agent-based Models gilbert">
            <a:extLst>
              <a:ext uri="{FF2B5EF4-FFF2-40B4-BE49-F238E27FC236}">
                <a16:creationId xmlns:a16="http://schemas.microsoft.com/office/drawing/2014/main" id="{BE864585-CF78-488C-89C8-77E40FAB6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4122" y="4477110"/>
            <a:ext cx="1198126" cy="1941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0" descr="Image result for joshua epstein book">
            <a:extLst>
              <a:ext uri="{FF2B5EF4-FFF2-40B4-BE49-F238E27FC236}">
                <a16:creationId xmlns:a16="http://schemas.microsoft.com/office/drawing/2014/main" id="{5F4176D7-9FF3-44E1-9FF6-EE6120A7B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4405" y="4525749"/>
            <a:ext cx="1227309" cy="1941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9926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Object-oriented programing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277CE5-CC93-4ACD-98AC-95DF25A5DC77}"/>
              </a:ext>
            </a:extLst>
          </p:cNvPr>
          <p:cNvSpPr txBox="1"/>
          <p:nvPr/>
        </p:nvSpPr>
        <p:spPr>
          <a:xfrm>
            <a:off x="336059" y="1241860"/>
            <a:ext cx="148239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Object</a:t>
            </a:r>
            <a:r>
              <a:rPr lang="sv-SE" dirty="0"/>
              <a:t> </a:t>
            </a:r>
            <a:r>
              <a:rPr lang="sv-SE" sz="1100" dirty="0"/>
              <a:t>A</a:t>
            </a:r>
            <a:endParaRPr lang="sv-SE" dirty="0"/>
          </a:p>
          <a:p>
            <a:r>
              <a:rPr lang="sv-SE" dirty="0"/>
              <a:t>----------------</a:t>
            </a:r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100" dirty="0"/>
              <a:t>A1</a:t>
            </a:r>
            <a:endParaRPr lang="sv-SE" dirty="0"/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200" dirty="0"/>
              <a:t>A2</a:t>
            </a:r>
            <a:endParaRPr lang="sv-SE" dirty="0"/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200" dirty="0"/>
              <a:t>An</a:t>
            </a:r>
            <a:endParaRPr lang="sv-SE" dirty="0"/>
          </a:p>
          <a:p>
            <a:r>
              <a:rPr lang="sv-SE" dirty="0"/>
              <a:t>----------------</a:t>
            </a:r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/>
              <a:t>PA1</a:t>
            </a:r>
            <a:endParaRPr lang="sv-SE" dirty="0"/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/>
              <a:t>PA2</a:t>
            </a:r>
            <a:endParaRPr lang="sv-SE" dirty="0"/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 err="1"/>
              <a:t>PAn</a:t>
            </a:r>
            <a:endParaRPr lang="sv-S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AFF44D-980C-44E5-9042-571909783B56}"/>
              </a:ext>
            </a:extLst>
          </p:cNvPr>
          <p:cNvSpPr txBox="1"/>
          <p:nvPr/>
        </p:nvSpPr>
        <p:spPr>
          <a:xfrm>
            <a:off x="4606810" y="1241860"/>
            <a:ext cx="148919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Object</a:t>
            </a:r>
            <a:r>
              <a:rPr lang="sv-SE" dirty="0"/>
              <a:t> </a:t>
            </a:r>
            <a:r>
              <a:rPr lang="sv-SE" sz="1200" dirty="0"/>
              <a:t>B</a:t>
            </a:r>
            <a:endParaRPr lang="sv-SE" dirty="0"/>
          </a:p>
          <a:p>
            <a:r>
              <a:rPr lang="sv-SE" dirty="0"/>
              <a:t>----------------</a:t>
            </a:r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200" dirty="0"/>
              <a:t>B1</a:t>
            </a:r>
            <a:endParaRPr lang="sv-SE" dirty="0"/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200" dirty="0"/>
              <a:t>B2</a:t>
            </a:r>
            <a:endParaRPr lang="sv-SE" dirty="0"/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200" dirty="0" err="1"/>
              <a:t>Bn</a:t>
            </a:r>
            <a:endParaRPr lang="sv-SE" dirty="0"/>
          </a:p>
          <a:p>
            <a:r>
              <a:rPr lang="sv-SE" dirty="0"/>
              <a:t>----------------</a:t>
            </a:r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/>
              <a:t>PB1</a:t>
            </a:r>
            <a:endParaRPr lang="sv-SE" dirty="0"/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/>
              <a:t>PB2</a:t>
            </a:r>
            <a:endParaRPr lang="sv-SE" dirty="0"/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 err="1"/>
              <a:t>PBn</a:t>
            </a:r>
            <a:endParaRPr lang="sv-S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2781A7-41AB-4014-BD07-C1599440F91F}"/>
              </a:ext>
            </a:extLst>
          </p:cNvPr>
          <p:cNvSpPr txBox="1"/>
          <p:nvPr/>
        </p:nvSpPr>
        <p:spPr>
          <a:xfrm>
            <a:off x="2600640" y="2303689"/>
            <a:ext cx="99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message</a:t>
            </a:r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CD4CD5D-B64F-489E-8F34-328705D84DEB}"/>
              </a:ext>
            </a:extLst>
          </p:cNvPr>
          <p:cNvCxnSpPr/>
          <p:nvPr/>
        </p:nvCxnSpPr>
        <p:spPr>
          <a:xfrm flipV="1">
            <a:off x="2224237" y="1742913"/>
            <a:ext cx="1828800" cy="11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143FA3C-EE5A-488B-8F18-2D0F0D30AB39}"/>
              </a:ext>
            </a:extLst>
          </p:cNvPr>
          <p:cNvCxnSpPr/>
          <p:nvPr/>
        </p:nvCxnSpPr>
        <p:spPr>
          <a:xfrm flipH="1">
            <a:off x="2298231" y="3120451"/>
            <a:ext cx="18023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DB46A9D-E2D1-4EA0-9F9E-7E95702C80FC}"/>
              </a:ext>
            </a:extLst>
          </p:cNvPr>
          <p:cNvSpPr txBox="1"/>
          <p:nvPr/>
        </p:nvSpPr>
        <p:spPr>
          <a:xfrm>
            <a:off x="6232306" y="1242234"/>
            <a:ext cx="131318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Agent </a:t>
            </a:r>
            <a:r>
              <a:rPr lang="sv-SE" sz="1100" dirty="0"/>
              <a:t>A</a:t>
            </a:r>
            <a:endParaRPr lang="sv-SE" dirty="0"/>
          </a:p>
          <a:p>
            <a:r>
              <a:rPr lang="sv-SE" dirty="0"/>
              <a:t>----------------</a:t>
            </a:r>
          </a:p>
          <a:p>
            <a:r>
              <a:rPr lang="sv-SE" dirty="0"/>
              <a:t>Property </a:t>
            </a:r>
            <a:r>
              <a:rPr lang="sv-SE" sz="1100" dirty="0"/>
              <a:t>A1</a:t>
            </a:r>
            <a:endParaRPr lang="sv-SE" dirty="0"/>
          </a:p>
          <a:p>
            <a:r>
              <a:rPr lang="sv-SE" dirty="0"/>
              <a:t>Property </a:t>
            </a:r>
            <a:r>
              <a:rPr lang="sv-SE" sz="1200" dirty="0"/>
              <a:t>A2</a:t>
            </a:r>
            <a:endParaRPr lang="sv-SE" dirty="0"/>
          </a:p>
          <a:p>
            <a:r>
              <a:rPr lang="sv-SE" dirty="0"/>
              <a:t>Property </a:t>
            </a:r>
            <a:r>
              <a:rPr lang="sv-SE" sz="1200" dirty="0"/>
              <a:t>An</a:t>
            </a:r>
            <a:endParaRPr lang="sv-SE" dirty="0"/>
          </a:p>
          <a:p>
            <a:r>
              <a:rPr lang="sv-SE" dirty="0"/>
              <a:t>----------------</a:t>
            </a:r>
          </a:p>
          <a:p>
            <a:r>
              <a:rPr lang="sv-SE" dirty="0" err="1"/>
              <a:t>Activity</a:t>
            </a:r>
            <a:r>
              <a:rPr lang="sv-SE" dirty="0"/>
              <a:t> </a:t>
            </a:r>
            <a:r>
              <a:rPr lang="sv-SE" sz="1200" dirty="0"/>
              <a:t>PA1</a:t>
            </a:r>
            <a:endParaRPr lang="sv-SE" dirty="0"/>
          </a:p>
          <a:p>
            <a:r>
              <a:rPr lang="sv-SE" dirty="0" err="1"/>
              <a:t>Activity</a:t>
            </a:r>
            <a:r>
              <a:rPr lang="sv-SE" dirty="0"/>
              <a:t> </a:t>
            </a:r>
            <a:r>
              <a:rPr lang="sv-SE" sz="1200" dirty="0"/>
              <a:t>PA2</a:t>
            </a:r>
            <a:endParaRPr lang="sv-SE" dirty="0"/>
          </a:p>
          <a:p>
            <a:r>
              <a:rPr lang="sv-SE" dirty="0" err="1"/>
              <a:t>Activity</a:t>
            </a:r>
            <a:r>
              <a:rPr lang="sv-SE" dirty="0"/>
              <a:t> </a:t>
            </a:r>
            <a:r>
              <a:rPr lang="sv-SE" sz="1200" dirty="0" err="1"/>
              <a:t>PAn</a:t>
            </a:r>
            <a:endParaRPr lang="sv-SE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20F3C2-4F5D-47D1-BAB2-0A7811C458A7}"/>
              </a:ext>
            </a:extLst>
          </p:cNvPr>
          <p:cNvSpPr txBox="1"/>
          <p:nvPr/>
        </p:nvSpPr>
        <p:spPr>
          <a:xfrm>
            <a:off x="10503057" y="1242234"/>
            <a:ext cx="131318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Agent </a:t>
            </a:r>
            <a:r>
              <a:rPr lang="sv-SE" sz="1200" dirty="0"/>
              <a:t>B</a:t>
            </a:r>
            <a:endParaRPr lang="sv-SE" dirty="0"/>
          </a:p>
          <a:p>
            <a:r>
              <a:rPr lang="sv-SE" dirty="0"/>
              <a:t>----------------</a:t>
            </a:r>
          </a:p>
          <a:p>
            <a:r>
              <a:rPr lang="sv-SE" dirty="0"/>
              <a:t>Property </a:t>
            </a:r>
            <a:r>
              <a:rPr lang="sv-SE" sz="1200" dirty="0"/>
              <a:t>B1</a:t>
            </a:r>
            <a:endParaRPr lang="sv-SE" dirty="0"/>
          </a:p>
          <a:p>
            <a:r>
              <a:rPr lang="sv-SE" dirty="0"/>
              <a:t>Property </a:t>
            </a:r>
            <a:r>
              <a:rPr lang="sv-SE" sz="1200" dirty="0"/>
              <a:t>B2</a:t>
            </a:r>
            <a:endParaRPr lang="sv-SE" dirty="0"/>
          </a:p>
          <a:p>
            <a:r>
              <a:rPr lang="sv-SE" dirty="0"/>
              <a:t>Property </a:t>
            </a:r>
            <a:r>
              <a:rPr lang="sv-SE" sz="1200" dirty="0" err="1"/>
              <a:t>Bn</a:t>
            </a:r>
            <a:endParaRPr lang="sv-SE" dirty="0"/>
          </a:p>
          <a:p>
            <a:r>
              <a:rPr lang="sv-SE" dirty="0"/>
              <a:t>----------------</a:t>
            </a:r>
          </a:p>
          <a:p>
            <a:r>
              <a:rPr lang="sv-SE" dirty="0" err="1"/>
              <a:t>Activity</a:t>
            </a:r>
            <a:r>
              <a:rPr lang="sv-SE" dirty="0"/>
              <a:t> </a:t>
            </a:r>
            <a:r>
              <a:rPr lang="sv-SE" sz="1200" dirty="0"/>
              <a:t>PB1</a:t>
            </a:r>
            <a:endParaRPr lang="sv-SE" dirty="0"/>
          </a:p>
          <a:p>
            <a:r>
              <a:rPr lang="sv-SE" dirty="0" err="1"/>
              <a:t>Activity</a:t>
            </a:r>
            <a:r>
              <a:rPr lang="sv-SE" dirty="0"/>
              <a:t> </a:t>
            </a:r>
            <a:r>
              <a:rPr lang="sv-SE" sz="1200" dirty="0"/>
              <a:t>PB2</a:t>
            </a:r>
            <a:endParaRPr lang="sv-SE" dirty="0"/>
          </a:p>
          <a:p>
            <a:r>
              <a:rPr lang="sv-SE" dirty="0" err="1"/>
              <a:t>Activity</a:t>
            </a:r>
            <a:r>
              <a:rPr lang="sv-SE" dirty="0"/>
              <a:t> </a:t>
            </a:r>
            <a:r>
              <a:rPr lang="sv-SE" sz="1200" dirty="0" err="1"/>
              <a:t>PBn</a:t>
            </a:r>
            <a:endParaRPr lang="sv-SE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0971FE-34C1-4688-8040-DCA50ED48D27}"/>
              </a:ext>
            </a:extLst>
          </p:cNvPr>
          <p:cNvSpPr txBox="1"/>
          <p:nvPr/>
        </p:nvSpPr>
        <p:spPr>
          <a:xfrm>
            <a:off x="8496887" y="2304063"/>
            <a:ext cx="99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message</a:t>
            </a:r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CA7D695-F4C1-4E1B-B3C7-403B462952EC}"/>
              </a:ext>
            </a:extLst>
          </p:cNvPr>
          <p:cNvCxnSpPr/>
          <p:nvPr/>
        </p:nvCxnSpPr>
        <p:spPr>
          <a:xfrm flipV="1">
            <a:off x="8120484" y="1743287"/>
            <a:ext cx="1828800" cy="11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C7AA6C9-6206-49F6-96D9-D837104207B3}"/>
              </a:ext>
            </a:extLst>
          </p:cNvPr>
          <p:cNvCxnSpPr/>
          <p:nvPr/>
        </p:nvCxnSpPr>
        <p:spPr>
          <a:xfrm flipH="1">
            <a:off x="8194478" y="3120825"/>
            <a:ext cx="18023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5702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Object-oriented programing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277CE5-CC93-4ACD-98AC-95DF25A5DC77}"/>
              </a:ext>
            </a:extLst>
          </p:cNvPr>
          <p:cNvSpPr txBox="1"/>
          <p:nvPr/>
        </p:nvSpPr>
        <p:spPr>
          <a:xfrm>
            <a:off x="336059" y="1241860"/>
            <a:ext cx="148239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Object</a:t>
            </a:r>
            <a:r>
              <a:rPr lang="sv-SE" dirty="0"/>
              <a:t> </a:t>
            </a:r>
            <a:r>
              <a:rPr lang="sv-SE" sz="1100" dirty="0"/>
              <a:t>A</a:t>
            </a:r>
            <a:endParaRPr lang="sv-SE" dirty="0"/>
          </a:p>
          <a:p>
            <a:r>
              <a:rPr lang="sv-SE" dirty="0"/>
              <a:t>----------------</a:t>
            </a:r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100" dirty="0"/>
              <a:t>A1</a:t>
            </a:r>
            <a:endParaRPr lang="sv-SE" dirty="0"/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200" dirty="0"/>
              <a:t>A2</a:t>
            </a:r>
            <a:endParaRPr lang="sv-SE" dirty="0"/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200" dirty="0"/>
              <a:t>An</a:t>
            </a:r>
            <a:endParaRPr lang="sv-SE" dirty="0"/>
          </a:p>
          <a:p>
            <a:r>
              <a:rPr lang="sv-SE" dirty="0"/>
              <a:t>----------------</a:t>
            </a:r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/>
              <a:t>PA1</a:t>
            </a:r>
            <a:endParaRPr lang="sv-SE" dirty="0"/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/>
              <a:t>PA2</a:t>
            </a:r>
            <a:endParaRPr lang="sv-SE" dirty="0"/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 err="1"/>
              <a:t>PAn</a:t>
            </a:r>
            <a:endParaRPr lang="sv-S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AFF44D-980C-44E5-9042-571909783B56}"/>
              </a:ext>
            </a:extLst>
          </p:cNvPr>
          <p:cNvSpPr txBox="1"/>
          <p:nvPr/>
        </p:nvSpPr>
        <p:spPr>
          <a:xfrm>
            <a:off x="4606810" y="1241860"/>
            <a:ext cx="148919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Object</a:t>
            </a:r>
            <a:r>
              <a:rPr lang="sv-SE" dirty="0"/>
              <a:t> </a:t>
            </a:r>
            <a:r>
              <a:rPr lang="sv-SE" sz="1200" dirty="0"/>
              <a:t>B</a:t>
            </a:r>
            <a:endParaRPr lang="sv-SE" dirty="0"/>
          </a:p>
          <a:p>
            <a:r>
              <a:rPr lang="sv-SE" dirty="0"/>
              <a:t>----------------</a:t>
            </a:r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200" dirty="0"/>
              <a:t>B1</a:t>
            </a:r>
            <a:endParaRPr lang="sv-SE" dirty="0"/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200" dirty="0"/>
              <a:t>B2</a:t>
            </a:r>
            <a:endParaRPr lang="sv-SE" dirty="0"/>
          </a:p>
          <a:p>
            <a:r>
              <a:rPr lang="sv-SE" dirty="0" err="1"/>
              <a:t>Attribute</a:t>
            </a:r>
            <a:r>
              <a:rPr lang="sv-SE" dirty="0"/>
              <a:t> </a:t>
            </a:r>
            <a:r>
              <a:rPr lang="sv-SE" sz="1200" dirty="0" err="1"/>
              <a:t>Bn</a:t>
            </a:r>
            <a:endParaRPr lang="sv-SE" dirty="0"/>
          </a:p>
          <a:p>
            <a:r>
              <a:rPr lang="sv-SE" dirty="0"/>
              <a:t>----------------</a:t>
            </a:r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/>
              <a:t>PB1</a:t>
            </a:r>
            <a:endParaRPr lang="sv-SE" dirty="0"/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/>
              <a:t>PB2</a:t>
            </a:r>
            <a:endParaRPr lang="sv-SE" dirty="0"/>
          </a:p>
          <a:p>
            <a:r>
              <a:rPr lang="sv-SE" dirty="0" err="1"/>
              <a:t>Procedure</a:t>
            </a:r>
            <a:r>
              <a:rPr lang="sv-SE" dirty="0"/>
              <a:t> </a:t>
            </a:r>
            <a:r>
              <a:rPr lang="sv-SE" sz="1200" dirty="0" err="1"/>
              <a:t>PBn</a:t>
            </a:r>
            <a:endParaRPr lang="sv-S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2781A7-41AB-4014-BD07-C1599440F91F}"/>
              </a:ext>
            </a:extLst>
          </p:cNvPr>
          <p:cNvSpPr txBox="1"/>
          <p:nvPr/>
        </p:nvSpPr>
        <p:spPr>
          <a:xfrm>
            <a:off x="2600640" y="2303689"/>
            <a:ext cx="99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message</a:t>
            </a:r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CD4CD5D-B64F-489E-8F34-328705D84DEB}"/>
              </a:ext>
            </a:extLst>
          </p:cNvPr>
          <p:cNvCxnSpPr/>
          <p:nvPr/>
        </p:nvCxnSpPr>
        <p:spPr>
          <a:xfrm flipV="1">
            <a:off x="2224237" y="1742913"/>
            <a:ext cx="1828800" cy="11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143FA3C-EE5A-488B-8F18-2D0F0D30AB39}"/>
              </a:ext>
            </a:extLst>
          </p:cNvPr>
          <p:cNvCxnSpPr/>
          <p:nvPr/>
        </p:nvCxnSpPr>
        <p:spPr>
          <a:xfrm flipH="1">
            <a:off x="2298231" y="3120451"/>
            <a:ext cx="18023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DB46A9D-E2D1-4EA0-9F9E-7E95702C80FC}"/>
              </a:ext>
            </a:extLst>
          </p:cNvPr>
          <p:cNvSpPr txBox="1"/>
          <p:nvPr/>
        </p:nvSpPr>
        <p:spPr>
          <a:xfrm>
            <a:off x="6232306" y="1242234"/>
            <a:ext cx="131318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Agent </a:t>
            </a:r>
            <a:r>
              <a:rPr lang="sv-SE" sz="1100" dirty="0"/>
              <a:t>A</a:t>
            </a:r>
            <a:endParaRPr lang="sv-SE" dirty="0"/>
          </a:p>
          <a:p>
            <a:r>
              <a:rPr lang="sv-SE" dirty="0"/>
              <a:t>----------------</a:t>
            </a:r>
          </a:p>
          <a:p>
            <a:r>
              <a:rPr lang="sv-SE" dirty="0"/>
              <a:t>Property </a:t>
            </a:r>
            <a:r>
              <a:rPr lang="sv-SE" sz="1100" dirty="0"/>
              <a:t>A1</a:t>
            </a:r>
            <a:endParaRPr lang="sv-SE" dirty="0"/>
          </a:p>
          <a:p>
            <a:r>
              <a:rPr lang="sv-SE" dirty="0"/>
              <a:t>Property </a:t>
            </a:r>
            <a:r>
              <a:rPr lang="sv-SE" sz="1200" dirty="0"/>
              <a:t>A2</a:t>
            </a:r>
            <a:endParaRPr lang="sv-SE" dirty="0"/>
          </a:p>
          <a:p>
            <a:r>
              <a:rPr lang="sv-SE" dirty="0"/>
              <a:t>Property </a:t>
            </a:r>
            <a:r>
              <a:rPr lang="sv-SE" sz="1200" dirty="0"/>
              <a:t>An</a:t>
            </a:r>
            <a:endParaRPr lang="sv-SE" dirty="0"/>
          </a:p>
          <a:p>
            <a:r>
              <a:rPr lang="sv-SE" dirty="0"/>
              <a:t>----------------</a:t>
            </a:r>
          </a:p>
          <a:p>
            <a:r>
              <a:rPr lang="sv-SE" dirty="0" err="1"/>
              <a:t>Activity</a:t>
            </a:r>
            <a:r>
              <a:rPr lang="sv-SE" dirty="0"/>
              <a:t> </a:t>
            </a:r>
            <a:r>
              <a:rPr lang="sv-SE" sz="1200" dirty="0"/>
              <a:t>PA1</a:t>
            </a:r>
            <a:endParaRPr lang="sv-SE" dirty="0"/>
          </a:p>
          <a:p>
            <a:r>
              <a:rPr lang="sv-SE" dirty="0" err="1"/>
              <a:t>Activity</a:t>
            </a:r>
            <a:r>
              <a:rPr lang="sv-SE" dirty="0"/>
              <a:t> </a:t>
            </a:r>
            <a:r>
              <a:rPr lang="sv-SE" sz="1200" dirty="0"/>
              <a:t>PA2</a:t>
            </a:r>
            <a:endParaRPr lang="sv-SE" dirty="0"/>
          </a:p>
          <a:p>
            <a:r>
              <a:rPr lang="sv-SE" dirty="0" err="1"/>
              <a:t>Activity</a:t>
            </a:r>
            <a:r>
              <a:rPr lang="sv-SE" dirty="0"/>
              <a:t> </a:t>
            </a:r>
            <a:r>
              <a:rPr lang="sv-SE" sz="1200" dirty="0" err="1"/>
              <a:t>PAn</a:t>
            </a:r>
            <a:endParaRPr lang="sv-SE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20F3C2-4F5D-47D1-BAB2-0A7811C458A7}"/>
              </a:ext>
            </a:extLst>
          </p:cNvPr>
          <p:cNvSpPr txBox="1"/>
          <p:nvPr/>
        </p:nvSpPr>
        <p:spPr>
          <a:xfrm>
            <a:off x="10503057" y="1242234"/>
            <a:ext cx="131318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Agent </a:t>
            </a:r>
            <a:r>
              <a:rPr lang="sv-SE" sz="1200" dirty="0"/>
              <a:t>B</a:t>
            </a:r>
            <a:endParaRPr lang="sv-SE" dirty="0"/>
          </a:p>
          <a:p>
            <a:r>
              <a:rPr lang="sv-SE" dirty="0"/>
              <a:t>----------------</a:t>
            </a:r>
          </a:p>
          <a:p>
            <a:r>
              <a:rPr lang="sv-SE" dirty="0"/>
              <a:t>Property </a:t>
            </a:r>
            <a:r>
              <a:rPr lang="sv-SE" sz="1200" dirty="0"/>
              <a:t>B1</a:t>
            </a:r>
            <a:endParaRPr lang="sv-SE" dirty="0"/>
          </a:p>
          <a:p>
            <a:r>
              <a:rPr lang="sv-SE" dirty="0"/>
              <a:t>Property </a:t>
            </a:r>
            <a:r>
              <a:rPr lang="sv-SE" sz="1200" dirty="0"/>
              <a:t>B2</a:t>
            </a:r>
            <a:endParaRPr lang="sv-SE" dirty="0"/>
          </a:p>
          <a:p>
            <a:r>
              <a:rPr lang="sv-SE" dirty="0"/>
              <a:t>Property </a:t>
            </a:r>
            <a:r>
              <a:rPr lang="sv-SE" sz="1200" dirty="0" err="1"/>
              <a:t>Bn</a:t>
            </a:r>
            <a:endParaRPr lang="sv-SE" dirty="0"/>
          </a:p>
          <a:p>
            <a:r>
              <a:rPr lang="sv-SE" dirty="0"/>
              <a:t>----------------</a:t>
            </a:r>
          </a:p>
          <a:p>
            <a:r>
              <a:rPr lang="sv-SE" dirty="0" err="1"/>
              <a:t>Activity</a:t>
            </a:r>
            <a:r>
              <a:rPr lang="sv-SE" dirty="0"/>
              <a:t> </a:t>
            </a:r>
            <a:r>
              <a:rPr lang="sv-SE" sz="1200" dirty="0"/>
              <a:t>PB1</a:t>
            </a:r>
            <a:endParaRPr lang="sv-SE" dirty="0"/>
          </a:p>
          <a:p>
            <a:r>
              <a:rPr lang="sv-SE" dirty="0" err="1"/>
              <a:t>Activity</a:t>
            </a:r>
            <a:r>
              <a:rPr lang="sv-SE" dirty="0"/>
              <a:t> </a:t>
            </a:r>
            <a:r>
              <a:rPr lang="sv-SE" sz="1200" dirty="0"/>
              <a:t>PB2</a:t>
            </a:r>
            <a:endParaRPr lang="sv-SE" dirty="0"/>
          </a:p>
          <a:p>
            <a:r>
              <a:rPr lang="sv-SE" dirty="0" err="1"/>
              <a:t>Activity</a:t>
            </a:r>
            <a:r>
              <a:rPr lang="sv-SE" dirty="0"/>
              <a:t> </a:t>
            </a:r>
            <a:r>
              <a:rPr lang="sv-SE" sz="1200" dirty="0" err="1"/>
              <a:t>PBn</a:t>
            </a:r>
            <a:endParaRPr lang="sv-SE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0971FE-34C1-4688-8040-DCA50ED48D27}"/>
              </a:ext>
            </a:extLst>
          </p:cNvPr>
          <p:cNvSpPr txBox="1"/>
          <p:nvPr/>
        </p:nvSpPr>
        <p:spPr>
          <a:xfrm>
            <a:off x="8496887" y="2304063"/>
            <a:ext cx="99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message</a:t>
            </a:r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CA7D695-F4C1-4E1B-B3C7-403B462952EC}"/>
              </a:ext>
            </a:extLst>
          </p:cNvPr>
          <p:cNvCxnSpPr/>
          <p:nvPr/>
        </p:nvCxnSpPr>
        <p:spPr>
          <a:xfrm flipV="1">
            <a:off x="8120484" y="1743287"/>
            <a:ext cx="1828800" cy="11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C7AA6C9-6206-49F6-96D9-D837104207B3}"/>
              </a:ext>
            </a:extLst>
          </p:cNvPr>
          <p:cNvCxnSpPr/>
          <p:nvPr/>
        </p:nvCxnSpPr>
        <p:spPr>
          <a:xfrm flipH="1">
            <a:off x="8194478" y="3120825"/>
            <a:ext cx="18023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6D2EA36-D381-41E8-B553-BBBA440E6742}"/>
              </a:ext>
            </a:extLst>
          </p:cNvPr>
          <p:cNvSpPr txBox="1"/>
          <p:nvPr/>
        </p:nvSpPr>
        <p:spPr>
          <a:xfrm>
            <a:off x="6232306" y="4205729"/>
            <a:ext cx="147848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Agent 1</a:t>
            </a:r>
          </a:p>
          <a:p>
            <a:r>
              <a:rPr lang="sv-SE" dirty="0"/>
              <a:t>----------------</a:t>
            </a:r>
          </a:p>
          <a:p>
            <a:r>
              <a:rPr lang="sv-SE" dirty="0"/>
              <a:t># </a:t>
            </a:r>
            <a:r>
              <a:rPr lang="sv-SE" dirty="0" err="1"/>
              <a:t>links</a:t>
            </a:r>
            <a:r>
              <a:rPr lang="sv-SE" dirty="0"/>
              <a:t> </a:t>
            </a:r>
          </a:p>
          <a:p>
            <a:r>
              <a:rPr lang="sv-SE" dirty="0"/>
              <a:t>----------------</a:t>
            </a:r>
          </a:p>
          <a:p>
            <a:r>
              <a:rPr lang="sv-SE" dirty="0" err="1"/>
              <a:t>Spread</a:t>
            </a:r>
            <a:r>
              <a:rPr lang="sv-SE" dirty="0"/>
              <a:t> rumor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8CCDAB-69B0-449A-9F15-70298591E9ED}"/>
              </a:ext>
            </a:extLst>
          </p:cNvPr>
          <p:cNvSpPr txBox="1"/>
          <p:nvPr/>
        </p:nvSpPr>
        <p:spPr>
          <a:xfrm>
            <a:off x="8536350" y="4478379"/>
            <a:ext cx="99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message</a:t>
            </a:r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BC51627-1B44-428E-B2D0-7EAC7B4003A1}"/>
              </a:ext>
            </a:extLst>
          </p:cNvPr>
          <p:cNvCxnSpPr/>
          <p:nvPr/>
        </p:nvCxnSpPr>
        <p:spPr>
          <a:xfrm flipV="1">
            <a:off x="8181231" y="4909705"/>
            <a:ext cx="1828800" cy="11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4C5520F-807F-4B92-AD24-6D5FA8FA017B}"/>
              </a:ext>
            </a:extLst>
          </p:cNvPr>
          <p:cNvSpPr txBox="1"/>
          <p:nvPr/>
        </p:nvSpPr>
        <p:spPr>
          <a:xfrm>
            <a:off x="10503057" y="4270947"/>
            <a:ext cx="14784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Agent 2</a:t>
            </a:r>
          </a:p>
          <a:p>
            <a:r>
              <a:rPr lang="sv-SE" dirty="0"/>
              <a:t>----------------</a:t>
            </a:r>
          </a:p>
          <a:p>
            <a:r>
              <a:rPr lang="sv-SE" dirty="0"/>
              <a:t># </a:t>
            </a:r>
            <a:r>
              <a:rPr lang="sv-SE" dirty="0" err="1"/>
              <a:t>links</a:t>
            </a:r>
            <a:r>
              <a:rPr lang="sv-SE" dirty="0"/>
              <a:t> </a:t>
            </a:r>
          </a:p>
          <a:p>
            <a:r>
              <a:rPr lang="sv-SE" dirty="0"/>
              <a:t>----------------</a:t>
            </a:r>
          </a:p>
          <a:p>
            <a:r>
              <a:rPr lang="sv-SE" dirty="0"/>
              <a:t>No </a:t>
            </a:r>
            <a:r>
              <a:rPr lang="sv-SE" dirty="0" err="1"/>
              <a:t>Spread</a:t>
            </a:r>
            <a:r>
              <a:rPr lang="sv-SE" dirty="0"/>
              <a:t> rumor</a:t>
            </a:r>
          </a:p>
        </p:txBody>
      </p:sp>
    </p:spTree>
    <p:extLst>
      <p:ext uri="{BB962C8B-B14F-4D97-AF65-F5344CB8AC3E}">
        <p14:creationId xmlns:p14="http://schemas.microsoft.com/office/powerpoint/2010/main" val="3001289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>
                <a:solidFill>
                  <a:schemeClr val="bg1"/>
                </a:solidFill>
              </a:rPr>
              <a:t>ABM with NetLogo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3000" dirty="0" err="1">
                <a:solidFill>
                  <a:schemeClr val="bg1"/>
                </a:solidFill>
              </a:rPr>
              <a:t>Why</a:t>
            </a:r>
            <a:endParaRPr lang="en-US" sz="3000" dirty="0">
              <a:solidFill>
                <a:schemeClr val="bg1"/>
              </a:solidFill>
            </a:endParaRPr>
          </a:p>
          <a:p>
            <a:pPr algn="ctr"/>
            <a:r>
              <a:rPr lang="en-US" sz="3000" dirty="0">
                <a:solidFill>
                  <a:schemeClr val="bg1"/>
                </a:solidFill>
              </a:rPr>
              <a:t>NetLogo?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49ECF25-5573-4A63-BF78-1776575F4BCB}"/>
              </a:ext>
            </a:extLst>
          </p:cNvPr>
          <p:cNvSpPr/>
          <p:nvPr/>
        </p:nvSpPr>
        <p:spPr>
          <a:xfrm>
            <a:off x="7354516" y="6225959"/>
            <a:ext cx="450533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500" dirty="0">
                <a:latin typeface="AdvP6960"/>
              </a:rPr>
              <a:t>Emma </a:t>
            </a:r>
            <a:r>
              <a:rPr lang="en-US" sz="1500" dirty="0" err="1">
                <a:latin typeface="AdvP6960"/>
              </a:rPr>
              <a:t>Norling</a:t>
            </a:r>
            <a:r>
              <a:rPr lang="en-US" sz="1500" dirty="0">
                <a:latin typeface="AdvP6960"/>
              </a:rPr>
              <a:t>, Bruce Edmonds, and Ruth Meyer (2013)</a:t>
            </a:r>
            <a:endParaRPr lang="sv-SE" sz="1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77616F-8E50-47D4-960E-61759F0D2E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032637" y="2464613"/>
            <a:ext cx="2247900" cy="23526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83E780-99CE-46CB-A3BB-CE9631080D81}"/>
              </a:ext>
            </a:extLst>
          </p:cNvPr>
          <p:cNvSpPr txBox="1"/>
          <p:nvPr/>
        </p:nvSpPr>
        <p:spPr>
          <a:xfrm>
            <a:off x="6823787" y="2796296"/>
            <a:ext cx="407644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D0D0D"/>
                </a:solidFill>
                <a:effectLst/>
                <a:latin typeface="Söhne"/>
              </a:rPr>
              <a:t>NetLogo performs poorly when the number of agents and procedures is high</a:t>
            </a:r>
            <a:endParaRPr lang="sv-SE" sz="3300" dirty="0"/>
          </a:p>
        </p:txBody>
      </p:sp>
    </p:spTree>
    <p:extLst>
      <p:ext uri="{BB962C8B-B14F-4D97-AF65-F5344CB8AC3E}">
        <p14:creationId xmlns:p14="http://schemas.microsoft.com/office/powerpoint/2010/main" val="2107816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Definition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611" y="878861"/>
            <a:ext cx="11660777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NetLogo</a:t>
            </a:r>
          </a:p>
          <a:p>
            <a:pPr algn="ctr"/>
            <a:r>
              <a:rPr lang="en-US" sz="6000" dirty="0">
                <a:solidFill>
                  <a:schemeClr val="bg1"/>
                </a:solidFill>
              </a:rPr>
              <a:t>Basic </a:t>
            </a:r>
          </a:p>
          <a:p>
            <a:pPr algn="ctr"/>
            <a:r>
              <a:rPr lang="en-US" sz="6000" dirty="0">
                <a:solidFill>
                  <a:schemeClr val="bg1"/>
                </a:solidFill>
              </a:rPr>
              <a:t>concepts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65744" y="2463172"/>
            <a:ext cx="2467232" cy="246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394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Agents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95401" y="1951493"/>
            <a:ext cx="3733843" cy="5539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3000" dirty="0"/>
              <a:t>Who receives orders?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95401" y="3184458"/>
            <a:ext cx="3389005" cy="5539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3000" dirty="0"/>
              <a:t>How to give orders?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95401" y="4417423"/>
            <a:ext cx="4126130" cy="5539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3000" dirty="0"/>
              <a:t>Where save information?</a:t>
            </a:r>
          </a:p>
        </p:txBody>
      </p:sp>
    </p:spTree>
    <p:extLst>
      <p:ext uri="{BB962C8B-B14F-4D97-AF65-F5344CB8AC3E}">
        <p14:creationId xmlns:p14="http://schemas.microsoft.com/office/powerpoint/2010/main" val="1248963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/>
              <a:t>Who receives orders?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Agents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62157" y="1419772"/>
            <a:ext cx="3733843" cy="5539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3000" dirty="0"/>
              <a:t>Who receives orders?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2818" y="2814918"/>
            <a:ext cx="1920590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sv-SE" sz="3600" dirty="0"/>
              <a:t>Agents!!!</a:t>
            </a:r>
            <a:endParaRPr lang="en-US" sz="3600" dirty="0"/>
          </a:p>
        </p:txBody>
      </p:sp>
      <p:sp>
        <p:nvSpPr>
          <p:cNvPr id="2" name="TextBox 1"/>
          <p:cNvSpPr txBox="1"/>
          <p:nvPr/>
        </p:nvSpPr>
        <p:spPr>
          <a:xfrm>
            <a:off x="2430771" y="4068269"/>
            <a:ext cx="1902637" cy="193899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/>
              <a:t>Observer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/>
              <a:t>Turtles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/>
              <a:t>Patches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/>
              <a:t>Links</a:t>
            </a:r>
          </a:p>
        </p:txBody>
      </p:sp>
      <p:sp>
        <p:nvSpPr>
          <p:cNvPr id="4" name="Rectangle 3"/>
          <p:cNvSpPr/>
          <p:nvPr/>
        </p:nvSpPr>
        <p:spPr>
          <a:xfrm>
            <a:off x="2412818" y="3530630"/>
            <a:ext cx="319331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/>
              <a:t>Entities that follows instructions</a:t>
            </a:r>
          </a:p>
        </p:txBody>
      </p:sp>
    </p:spTree>
    <p:extLst>
      <p:ext uri="{BB962C8B-B14F-4D97-AF65-F5344CB8AC3E}">
        <p14:creationId xmlns:p14="http://schemas.microsoft.com/office/powerpoint/2010/main" val="877610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/>
              <a:t>Who receives orders?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Observer</a:t>
            </a:r>
          </a:p>
          <a:p>
            <a:pPr algn="ctr"/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95900" y="1365377"/>
            <a:ext cx="1902637" cy="55399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/>
              <a:t>Observer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7C7AD3-DFF3-452A-9128-161A7B2ED565}"/>
              </a:ext>
            </a:extLst>
          </p:cNvPr>
          <p:cNvSpPr txBox="1"/>
          <p:nvPr/>
        </p:nvSpPr>
        <p:spPr>
          <a:xfrm>
            <a:off x="2493054" y="4918110"/>
            <a:ext cx="19876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Thesis supervisor:</a:t>
            </a:r>
          </a:p>
          <a:p>
            <a:r>
              <a:rPr lang="en-US" dirty="0"/>
              <a:t>"A simulation you must implement"</a:t>
            </a:r>
            <a:endParaRPr lang="sv-SE" dirty="0"/>
          </a:p>
        </p:txBody>
      </p:sp>
      <p:pic>
        <p:nvPicPr>
          <p:cNvPr id="8" name="Picture 7" descr="A picture containing sitting, baby, small, holding&#10;&#10;Description automatically generated">
            <a:extLst>
              <a:ext uri="{FF2B5EF4-FFF2-40B4-BE49-F238E27FC236}">
                <a16:creationId xmlns:a16="http://schemas.microsoft.com/office/drawing/2014/main" id="{4ABB43D0-F58B-4324-8D89-466400B5F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024" y="2362131"/>
            <a:ext cx="2095792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393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/>
              <a:t>Who receives orders?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Observer</a:t>
            </a:r>
          </a:p>
          <a:p>
            <a:pPr algn="ctr"/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95900" y="1365377"/>
            <a:ext cx="1902637" cy="55399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/>
              <a:t>Observer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7C7AD3-DFF3-452A-9128-161A7B2ED565}"/>
              </a:ext>
            </a:extLst>
          </p:cNvPr>
          <p:cNvSpPr txBox="1"/>
          <p:nvPr/>
        </p:nvSpPr>
        <p:spPr>
          <a:xfrm>
            <a:off x="2493054" y="4918110"/>
            <a:ext cx="19876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Thesis supervisor:</a:t>
            </a:r>
          </a:p>
          <a:p>
            <a:r>
              <a:rPr lang="en-US" dirty="0"/>
              <a:t>"A simulation you must implement"</a:t>
            </a:r>
            <a:endParaRPr lang="sv-S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CF2AFF-2CC3-40CC-B606-B2CEBFF3D982}"/>
              </a:ext>
            </a:extLst>
          </p:cNvPr>
          <p:cNvSpPr txBox="1"/>
          <p:nvPr/>
        </p:nvSpPr>
        <p:spPr>
          <a:xfrm>
            <a:off x="5726961" y="5068489"/>
            <a:ext cx="1585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Yes</a:t>
            </a:r>
            <a:r>
              <a:rPr lang="sv-SE" dirty="0"/>
              <a:t>, my master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5CB391B6-AFD9-4CBF-B7CB-A85E0243206C}"/>
              </a:ext>
            </a:extLst>
          </p:cNvPr>
          <p:cNvSpPr/>
          <p:nvPr/>
        </p:nvSpPr>
        <p:spPr>
          <a:xfrm>
            <a:off x="5003800" y="3917160"/>
            <a:ext cx="292100" cy="4897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8" name="Picture 7" descr="A picture containing sitting, baby, small, holding&#10;&#10;Description automatically generated">
            <a:extLst>
              <a:ext uri="{FF2B5EF4-FFF2-40B4-BE49-F238E27FC236}">
                <a16:creationId xmlns:a16="http://schemas.microsoft.com/office/drawing/2014/main" id="{4ABB43D0-F58B-4324-8D89-466400B5F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024" y="2362131"/>
            <a:ext cx="2095792" cy="2410161"/>
          </a:xfrm>
          <a:prstGeom prst="rect">
            <a:avLst/>
          </a:prstGeom>
        </p:spPr>
      </p:pic>
      <p:pic>
        <p:nvPicPr>
          <p:cNvPr id="14" name="Picture 13" descr="A picture containing outdoor, grass, person, man&#10;&#10;Description automatically generated">
            <a:extLst>
              <a:ext uri="{FF2B5EF4-FFF2-40B4-BE49-F238E27FC236}">
                <a16:creationId xmlns:a16="http://schemas.microsoft.com/office/drawing/2014/main" id="{3F33D252-4D52-4E75-846C-644DE7C45AE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04" r="9242"/>
          <a:stretch/>
        </p:blipFill>
        <p:spPr>
          <a:xfrm>
            <a:off x="5558421" y="2434460"/>
            <a:ext cx="1753974" cy="230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356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/>
              <a:t>Who receives orders?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Observer</a:t>
            </a:r>
          </a:p>
          <a:p>
            <a:pPr algn="ctr"/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99431" y="2091538"/>
            <a:ext cx="1437090" cy="143709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95900" y="1365377"/>
            <a:ext cx="1902637" cy="55399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/>
              <a:t>Observer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7C7AD3-DFF3-452A-9128-161A7B2ED565}"/>
              </a:ext>
            </a:extLst>
          </p:cNvPr>
          <p:cNvSpPr txBox="1"/>
          <p:nvPr/>
        </p:nvSpPr>
        <p:spPr>
          <a:xfrm>
            <a:off x="2493054" y="4918110"/>
            <a:ext cx="19876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Thesis supervisor:</a:t>
            </a:r>
          </a:p>
          <a:p>
            <a:r>
              <a:rPr lang="en-US" dirty="0"/>
              <a:t>"A simulation you must implement"</a:t>
            </a:r>
            <a:endParaRPr lang="sv-S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CF2AFF-2CC3-40CC-B606-B2CEBFF3D982}"/>
              </a:ext>
            </a:extLst>
          </p:cNvPr>
          <p:cNvSpPr txBox="1"/>
          <p:nvPr/>
        </p:nvSpPr>
        <p:spPr>
          <a:xfrm>
            <a:off x="5726961" y="5068489"/>
            <a:ext cx="1585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Yes</a:t>
            </a:r>
            <a:r>
              <a:rPr lang="sv-SE" dirty="0"/>
              <a:t>, my master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A20523-B7C1-4397-9AFB-4A1A05A51E72}"/>
              </a:ext>
            </a:extLst>
          </p:cNvPr>
          <p:cNvSpPr txBox="1"/>
          <p:nvPr/>
        </p:nvSpPr>
        <p:spPr>
          <a:xfrm>
            <a:off x="9278009" y="3586265"/>
            <a:ext cx="819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Turtles</a:t>
            </a:r>
            <a:endParaRPr lang="sv-SE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5CB391B6-AFD9-4CBF-B7CB-A85E0243206C}"/>
              </a:ext>
            </a:extLst>
          </p:cNvPr>
          <p:cNvSpPr/>
          <p:nvPr/>
        </p:nvSpPr>
        <p:spPr>
          <a:xfrm>
            <a:off x="5003800" y="3917160"/>
            <a:ext cx="292100" cy="4897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FD11AA56-0B22-4B5D-8117-60B6BF75F365}"/>
              </a:ext>
            </a:extLst>
          </p:cNvPr>
          <p:cNvSpPr/>
          <p:nvPr/>
        </p:nvSpPr>
        <p:spPr>
          <a:xfrm>
            <a:off x="7772400" y="3917160"/>
            <a:ext cx="292100" cy="4897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8" name="Picture 7" descr="A picture containing sitting, baby, small, holding&#10;&#10;Description automatically generated">
            <a:extLst>
              <a:ext uri="{FF2B5EF4-FFF2-40B4-BE49-F238E27FC236}">
                <a16:creationId xmlns:a16="http://schemas.microsoft.com/office/drawing/2014/main" id="{4ABB43D0-F58B-4324-8D89-466400B5F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024" y="2362131"/>
            <a:ext cx="2095792" cy="2410161"/>
          </a:xfrm>
          <a:prstGeom prst="rect">
            <a:avLst/>
          </a:prstGeom>
        </p:spPr>
      </p:pic>
      <p:pic>
        <p:nvPicPr>
          <p:cNvPr id="14" name="Picture 13" descr="A picture containing outdoor, grass, person, man&#10;&#10;Description automatically generated">
            <a:extLst>
              <a:ext uri="{FF2B5EF4-FFF2-40B4-BE49-F238E27FC236}">
                <a16:creationId xmlns:a16="http://schemas.microsoft.com/office/drawing/2014/main" id="{3F33D252-4D52-4E75-846C-644DE7C45AE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04" r="9242"/>
          <a:stretch/>
        </p:blipFill>
        <p:spPr>
          <a:xfrm>
            <a:off x="5558421" y="2434460"/>
            <a:ext cx="1753974" cy="2303610"/>
          </a:xfrm>
          <a:prstGeom prst="rect">
            <a:avLst/>
          </a:prstGeom>
        </p:spPr>
      </p:pic>
      <p:pic>
        <p:nvPicPr>
          <p:cNvPr id="26" name="Picture 25" descr="A picture containing front, man, holding, street&#10;&#10;Description automatically generated">
            <a:extLst>
              <a:ext uri="{FF2B5EF4-FFF2-40B4-BE49-F238E27FC236}">
                <a16:creationId xmlns:a16="http://schemas.microsoft.com/office/drawing/2014/main" id="{7EFDCB56-636F-4ACF-9E29-C369AF7BD4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000" y="4265787"/>
            <a:ext cx="2962275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397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/>
              <a:t>Who receives orders?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229394" y="1121794"/>
            <a:ext cx="7683257" cy="4770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500" dirty="0"/>
              <a:t>Now, observer tells </a:t>
            </a:r>
            <a:r>
              <a:rPr lang="en-US" sz="2500" b="1" dirty="0"/>
              <a:t>turtles</a:t>
            </a:r>
            <a:r>
              <a:rPr lang="en-US" sz="2500" dirty="0"/>
              <a:t>, </a:t>
            </a:r>
            <a:r>
              <a:rPr lang="en-US" sz="2500" b="1" dirty="0"/>
              <a:t>patches</a:t>
            </a:r>
            <a:r>
              <a:rPr lang="en-US" sz="2500" dirty="0"/>
              <a:t> and </a:t>
            </a:r>
            <a:r>
              <a:rPr lang="en-US" sz="2500" b="1" dirty="0"/>
              <a:t>links</a:t>
            </a:r>
            <a:r>
              <a:rPr lang="en-US" sz="2500" dirty="0"/>
              <a:t> what to do…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29394" y="2379091"/>
            <a:ext cx="3362878" cy="352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401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/>
              <a:t>Who receives orders?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Turtles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29394" y="2379091"/>
            <a:ext cx="3362878" cy="352853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3769" t="869" r="33673" b="1600"/>
          <a:stretch/>
        </p:blipFill>
        <p:spPr>
          <a:xfrm>
            <a:off x="6932022" y="1220649"/>
            <a:ext cx="2525487" cy="5279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29394" y="1321849"/>
            <a:ext cx="1242841" cy="55399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sv-SE" sz="3000" dirty="0" err="1"/>
              <a:t>Turtles</a:t>
            </a:r>
            <a:endParaRPr lang="en-US" sz="3000" dirty="0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4537166" y="2708366"/>
            <a:ext cx="3561805" cy="505097"/>
          </a:xfrm>
          <a:prstGeom prst="straightConnector1">
            <a:avLst/>
          </a:prstGeom>
          <a:ln w="7620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/>
          <a:srcRect l="17804" t="51256" r="72022" b="25362"/>
          <a:stretch/>
        </p:blipFill>
        <p:spPr>
          <a:xfrm>
            <a:off x="9530081" y="1220649"/>
            <a:ext cx="2614156" cy="202764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A3A1D3F-65E4-4FB6-8478-F39D0E232C36}"/>
              </a:ext>
            </a:extLst>
          </p:cNvPr>
          <p:cNvSpPr/>
          <p:nvPr/>
        </p:nvSpPr>
        <p:spPr>
          <a:xfrm>
            <a:off x="9878021" y="3256783"/>
            <a:ext cx="148666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/>
              <a:t>A robot, 1971 (it looks like a </a:t>
            </a:r>
            <a:r>
              <a:rPr lang="sv-SE" dirty="0" err="1"/>
              <a:t>turtle</a:t>
            </a:r>
            <a:r>
              <a:rPr lang="sv-S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468732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/>
              <a:t>Who receives orders?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Patches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29394" y="2379091"/>
            <a:ext cx="3362878" cy="352853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73" t="869" r="66923" b="23936"/>
          <a:stretch/>
        </p:blipFill>
        <p:spPr>
          <a:xfrm>
            <a:off x="7149737" y="1678067"/>
            <a:ext cx="2847703" cy="4494032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>
            <a:off x="4781006" y="3662823"/>
            <a:ext cx="3792582" cy="24553"/>
          </a:xfrm>
          <a:prstGeom prst="straightConnector1">
            <a:avLst/>
          </a:prstGeom>
          <a:ln w="7620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29394" y="1321849"/>
            <a:ext cx="1384803" cy="55399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sv-SE" sz="3000" dirty="0" err="1"/>
              <a:t>Patches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2879896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/>
              <a:t>Who receives orders?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Links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29394" y="2379091"/>
            <a:ext cx="3362878" cy="35285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14605" y="1480457"/>
            <a:ext cx="2365375" cy="44271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53560" y="1321849"/>
            <a:ext cx="958532" cy="55399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sv-SE" sz="3000" dirty="0"/>
              <a:t>Links</a:t>
            </a:r>
            <a:endParaRPr lang="en-US" sz="3000" dirty="0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4151004" y="2812869"/>
            <a:ext cx="3946288" cy="1506583"/>
          </a:xfrm>
          <a:prstGeom prst="straightConnector1">
            <a:avLst/>
          </a:prstGeom>
          <a:ln w="76200">
            <a:solidFill>
              <a:schemeClr val="accent5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3897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How to give orders? </a:t>
            </a:r>
          </a:p>
          <a:p>
            <a:pPr algn="ctr"/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95401" y="1951493"/>
            <a:ext cx="3733843" cy="5539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3000" dirty="0"/>
              <a:t>Who receives orders?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95401" y="3184458"/>
            <a:ext cx="3389005" cy="55399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3000" dirty="0"/>
              <a:t>How to give orders?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95401" y="4417423"/>
            <a:ext cx="4126130" cy="5539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3000" dirty="0"/>
              <a:t>Where save information?</a:t>
            </a:r>
          </a:p>
        </p:txBody>
      </p:sp>
    </p:spTree>
    <p:extLst>
      <p:ext uri="{BB962C8B-B14F-4D97-AF65-F5344CB8AC3E}">
        <p14:creationId xmlns:p14="http://schemas.microsoft.com/office/powerpoint/2010/main" val="40161598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How to give orders? </a:t>
            </a:r>
          </a:p>
          <a:p>
            <a:pPr algn="ctr"/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98589" y="2142186"/>
            <a:ext cx="1947969" cy="55399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sv-SE" sz="3000" dirty="0" err="1"/>
              <a:t>Commands</a:t>
            </a:r>
            <a:endParaRPr lang="en-US" sz="3000" dirty="0"/>
          </a:p>
        </p:txBody>
      </p:sp>
      <p:sp>
        <p:nvSpPr>
          <p:cNvPr id="11" name="TextBox 10"/>
          <p:cNvSpPr txBox="1"/>
          <p:nvPr/>
        </p:nvSpPr>
        <p:spPr>
          <a:xfrm>
            <a:off x="2098589" y="4697392"/>
            <a:ext cx="1396216" cy="55399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sv-SE" sz="3000" dirty="0" err="1"/>
              <a:t>Reports</a:t>
            </a:r>
            <a:endParaRPr lang="en-US" sz="3000" dirty="0"/>
          </a:p>
        </p:txBody>
      </p:sp>
      <p:sp>
        <p:nvSpPr>
          <p:cNvPr id="3" name="Rectangle 2"/>
          <p:cNvSpPr/>
          <p:nvPr/>
        </p:nvSpPr>
        <p:spPr>
          <a:xfrm>
            <a:off x="6096000" y="988284"/>
            <a:ext cx="601756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build-in NetLogo. Examples: </a:t>
            </a:r>
            <a:r>
              <a:rPr lang="en-US" u="sng" dirty="0">
                <a:solidFill>
                  <a:schemeClr val="accent1">
                    <a:lumMod val="75000"/>
                  </a:schemeClr>
                </a:solidFill>
              </a:rPr>
              <a:t>hide-turtle</a:t>
            </a:r>
            <a:r>
              <a:rPr lang="en-US" dirty="0"/>
              <a:t> / </a:t>
            </a:r>
            <a:r>
              <a:rPr lang="en-US" u="sng" dirty="0">
                <a:solidFill>
                  <a:schemeClr val="accent1">
                    <a:lumMod val="75000"/>
                  </a:schemeClr>
                </a:solidFill>
              </a:rPr>
              <a:t>die</a:t>
            </a:r>
            <a:r>
              <a:rPr lang="en-US" dirty="0"/>
              <a:t> / </a:t>
            </a:r>
            <a:r>
              <a:rPr lang="en-US" u="sng" dirty="0">
                <a:solidFill>
                  <a:schemeClr val="accent1">
                    <a:lumMod val="75000"/>
                  </a:schemeClr>
                </a:solidFill>
              </a:rPr>
              <a:t>face</a:t>
            </a:r>
            <a:r>
              <a:rPr lang="en-US" dirty="0"/>
              <a:t> / </a:t>
            </a:r>
            <a:r>
              <a:rPr lang="en-US" u="sng" dirty="0">
                <a:solidFill>
                  <a:schemeClr val="accent1">
                    <a:lumMod val="75000"/>
                  </a:schemeClr>
                </a:solidFill>
              </a:rPr>
              <a:t>forward</a:t>
            </a:r>
          </a:p>
          <a:p>
            <a:r>
              <a:rPr lang="en-US" sz="2600" u="sng" dirty="0">
                <a:solidFill>
                  <a:schemeClr val="accent1">
                    <a:lumMod val="75000"/>
                  </a:schemeClr>
                </a:solidFill>
              </a:rPr>
              <a:t>ask</a:t>
            </a:r>
          </a:p>
          <a:p>
            <a:pPr marL="285750" indent="-285750">
              <a:buFontTx/>
              <a:buChar char="-"/>
            </a:pPr>
            <a:r>
              <a:rPr lang="en-US" dirty="0"/>
              <a:t>It’s a par excellence built-in procedure in NetLogo</a:t>
            </a:r>
          </a:p>
          <a:p>
            <a:pPr marL="285750" indent="-285750">
              <a:buFontTx/>
              <a:buChar char="-"/>
            </a:pPr>
            <a:r>
              <a:rPr lang="en-US" dirty="0"/>
              <a:t>It’s used to order different tasks to the agents.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order to a </a:t>
            </a:r>
            <a:r>
              <a:rPr lang="sv-SE" dirty="0" err="1"/>
              <a:t>single</a:t>
            </a:r>
            <a:r>
              <a:rPr lang="sv-SE" dirty="0"/>
              <a:t> </a:t>
            </a:r>
            <a:r>
              <a:rPr lang="sv-SE" dirty="0" err="1"/>
              <a:t>turtle</a:t>
            </a:r>
            <a:r>
              <a:rPr lang="sv-SE" dirty="0"/>
              <a:t>:</a:t>
            </a:r>
          </a:p>
          <a:p>
            <a:endParaRPr lang="sv-SE" dirty="0"/>
          </a:p>
          <a:p>
            <a:r>
              <a:rPr lang="sv-SE" dirty="0">
                <a:solidFill>
                  <a:schemeClr val="accent1">
                    <a:lumMod val="75000"/>
                  </a:schemeClr>
                </a:solidFill>
              </a:rPr>
              <a:t>ask</a:t>
            </a:r>
            <a:r>
              <a:rPr lang="sv-SE" dirty="0"/>
              <a:t> </a:t>
            </a:r>
            <a:r>
              <a:rPr lang="sv-SE" dirty="0" err="1"/>
              <a:t>turtle</a:t>
            </a:r>
            <a:r>
              <a:rPr lang="sv-SE" dirty="0"/>
              <a:t> 1 [ </a:t>
            </a:r>
            <a:r>
              <a:rPr lang="sv-SE" dirty="0">
                <a:solidFill>
                  <a:schemeClr val="accent1">
                    <a:lumMod val="75000"/>
                  </a:schemeClr>
                </a:solidFill>
              </a:rPr>
              <a:t>forward</a:t>
            </a:r>
            <a:r>
              <a:rPr lang="sv-SE" dirty="0"/>
              <a:t> 1]</a:t>
            </a:r>
          </a:p>
          <a:p>
            <a:endParaRPr lang="sv-SE" dirty="0"/>
          </a:p>
          <a:p>
            <a:r>
              <a:rPr lang="sv-SE" dirty="0"/>
              <a:t>;; Or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order to an </a:t>
            </a:r>
            <a:r>
              <a:rPr lang="sv-SE" b="1" dirty="0" err="1">
                <a:solidFill>
                  <a:srgbClr val="FF0000"/>
                </a:solidFill>
              </a:rPr>
              <a:t>agentset</a:t>
            </a:r>
            <a:r>
              <a:rPr lang="sv-SE" b="1" dirty="0">
                <a:solidFill>
                  <a:srgbClr val="FF0000"/>
                </a:solidFill>
              </a:rPr>
              <a:t> (set </a:t>
            </a:r>
            <a:r>
              <a:rPr lang="sv-SE" b="1" dirty="0" err="1">
                <a:solidFill>
                  <a:srgbClr val="FF0000"/>
                </a:solidFill>
              </a:rPr>
              <a:t>of</a:t>
            </a:r>
            <a:r>
              <a:rPr lang="sv-SE" b="1" dirty="0">
                <a:solidFill>
                  <a:srgbClr val="FF0000"/>
                </a:solidFill>
              </a:rPr>
              <a:t> </a:t>
            </a:r>
            <a:r>
              <a:rPr lang="sv-SE" b="1" dirty="0" err="1">
                <a:solidFill>
                  <a:srgbClr val="FF0000"/>
                </a:solidFill>
              </a:rPr>
              <a:t>turtles</a:t>
            </a:r>
            <a:r>
              <a:rPr lang="sv-SE" b="1" dirty="0">
                <a:solidFill>
                  <a:srgbClr val="FF0000"/>
                </a:solidFill>
              </a:rPr>
              <a:t>)</a:t>
            </a:r>
          </a:p>
          <a:p>
            <a:endParaRPr lang="sv-SE" dirty="0"/>
          </a:p>
          <a:p>
            <a:r>
              <a:rPr lang="sv-SE" dirty="0">
                <a:solidFill>
                  <a:schemeClr val="accent1">
                    <a:lumMod val="75000"/>
                  </a:schemeClr>
                </a:solidFill>
              </a:rPr>
              <a:t>ask</a:t>
            </a:r>
            <a:r>
              <a:rPr lang="sv-SE" dirty="0"/>
              <a:t> </a:t>
            </a:r>
            <a:r>
              <a:rPr lang="sv-SE" dirty="0" err="1"/>
              <a:t>turtles</a:t>
            </a:r>
            <a:r>
              <a:rPr lang="sv-SE" dirty="0"/>
              <a:t> [</a:t>
            </a:r>
            <a:r>
              <a:rPr lang="sv-SE" dirty="0">
                <a:solidFill>
                  <a:schemeClr val="accent1">
                    <a:lumMod val="75000"/>
                  </a:schemeClr>
                </a:solidFill>
              </a:rPr>
              <a:t>forward</a:t>
            </a:r>
            <a:r>
              <a:rPr lang="sv-SE" dirty="0"/>
              <a:t> 1]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1142ED-E357-4316-8D9E-F50568B21105}"/>
              </a:ext>
            </a:extLst>
          </p:cNvPr>
          <p:cNvSpPr/>
          <p:nvPr/>
        </p:nvSpPr>
        <p:spPr>
          <a:xfrm>
            <a:off x="4418405" y="1587450"/>
            <a:ext cx="111056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sv-SE" dirty="0">
                <a:highlight>
                  <a:srgbClr val="FFFF00"/>
                </a:highlight>
              </a:rPr>
              <a:t>Primitives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C67E6E-7807-49F2-81BF-6ADEDC619FB2}"/>
              </a:ext>
            </a:extLst>
          </p:cNvPr>
          <p:cNvSpPr/>
          <p:nvPr/>
        </p:nvSpPr>
        <p:spPr>
          <a:xfrm>
            <a:off x="4418405" y="2839142"/>
            <a:ext cx="124072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sv-SE" dirty="0" err="1"/>
              <a:t>Procedures</a:t>
            </a:r>
            <a:endParaRPr lang="sv-SE" dirty="0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831565B5-A23D-4004-947E-91391D1FB060}"/>
              </a:ext>
            </a:extLst>
          </p:cNvPr>
          <p:cNvSpPr/>
          <p:nvPr/>
        </p:nvSpPr>
        <p:spPr>
          <a:xfrm>
            <a:off x="5659129" y="869448"/>
            <a:ext cx="436871" cy="3658265"/>
          </a:xfrm>
          <a:prstGeom prst="leftBrace">
            <a:avLst>
              <a:gd name="adj1" fmla="val 8333"/>
              <a:gd name="adj2" fmla="val 24985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257498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How to give orders? </a:t>
            </a:r>
          </a:p>
          <a:p>
            <a:pPr algn="ctr"/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98589" y="2142186"/>
            <a:ext cx="1947969" cy="55399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sv-SE" sz="3000" dirty="0" err="1"/>
              <a:t>Commands</a:t>
            </a:r>
            <a:endParaRPr lang="en-US" sz="3000" dirty="0"/>
          </a:p>
        </p:txBody>
      </p:sp>
      <p:sp>
        <p:nvSpPr>
          <p:cNvPr id="11" name="TextBox 10"/>
          <p:cNvSpPr txBox="1"/>
          <p:nvPr/>
        </p:nvSpPr>
        <p:spPr>
          <a:xfrm>
            <a:off x="2098589" y="4697392"/>
            <a:ext cx="1396216" cy="55399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sv-SE" sz="3000" dirty="0" err="1"/>
              <a:t>Reports</a:t>
            </a:r>
            <a:endParaRPr lang="en-US" sz="3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1142ED-E357-4316-8D9E-F50568B21105}"/>
              </a:ext>
            </a:extLst>
          </p:cNvPr>
          <p:cNvSpPr/>
          <p:nvPr/>
        </p:nvSpPr>
        <p:spPr>
          <a:xfrm>
            <a:off x="4418405" y="1587450"/>
            <a:ext cx="111056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sv-SE" dirty="0"/>
              <a:t>Primitives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C67E6E-7807-49F2-81BF-6ADEDC619FB2}"/>
              </a:ext>
            </a:extLst>
          </p:cNvPr>
          <p:cNvSpPr/>
          <p:nvPr/>
        </p:nvSpPr>
        <p:spPr>
          <a:xfrm>
            <a:off x="4418405" y="2839142"/>
            <a:ext cx="124072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sv-SE" dirty="0" err="1">
                <a:highlight>
                  <a:srgbClr val="FFFF00"/>
                </a:highlight>
              </a:rPr>
              <a:t>Procedures</a:t>
            </a:r>
            <a:endParaRPr lang="sv-SE" dirty="0">
              <a:highlight>
                <a:srgbClr val="FFFF00"/>
              </a:highligh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251D6B-55A3-48CE-8718-CBC41B4DD1F9}"/>
              </a:ext>
            </a:extLst>
          </p:cNvPr>
          <p:cNvSpPr/>
          <p:nvPr/>
        </p:nvSpPr>
        <p:spPr>
          <a:xfrm>
            <a:off x="6532873" y="1166842"/>
            <a:ext cx="509428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Defined by the observer.</a:t>
            </a:r>
          </a:p>
          <a:p>
            <a:r>
              <a:rPr lang="en-US" dirty="0"/>
              <a:t>Structure:</a:t>
            </a:r>
          </a:p>
          <a:p>
            <a:endParaRPr lang="en-US" dirty="0"/>
          </a:p>
          <a:p>
            <a:r>
              <a:rPr lang="sv-SE" dirty="0">
                <a:solidFill>
                  <a:srgbClr val="00B050"/>
                </a:solidFill>
              </a:rPr>
              <a:t>to</a:t>
            </a:r>
            <a:r>
              <a:rPr lang="sv-SE" dirty="0"/>
              <a:t> walk </a:t>
            </a:r>
            <a:r>
              <a:rPr lang="sv-SE" dirty="0">
                <a:solidFill>
                  <a:srgbClr val="FF0000"/>
                </a:solidFill>
              </a:rPr>
              <a:t>-&gt; walk is the </a:t>
            </a:r>
            <a:r>
              <a:rPr lang="sv-SE" dirty="0" err="1">
                <a:solidFill>
                  <a:srgbClr val="FF0000"/>
                </a:solidFill>
              </a:rPr>
              <a:t>name</a:t>
            </a:r>
            <a:r>
              <a:rPr lang="sv-SE" dirty="0">
                <a:solidFill>
                  <a:srgbClr val="FF0000"/>
                </a:solidFill>
              </a:rPr>
              <a:t> </a:t>
            </a:r>
            <a:r>
              <a:rPr lang="sv-SE" dirty="0" err="1">
                <a:solidFill>
                  <a:srgbClr val="FF0000"/>
                </a:solidFill>
              </a:rPr>
              <a:t>of</a:t>
            </a:r>
            <a:r>
              <a:rPr lang="sv-SE" dirty="0">
                <a:solidFill>
                  <a:srgbClr val="FF0000"/>
                </a:solidFill>
              </a:rPr>
              <a:t> the </a:t>
            </a:r>
            <a:r>
              <a:rPr lang="sv-SE" dirty="0" err="1">
                <a:solidFill>
                  <a:srgbClr val="FF0000"/>
                </a:solidFill>
              </a:rPr>
              <a:t>procedure</a:t>
            </a:r>
            <a:endParaRPr lang="sv-SE" dirty="0">
              <a:solidFill>
                <a:srgbClr val="FF0000"/>
              </a:solidFill>
            </a:endParaRPr>
          </a:p>
          <a:p>
            <a:r>
              <a:rPr lang="sv-SE" dirty="0">
                <a:solidFill>
                  <a:srgbClr val="0070C0"/>
                </a:solidFill>
              </a:rPr>
              <a:t>  ask </a:t>
            </a:r>
            <a:r>
              <a:rPr lang="sv-SE" dirty="0" err="1"/>
              <a:t>turtles</a:t>
            </a:r>
            <a:r>
              <a:rPr lang="sv-SE" dirty="0"/>
              <a:t> [</a:t>
            </a:r>
            <a:r>
              <a:rPr lang="sv-SE" dirty="0" err="1">
                <a:solidFill>
                  <a:srgbClr val="0070C0"/>
                </a:solidFill>
              </a:rPr>
              <a:t>fd</a:t>
            </a:r>
            <a:r>
              <a:rPr lang="sv-SE" dirty="0">
                <a:solidFill>
                  <a:srgbClr val="0070C0"/>
                </a:solidFill>
              </a:rPr>
              <a:t> </a:t>
            </a:r>
            <a:r>
              <a:rPr lang="sv-SE" dirty="0"/>
              <a:t>1] </a:t>
            </a:r>
            <a:r>
              <a:rPr lang="sv-SE" dirty="0">
                <a:solidFill>
                  <a:srgbClr val="FF0000"/>
                </a:solidFill>
              </a:rPr>
              <a:t>-&gt; the </a:t>
            </a:r>
            <a:r>
              <a:rPr lang="sv-SE" dirty="0" err="1">
                <a:solidFill>
                  <a:srgbClr val="FF0000"/>
                </a:solidFill>
              </a:rPr>
              <a:t>content</a:t>
            </a:r>
            <a:r>
              <a:rPr lang="sv-SE" dirty="0">
                <a:solidFill>
                  <a:srgbClr val="FF0000"/>
                </a:solidFill>
              </a:rPr>
              <a:t>  </a:t>
            </a:r>
            <a:endParaRPr lang="sv-SE" dirty="0"/>
          </a:p>
          <a:p>
            <a:r>
              <a:rPr lang="sv-SE" dirty="0">
                <a:solidFill>
                  <a:srgbClr val="00B050"/>
                </a:solidFill>
              </a:rPr>
              <a:t>end </a:t>
            </a:r>
            <a:r>
              <a:rPr lang="sv-SE" dirty="0">
                <a:solidFill>
                  <a:srgbClr val="FF0000"/>
                </a:solidFill>
              </a:rPr>
              <a:t>-&gt; to end the </a:t>
            </a:r>
            <a:r>
              <a:rPr lang="sv-SE" dirty="0" err="1">
                <a:solidFill>
                  <a:srgbClr val="FF0000"/>
                </a:solidFill>
              </a:rPr>
              <a:t>procedure</a:t>
            </a:r>
            <a:endParaRPr lang="sv-SE" dirty="0">
              <a:solidFill>
                <a:srgbClr val="FF0000"/>
              </a:solidFill>
            </a:endParaRPr>
          </a:p>
          <a:p>
            <a:endParaRPr lang="sv-SE" dirty="0">
              <a:solidFill>
                <a:srgbClr val="FF0000"/>
              </a:solidFill>
            </a:endParaRPr>
          </a:p>
          <a:p>
            <a:r>
              <a:rPr lang="sv-SE" dirty="0">
                <a:solidFill>
                  <a:srgbClr val="00B050"/>
                </a:solidFill>
              </a:rPr>
              <a:t>to</a:t>
            </a:r>
            <a:r>
              <a:rPr lang="sv-SE" dirty="0"/>
              <a:t> </a:t>
            </a:r>
            <a:r>
              <a:rPr lang="sv-SE" dirty="0" err="1"/>
              <a:t>get_older</a:t>
            </a:r>
            <a:endParaRPr lang="sv-SE" dirty="0">
              <a:solidFill>
                <a:srgbClr val="FF0000"/>
              </a:solidFill>
            </a:endParaRPr>
          </a:p>
          <a:p>
            <a:r>
              <a:rPr lang="sv-SE" dirty="0">
                <a:solidFill>
                  <a:srgbClr val="0070C0"/>
                </a:solidFill>
              </a:rPr>
              <a:t>  ask </a:t>
            </a:r>
            <a:r>
              <a:rPr lang="sv-SE" dirty="0" err="1"/>
              <a:t>turtles</a:t>
            </a:r>
            <a:r>
              <a:rPr lang="sv-SE" dirty="0"/>
              <a:t> [</a:t>
            </a:r>
            <a:r>
              <a:rPr lang="sv-SE" dirty="0" err="1">
                <a:solidFill>
                  <a:srgbClr val="0070C0"/>
                </a:solidFill>
              </a:rPr>
              <a:t>die</a:t>
            </a:r>
            <a:r>
              <a:rPr lang="sv-SE" dirty="0"/>
              <a:t>] </a:t>
            </a:r>
          </a:p>
          <a:p>
            <a:r>
              <a:rPr lang="sv-SE" dirty="0">
                <a:solidFill>
                  <a:srgbClr val="00B050"/>
                </a:solidFill>
              </a:rPr>
              <a:t>end </a:t>
            </a:r>
            <a:endParaRPr lang="sv-SE" dirty="0">
              <a:solidFill>
                <a:srgbClr val="FF0000"/>
              </a:solidFill>
            </a:endParaRPr>
          </a:p>
          <a:p>
            <a:endParaRPr lang="sv-SE" dirty="0">
              <a:solidFill>
                <a:srgbClr val="FF0000"/>
              </a:solidFill>
            </a:endParaRPr>
          </a:p>
          <a:p>
            <a:r>
              <a:rPr lang="sv-SE" dirty="0">
                <a:solidFill>
                  <a:srgbClr val="00B050"/>
                </a:solidFill>
              </a:rPr>
              <a:t>to</a:t>
            </a:r>
            <a:r>
              <a:rPr lang="sv-SE" dirty="0"/>
              <a:t> live </a:t>
            </a:r>
            <a:endParaRPr lang="sv-SE" dirty="0">
              <a:solidFill>
                <a:srgbClr val="FF0000"/>
              </a:solidFill>
            </a:endParaRPr>
          </a:p>
          <a:p>
            <a:r>
              <a:rPr lang="sv-SE" dirty="0">
                <a:solidFill>
                  <a:srgbClr val="0070C0"/>
                </a:solidFill>
              </a:rPr>
              <a:t>  </a:t>
            </a:r>
            <a:r>
              <a:rPr lang="sv-SE" dirty="0"/>
              <a:t>walk</a:t>
            </a:r>
          </a:p>
          <a:p>
            <a:r>
              <a:rPr lang="sv-SE" dirty="0">
                <a:solidFill>
                  <a:srgbClr val="0070C0"/>
                </a:solidFill>
              </a:rPr>
              <a:t>  </a:t>
            </a:r>
            <a:r>
              <a:rPr lang="sv-SE" dirty="0" err="1"/>
              <a:t>get_older</a:t>
            </a:r>
            <a:r>
              <a:rPr lang="sv-SE" dirty="0"/>
              <a:t> </a:t>
            </a:r>
          </a:p>
          <a:p>
            <a:r>
              <a:rPr lang="sv-SE" dirty="0">
                <a:solidFill>
                  <a:srgbClr val="00B050"/>
                </a:solidFill>
              </a:rPr>
              <a:t>end </a:t>
            </a:r>
            <a:r>
              <a:rPr lang="en-US" dirty="0"/>
              <a:t>	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8BD34660-3847-4A3C-B605-F657EAAC9888}"/>
              </a:ext>
            </a:extLst>
          </p:cNvPr>
          <p:cNvSpPr/>
          <p:nvPr/>
        </p:nvSpPr>
        <p:spPr>
          <a:xfrm>
            <a:off x="6070598" y="1166842"/>
            <a:ext cx="436871" cy="4377615"/>
          </a:xfrm>
          <a:prstGeom prst="leftBrace">
            <a:avLst>
              <a:gd name="adj1" fmla="val 8333"/>
              <a:gd name="adj2" fmla="val 42558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718332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How to give orders? </a:t>
            </a:r>
          </a:p>
          <a:p>
            <a:pPr algn="ctr"/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98589" y="2142186"/>
            <a:ext cx="1947969" cy="55399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sv-SE" sz="3000" dirty="0" err="1"/>
              <a:t>Commands</a:t>
            </a:r>
            <a:endParaRPr lang="en-US" sz="3000" dirty="0"/>
          </a:p>
        </p:txBody>
      </p:sp>
      <p:sp>
        <p:nvSpPr>
          <p:cNvPr id="11" name="TextBox 10"/>
          <p:cNvSpPr txBox="1"/>
          <p:nvPr/>
        </p:nvSpPr>
        <p:spPr>
          <a:xfrm>
            <a:off x="2098589" y="4697392"/>
            <a:ext cx="1396216" cy="55399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sv-SE" sz="3000" dirty="0" err="1"/>
              <a:t>Reports</a:t>
            </a:r>
            <a:endParaRPr lang="en-US" sz="3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D1359-B534-48A7-881E-9A4A07F00ABD}"/>
              </a:ext>
            </a:extLst>
          </p:cNvPr>
          <p:cNvSpPr/>
          <p:nvPr/>
        </p:nvSpPr>
        <p:spPr>
          <a:xfrm>
            <a:off x="5413828" y="3831703"/>
            <a:ext cx="6560457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A reporter is an instruction created by the user for computing a value (like a function in R)</a:t>
            </a:r>
          </a:p>
          <a:p>
            <a:endParaRPr 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v-SE" altLang="sv-SE" dirty="0">
                <a:solidFill>
                  <a:schemeClr val="accent1"/>
                </a:solidFill>
                <a:latin typeface="Arial Unicode MS"/>
              </a:rPr>
              <a:t>to-</a:t>
            </a:r>
            <a:r>
              <a:rPr lang="sv-SE" altLang="sv-SE" dirty="0" err="1">
                <a:solidFill>
                  <a:schemeClr val="accent1"/>
                </a:solidFill>
                <a:latin typeface="Arial Unicode MS"/>
              </a:rPr>
              <a:t>report</a:t>
            </a:r>
            <a:r>
              <a:rPr lang="sv-SE" altLang="sv-SE" dirty="0">
                <a:solidFill>
                  <a:schemeClr val="accent1"/>
                </a:solidFill>
                <a:latin typeface="Arial Unicode MS"/>
              </a:rPr>
              <a:t> </a:t>
            </a:r>
            <a:r>
              <a:rPr lang="sv-SE" altLang="sv-SE" dirty="0">
                <a:latin typeface="Arial Unicode MS"/>
              </a:rPr>
              <a:t>absolute-</a:t>
            </a:r>
            <a:r>
              <a:rPr lang="sv-SE" altLang="sv-SE" dirty="0" err="1">
                <a:latin typeface="Arial Unicode MS"/>
              </a:rPr>
              <a:t>value</a:t>
            </a:r>
            <a:r>
              <a:rPr lang="sv-SE" altLang="sv-SE" dirty="0">
                <a:latin typeface="Arial Unicode MS"/>
              </a:rPr>
              <a:t> [</a:t>
            </a:r>
            <a:r>
              <a:rPr lang="sv-SE" altLang="sv-SE" dirty="0" err="1">
                <a:latin typeface="Arial Unicode MS"/>
              </a:rPr>
              <a:t>number</a:t>
            </a:r>
            <a:r>
              <a:rPr lang="sv-SE" altLang="sv-SE" dirty="0">
                <a:latin typeface="Arial Unicode MS"/>
              </a:rPr>
              <a:t>] </a:t>
            </a:r>
            <a:r>
              <a:rPr lang="sv-SE" altLang="sv-SE" dirty="0">
                <a:solidFill>
                  <a:srgbClr val="FF0000"/>
                </a:solidFill>
                <a:latin typeface="Arial Unicode MS"/>
              </a:rPr>
              <a:t>-&gt; </a:t>
            </a:r>
            <a:r>
              <a:rPr lang="sv-SE" altLang="sv-SE" dirty="0" err="1">
                <a:solidFill>
                  <a:srgbClr val="FF0000"/>
                </a:solidFill>
                <a:latin typeface="Arial Unicode MS"/>
              </a:rPr>
              <a:t>number</a:t>
            </a:r>
            <a:r>
              <a:rPr lang="sv-SE" altLang="sv-SE" dirty="0">
                <a:solidFill>
                  <a:srgbClr val="FF0000"/>
                </a:solidFill>
                <a:latin typeface="Arial Unicode MS"/>
              </a:rPr>
              <a:t> is the input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v-SE" altLang="sv-SE" dirty="0">
                <a:latin typeface="Arial Unicode MS"/>
              </a:rPr>
              <a:t>           </a:t>
            </a:r>
            <a:r>
              <a:rPr lang="sv-SE" altLang="sv-SE" dirty="0" err="1">
                <a:latin typeface="Arial Unicode MS"/>
              </a:rPr>
              <a:t>ifelse</a:t>
            </a:r>
            <a:r>
              <a:rPr lang="sv-SE" altLang="sv-SE" dirty="0">
                <a:latin typeface="Arial Unicode MS"/>
              </a:rPr>
              <a:t> </a:t>
            </a:r>
            <a:r>
              <a:rPr lang="sv-SE" altLang="sv-SE" dirty="0" err="1">
                <a:latin typeface="Arial Unicode MS"/>
              </a:rPr>
              <a:t>number</a:t>
            </a:r>
            <a:r>
              <a:rPr lang="sv-SE" altLang="sv-SE" dirty="0">
                <a:latin typeface="Arial Unicode MS"/>
              </a:rPr>
              <a:t> &gt;= 0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v-SE" altLang="sv-SE" dirty="0">
                <a:latin typeface="Arial Unicode MS"/>
              </a:rPr>
              <a:t>	[</a:t>
            </a:r>
            <a:r>
              <a:rPr lang="sv-SE" altLang="sv-SE" dirty="0" err="1">
                <a:latin typeface="Arial Unicode MS"/>
              </a:rPr>
              <a:t>report</a:t>
            </a:r>
            <a:r>
              <a:rPr lang="sv-SE" altLang="sv-SE" dirty="0">
                <a:latin typeface="Arial Unicode MS"/>
              </a:rPr>
              <a:t> </a:t>
            </a:r>
            <a:r>
              <a:rPr lang="sv-SE" altLang="sv-SE" dirty="0" err="1">
                <a:latin typeface="Arial Unicode MS"/>
              </a:rPr>
              <a:t>number</a:t>
            </a:r>
            <a:r>
              <a:rPr lang="sv-SE" altLang="sv-SE" dirty="0">
                <a:latin typeface="Arial Unicode MS"/>
              </a:rPr>
              <a:t> ]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v-SE" altLang="sv-SE" dirty="0">
                <a:latin typeface="Arial Unicode MS"/>
              </a:rPr>
              <a:t>	[ </a:t>
            </a:r>
            <a:r>
              <a:rPr lang="sv-SE" altLang="sv-SE" dirty="0" err="1">
                <a:latin typeface="Arial Unicode MS"/>
              </a:rPr>
              <a:t>report</a:t>
            </a:r>
            <a:r>
              <a:rPr lang="sv-SE" altLang="sv-SE" dirty="0">
                <a:latin typeface="Arial Unicode MS"/>
              </a:rPr>
              <a:t> (</a:t>
            </a:r>
            <a:r>
              <a:rPr lang="sv-SE" altLang="sv-SE" dirty="0" err="1">
                <a:latin typeface="Arial Unicode MS"/>
              </a:rPr>
              <a:t>number</a:t>
            </a:r>
            <a:r>
              <a:rPr lang="sv-SE" altLang="sv-SE" dirty="0">
                <a:latin typeface="Arial Unicode MS"/>
              </a:rPr>
              <a:t> * </a:t>
            </a:r>
            <a:r>
              <a:rPr lang="sv-SE" altLang="sv-SE" dirty="0" err="1">
                <a:latin typeface="Arial Unicode MS"/>
              </a:rPr>
              <a:t>number</a:t>
            </a:r>
            <a:r>
              <a:rPr lang="sv-SE" altLang="sv-SE" dirty="0">
                <a:latin typeface="Arial Unicode MS"/>
              </a:rPr>
              <a:t>) ]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sv-SE" altLang="sv-SE" dirty="0">
                <a:solidFill>
                  <a:schemeClr val="accent1"/>
                </a:solidFill>
                <a:latin typeface="Arial Unicode MS"/>
              </a:rPr>
              <a:t>end</a:t>
            </a:r>
            <a:r>
              <a:rPr lang="sv-SE" altLang="sv-SE" sz="1400" dirty="0"/>
              <a:t> </a:t>
            </a:r>
            <a:endParaRPr lang="sv-SE" altLang="sv-SE" sz="4000" dirty="0">
              <a:latin typeface="Arial" panose="020B0604020202020204" pitchFamily="34" charset="0"/>
            </a:endParaRPr>
          </a:p>
          <a:p>
            <a:endParaRPr lang="sv-SE" dirty="0"/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4F012CD4-07D7-482E-824C-DFC636834DED}"/>
              </a:ext>
            </a:extLst>
          </p:cNvPr>
          <p:cNvSpPr/>
          <p:nvPr/>
        </p:nvSpPr>
        <p:spPr>
          <a:xfrm>
            <a:off x="4643128" y="3831703"/>
            <a:ext cx="436871" cy="2406591"/>
          </a:xfrm>
          <a:prstGeom prst="leftBrace">
            <a:avLst>
              <a:gd name="adj1" fmla="val 8333"/>
              <a:gd name="adj2" fmla="val 52811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540487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Agents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95401" y="1951493"/>
            <a:ext cx="3733843" cy="5539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3000" dirty="0"/>
              <a:t>Who receives orders?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95401" y="3184458"/>
            <a:ext cx="3389005" cy="5539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3000" dirty="0"/>
              <a:t>How to give orders?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95401" y="4417423"/>
            <a:ext cx="4126130" cy="55399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3000" dirty="0"/>
              <a:t>Where save information?</a:t>
            </a:r>
          </a:p>
        </p:txBody>
      </p:sp>
    </p:spTree>
    <p:extLst>
      <p:ext uri="{BB962C8B-B14F-4D97-AF65-F5344CB8AC3E}">
        <p14:creationId xmlns:p14="http://schemas.microsoft.com/office/powerpoint/2010/main" val="29025529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Variables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Variables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229394" y="1027523"/>
            <a:ext cx="1604350" cy="5539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000" dirty="0"/>
              <a:t>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9394" y="1841809"/>
            <a:ext cx="6194437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Where do agents store the information?</a:t>
            </a:r>
          </a:p>
        </p:txBody>
      </p:sp>
      <p:pic>
        <p:nvPicPr>
          <p:cNvPr id="1026" name="Picture 2" descr="Image result for old diskett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11" t="11831" r="5275" b="11888"/>
          <a:stretch/>
        </p:blipFill>
        <p:spPr bwMode="auto">
          <a:xfrm>
            <a:off x="4624250" y="2926080"/>
            <a:ext cx="4103962" cy="2795452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179854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Variables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Variables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229394" y="1301283"/>
            <a:ext cx="1604350" cy="5539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000" dirty="0"/>
              <a:t>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7293" y="2850781"/>
            <a:ext cx="984680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sv-SE" dirty="0"/>
              <a:t>Globals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7293" y="4109998"/>
            <a:ext cx="984680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sv-SE" dirty="0"/>
              <a:t>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1125" y="3556000"/>
            <a:ext cx="984680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sv-SE" dirty="0" err="1"/>
              <a:t>Turtles</a:t>
            </a:r>
            <a:endParaRPr lang="sv-SE" dirty="0"/>
          </a:p>
        </p:txBody>
      </p:sp>
      <p:sp>
        <p:nvSpPr>
          <p:cNvPr id="12" name="TextBox 11"/>
          <p:cNvSpPr txBox="1"/>
          <p:nvPr/>
        </p:nvSpPr>
        <p:spPr>
          <a:xfrm>
            <a:off x="6171125" y="4109998"/>
            <a:ext cx="984680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sv-SE" dirty="0" err="1"/>
              <a:t>Patches</a:t>
            </a:r>
            <a:endParaRPr lang="sv-SE" dirty="0"/>
          </a:p>
        </p:txBody>
      </p:sp>
      <p:sp>
        <p:nvSpPr>
          <p:cNvPr id="13" name="TextBox 12"/>
          <p:cNvSpPr txBox="1"/>
          <p:nvPr/>
        </p:nvSpPr>
        <p:spPr>
          <a:xfrm>
            <a:off x="6171124" y="4663996"/>
            <a:ext cx="984680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sv-SE" dirty="0"/>
              <a:t>Links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2909" y="3845794"/>
            <a:ext cx="984680" cy="369332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sv-SE" dirty="0"/>
              <a:t>In-</a:t>
            </a:r>
            <a:r>
              <a:rPr lang="sv-SE" dirty="0" err="1"/>
              <a:t>built</a:t>
            </a:r>
            <a:endParaRPr lang="sv-SE" dirty="0"/>
          </a:p>
        </p:txBody>
      </p:sp>
      <p:sp>
        <p:nvSpPr>
          <p:cNvPr id="18" name="TextBox 17"/>
          <p:cNvSpPr txBox="1"/>
          <p:nvPr/>
        </p:nvSpPr>
        <p:spPr>
          <a:xfrm>
            <a:off x="7982909" y="4479330"/>
            <a:ext cx="1739905" cy="369332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sv-SE" dirty="0" err="1"/>
              <a:t>Created</a:t>
            </a:r>
            <a:r>
              <a:rPr lang="sv-SE" dirty="0"/>
              <a:t> by </a:t>
            </a:r>
            <a:r>
              <a:rPr lang="sv-SE" dirty="0" err="1"/>
              <a:t>user</a:t>
            </a:r>
            <a:endParaRPr lang="sv-SE" dirty="0"/>
          </a:p>
        </p:txBody>
      </p:sp>
      <p:sp>
        <p:nvSpPr>
          <p:cNvPr id="19" name="TextBox 18"/>
          <p:cNvSpPr txBox="1"/>
          <p:nvPr/>
        </p:nvSpPr>
        <p:spPr>
          <a:xfrm>
            <a:off x="4607293" y="5438470"/>
            <a:ext cx="984680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sv-SE" dirty="0" err="1"/>
              <a:t>Locals</a:t>
            </a:r>
            <a:endParaRPr lang="sv-SE" dirty="0"/>
          </a:p>
        </p:txBody>
      </p:sp>
      <p:sp>
        <p:nvSpPr>
          <p:cNvPr id="20" name="TextBox 19"/>
          <p:cNvSpPr txBox="1"/>
          <p:nvPr/>
        </p:nvSpPr>
        <p:spPr>
          <a:xfrm>
            <a:off x="3086728" y="4109998"/>
            <a:ext cx="741027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sv-SE" dirty="0" err="1"/>
              <a:t>Types</a:t>
            </a:r>
            <a:endParaRPr lang="sv-SE" dirty="0"/>
          </a:p>
        </p:txBody>
      </p:sp>
      <p:cxnSp>
        <p:nvCxnSpPr>
          <p:cNvPr id="21" name="Elbow Connector 20"/>
          <p:cNvCxnSpPr>
            <a:endCxn id="9" idx="1"/>
          </p:cNvCxnSpPr>
          <p:nvPr/>
        </p:nvCxnSpPr>
        <p:spPr>
          <a:xfrm rot="5400000" flipH="1" flipV="1">
            <a:off x="3785867" y="3473237"/>
            <a:ext cx="1259216" cy="38363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20" idx="3"/>
            <a:endCxn id="19" idx="1"/>
          </p:cNvCxnSpPr>
          <p:nvPr/>
        </p:nvCxnSpPr>
        <p:spPr>
          <a:xfrm>
            <a:off x="3827755" y="4294664"/>
            <a:ext cx="779538" cy="132847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stCxn id="10" idx="3"/>
            <a:endCxn id="11" idx="1"/>
          </p:cNvCxnSpPr>
          <p:nvPr/>
        </p:nvCxnSpPr>
        <p:spPr>
          <a:xfrm flipV="1">
            <a:off x="5591972" y="3740666"/>
            <a:ext cx="579153" cy="55399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/>
          <p:cNvCxnSpPr>
            <a:stCxn id="10" idx="3"/>
            <a:endCxn id="13" idx="1"/>
          </p:cNvCxnSpPr>
          <p:nvPr/>
        </p:nvCxnSpPr>
        <p:spPr>
          <a:xfrm>
            <a:off x="5591972" y="4294664"/>
            <a:ext cx="579152" cy="55399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endCxn id="10" idx="1"/>
          </p:cNvCxnSpPr>
          <p:nvPr/>
        </p:nvCxnSpPr>
        <p:spPr>
          <a:xfrm>
            <a:off x="3906245" y="4294664"/>
            <a:ext cx="7010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0" idx="3"/>
            <a:endCxn id="12" idx="1"/>
          </p:cNvCxnSpPr>
          <p:nvPr/>
        </p:nvCxnSpPr>
        <p:spPr>
          <a:xfrm>
            <a:off x="5591972" y="4294664"/>
            <a:ext cx="5791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ight Brace 26"/>
          <p:cNvSpPr/>
          <p:nvPr/>
        </p:nvSpPr>
        <p:spPr>
          <a:xfrm>
            <a:off x="7368094" y="3526720"/>
            <a:ext cx="447432" cy="159392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059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Interaction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Interaction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64" t="25141" r="26460" b="6549"/>
          <a:stretch/>
        </p:blipFill>
        <p:spPr bwMode="auto">
          <a:xfrm>
            <a:off x="8847322" y="1716649"/>
            <a:ext cx="2365608" cy="17951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93" t="30468" r="33981" b="11470"/>
          <a:stretch/>
        </p:blipFill>
        <p:spPr bwMode="auto">
          <a:xfrm>
            <a:off x="5711965" y="4380333"/>
            <a:ext cx="2365608" cy="17951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45" t="4236" r="36581" b="16525"/>
          <a:stretch/>
        </p:blipFill>
        <p:spPr bwMode="auto">
          <a:xfrm>
            <a:off x="8850127" y="4380333"/>
            <a:ext cx="2362803" cy="17951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/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39" t="30313" r="34817" b="19008"/>
          <a:stretch/>
        </p:blipFill>
        <p:spPr bwMode="auto">
          <a:xfrm>
            <a:off x="5711965" y="1716649"/>
            <a:ext cx="2365608" cy="17951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2334486" y="1664208"/>
            <a:ext cx="1701941" cy="40011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B) Interactions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096000" y="1270961"/>
            <a:ext cx="158004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Among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78662" y="976054"/>
            <a:ext cx="1741887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Between agents </a:t>
            </a:r>
          </a:p>
          <a:p>
            <a:r>
              <a:rPr lang="en-US" dirty="0"/>
              <a:t>and patches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4971" y="3699168"/>
            <a:ext cx="1799595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Between agents, </a:t>
            </a:r>
          </a:p>
          <a:p>
            <a:r>
              <a:rPr lang="en-US" dirty="0"/>
              <a:t>Patches and links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6672" y="3950312"/>
            <a:ext cx="1285865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Between all</a:t>
            </a:r>
          </a:p>
        </p:txBody>
      </p:sp>
    </p:spTree>
    <p:extLst>
      <p:ext uri="{BB962C8B-B14F-4D97-AF65-F5344CB8AC3E}">
        <p14:creationId xmlns:p14="http://schemas.microsoft.com/office/powerpoint/2010/main" val="38913200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Definition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611" y="878861"/>
            <a:ext cx="11660777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6000" dirty="0" err="1">
                <a:solidFill>
                  <a:schemeClr val="bg1"/>
                </a:solidFill>
              </a:rPr>
              <a:t>Take</a:t>
            </a:r>
            <a:r>
              <a:rPr lang="sv-SE" sz="6000" dirty="0">
                <a:solidFill>
                  <a:schemeClr val="bg1"/>
                </a:solidFill>
              </a:rPr>
              <a:t> a Look at </a:t>
            </a:r>
          </a:p>
          <a:p>
            <a:pPr algn="ctr"/>
            <a:r>
              <a:rPr lang="sv-SE" sz="6000" dirty="0">
                <a:solidFill>
                  <a:schemeClr val="bg1"/>
                </a:solidFill>
              </a:rPr>
              <a:t>NetLogo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65447" y="2463172"/>
            <a:ext cx="2467232" cy="246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8468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98589" y="952277"/>
            <a:ext cx="6148335" cy="543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1007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98589" y="952277"/>
            <a:ext cx="6148335" cy="543211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455754" y="5461061"/>
            <a:ext cx="2121763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command center</a:t>
            </a:r>
            <a:r>
              <a:rPr lang="en-US" dirty="0"/>
              <a:t>: to give instructions to the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59004" y="3788229"/>
            <a:ext cx="327583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command center output window</a:t>
            </a:r>
          </a:p>
        </p:txBody>
      </p:sp>
      <p:cxnSp>
        <p:nvCxnSpPr>
          <p:cNvPr id="5" name="Straight Arrow Connector 4"/>
          <p:cNvCxnSpPr>
            <a:stCxn id="2" idx="1"/>
          </p:cNvCxnSpPr>
          <p:nvPr/>
        </p:nvCxnSpPr>
        <p:spPr>
          <a:xfrm flipH="1">
            <a:off x="2656114" y="5922726"/>
            <a:ext cx="5799640" cy="3387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3" idx="1"/>
          </p:cNvCxnSpPr>
          <p:nvPr/>
        </p:nvCxnSpPr>
        <p:spPr>
          <a:xfrm flipH="1">
            <a:off x="2978332" y="3972895"/>
            <a:ext cx="5580672" cy="21191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A63AD0F-C1E2-4219-8F8F-28805E3B360D}"/>
              </a:ext>
            </a:extLst>
          </p:cNvPr>
          <p:cNvCxnSpPr>
            <a:cxnSpLocks/>
          </p:cNvCxnSpPr>
          <p:nvPr/>
        </p:nvCxnSpPr>
        <p:spPr>
          <a:xfrm flipH="1">
            <a:off x="5768668" y="1938380"/>
            <a:ext cx="3041503" cy="17489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849E335-5446-4640-8DD6-ABCA521B05C4}"/>
              </a:ext>
            </a:extLst>
          </p:cNvPr>
          <p:cNvSpPr txBox="1"/>
          <p:nvPr/>
        </p:nvSpPr>
        <p:spPr>
          <a:xfrm>
            <a:off x="8916167" y="1749419"/>
            <a:ext cx="205203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World (coordinates)</a:t>
            </a:r>
          </a:p>
        </p:txBody>
      </p:sp>
    </p:spTree>
    <p:extLst>
      <p:ext uri="{BB962C8B-B14F-4D97-AF65-F5344CB8AC3E}">
        <p14:creationId xmlns:p14="http://schemas.microsoft.com/office/powerpoint/2010/main" val="24718429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22295" y="888273"/>
            <a:ext cx="6300407" cy="561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5595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22295" y="888273"/>
            <a:ext cx="6300407" cy="56170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08618" y="1184277"/>
            <a:ext cx="4897248" cy="4832169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3" name="Straight Arrow Connector 2"/>
          <p:cNvCxnSpPr/>
          <p:nvPr/>
        </p:nvCxnSpPr>
        <p:spPr>
          <a:xfrm flipV="1">
            <a:off x="2952206" y="1584960"/>
            <a:ext cx="2856412" cy="2612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31588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93867" y="869450"/>
            <a:ext cx="6376086" cy="563585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52971" y="1203941"/>
            <a:ext cx="5896098" cy="3498688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1" name="Straight Arrow Connector 10"/>
          <p:cNvCxnSpPr/>
          <p:nvPr/>
        </p:nvCxnSpPr>
        <p:spPr>
          <a:xfrm flipV="1">
            <a:off x="4275909" y="1728652"/>
            <a:ext cx="1777062" cy="1741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37408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93867" y="869450"/>
            <a:ext cx="6376086" cy="563585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52971" y="1203941"/>
            <a:ext cx="5896098" cy="34986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/>
          <a:srcRect l="69450" t="37555" r="475" b="42667"/>
          <a:stretch/>
        </p:blipFill>
        <p:spPr>
          <a:xfrm>
            <a:off x="2280180" y="4772295"/>
            <a:ext cx="6720840" cy="1491658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V="1">
            <a:off x="4275909" y="1728652"/>
            <a:ext cx="1777062" cy="1741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3648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28511" y="1027523"/>
            <a:ext cx="3771900" cy="5143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84967" y="888273"/>
            <a:ext cx="6148335" cy="5432114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V="1">
            <a:off x="6165669" y="1532709"/>
            <a:ext cx="2062841" cy="2612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2921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05330" y="917010"/>
            <a:ext cx="6172486" cy="550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654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953A32-1C10-4E56-AC1F-1660B2C2C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775" y="936574"/>
            <a:ext cx="6306910" cy="5385497"/>
          </a:xfrm>
          <a:prstGeom prst="rect">
            <a:avLst/>
          </a:prstGeom>
        </p:spPr>
      </p:pic>
      <p:sp>
        <p:nvSpPr>
          <p:cNvPr id="2" name="Multiplication Sign 1">
            <a:extLst>
              <a:ext uri="{FF2B5EF4-FFF2-40B4-BE49-F238E27FC236}">
                <a16:creationId xmlns:a16="http://schemas.microsoft.com/office/drawing/2014/main" id="{C7D7FEF8-2963-4235-AA99-81281B2A2466}"/>
              </a:ext>
            </a:extLst>
          </p:cNvPr>
          <p:cNvSpPr/>
          <p:nvPr/>
        </p:nvSpPr>
        <p:spPr>
          <a:xfrm>
            <a:off x="4843870" y="1349828"/>
            <a:ext cx="242596" cy="236376"/>
          </a:xfrm>
          <a:prstGeom prst="mathMultiply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547566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Definition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611" y="878861"/>
            <a:ext cx="11660777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Typical </a:t>
            </a:r>
          </a:p>
          <a:p>
            <a:pPr algn="ctr"/>
            <a:r>
              <a:rPr lang="en-US" sz="6000" dirty="0">
                <a:solidFill>
                  <a:schemeClr val="bg1"/>
                </a:solidFill>
              </a:rPr>
              <a:t>Model </a:t>
            </a:r>
          </a:p>
          <a:p>
            <a:pPr algn="ctr"/>
            <a:r>
              <a:rPr lang="en-US" sz="6000" dirty="0">
                <a:solidFill>
                  <a:schemeClr val="bg1"/>
                </a:solidFill>
              </a:rPr>
              <a:t>structure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9287" y="2550258"/>
            <a:ext cx="2467232" cy="246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9037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888645"/>
              </p:ext>
            </p:extLst>
          </p:nvPr>
        </p:nvGraphicFramePr>
        <p:xfrm>
          <a:off x="2682655" y="1292185"/>
          <a:ext cx="8128000" cy="467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Model 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>
                          <a:highlight>
                            <a:srgbClr val="FFFF00"/>
                          </a:highlight>
                        </a:rPr>
                        <a:t>Initial conditions</a:t>
                      </a:r>
                    </a:p>
                    <a:p>
                      <a:r>
                        <a:rPr lang="en-US" noProof="0" dirty="0"/>
                        <a:t>Declare initial</a:t>
                      </a:r>
                      <a:r>
                        <a:rPr lang="en-US" baseline="0" noProof="0" dirty="0"/>
                        <a:t> variables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Global / turtles / patches / links</a:t>
                      </a:r>
                    </a:p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to </a:t>
                      </a:r>
                      <a:r>
                        <a:rPr lang="en-US" noProof="0" dirty="0">
                          <a:highlight>
                            <a:srgbClr val="FFFF00"/>
                          </a:highlight>
                        </a:rPr>
                        <a:t>setup</a:t>
                      </a:r>
                    </a:p>
                    <a:p>
                      <a:r>
                        <a:rPr lang="en-US" noProof="0" dirty="0"/>
                        <a:t>….</a:t>
                      </a:r>
                    </a:p>
                    <a:p>
                      <a:r>
                        <a:rPr lang="en-US" noProof="0" dirty="0"/>
                        <a:t>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Agent</a:t>
                      </a:r>
                      <a:r>
                        <a:rPr lang="en-US" baseline="0" noProof="0" dirty="0"/>
                        <a:t> procedures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Turtles-</a:t>
                      </a:r>
                      <a:r>
                        <a:rPr lang="en-US" baseline="0" noProof="0" dirty="0"/>
                        <a:t> procedures</a:t>
                      </a:r>
                    </a:p>
                    <a:p>
                      <a:r>
                        <a:rPr lang="en-US" baseline="0" noProof="0" dirty="0"/>
                        <a:t>Patches-procedures</a:t>
                      </a:r>
                    </a:p>
                    <a:p>
                      <a:r>
                        <a:rPr lang="en-US" baseline="0" noProof="0" dirty="0"/>
                        <a:t>Links-procedures</a:t>
                      </a:r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User-procedures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reports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4520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Run simulation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to </a:t>
                      </a:r>
                      <a:r>
                        <a:rPr lang="en-US" noProof="0" dirty="0">
                          <a:highlight>
                            <a:srgbClr val="FFFF00"/>
                          </a:highlight>
                        </a:rPr>
                        <a:t>go</a:t>
                      </a:r>
                    </a:p>
                    <a:p>
                      <a:r>
                        <a:rPr lang="en-US" noProof="0" dirty="0"/>
                        <a:t>[simulation]</a:t>
                      </a:r>
                    </a:p>
                    <a:p>
                      <a:r>
                        <a:rPr lang="en-US" noProof="0" dirty="0"/>
                        <a:t>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Plots</a:t>
                      </a:r>
                    </a:p>
                    <a:p>
                      <a:r>
                        <a:rPr lang="en-US" noProof="0" dirty="0"/>
                        <a:t>Aggregated information</a:t>
                      </a:r>
                    </a:p>
                    <a:p>
                      <a:r>
                        <a:rPr lang="sv-SE" noProof="0" dirty="0" err="1"/>
                        <a:t>Visualization</a:t>
                      </a:r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19339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3000" dirty="0" err="1">
                <a:solidFill>
                  <a:schemeClr val="bg1"/>
                </a:solidFill>
              </a:rPr>
              <a:t>Why</a:t>
            </a:r>
            <a:endParaRPr lang="en-US" sz="3000" dirty="0">
              <a:solidFill>
                <a:schemeClr val="bg1"/>
              </a:solidFill>
            </a:endParaRPr>
          </a:p>
          <a:p>
            <a:pPr algn="ctr"/>
            <a:r>
              <a:rPr lang="en-US" sz="3000" dirty="0">
                <a:solidFill>
                  <a:schemeClr val="bg1"/>
                </a:solidFill>
              </a:rPr>
              <a:t>NetLogo?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97093" y="1303698"/>
            <a:ext cx="6658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How to start with NetLogo?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7093" y="2024087"/>
            <a:ext cx="1020373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Taking this course!!!</a:t>
            </a:r>
          </a:p>
          <a:p>
            <a:endParaRPr lang="en-US" sz="2000" dirty="0"/>
          </a:p>
          <a:p>
            <a:r>
              <a:rPr lang="en-US" sz="2000" dirty="0"/>
              <a:t>NetLogo User Manual: </a:t>
            </a:r>
            <a:r>
              <a:rPr lang="en-US" sz="2000" u="sng" dirty="0">
                <a:hlinkClick r:id="rId3" action="ppaction://hlinkfile"/>
              </a:rPr>
              <a:t>file:///C:/Program%20Files%20(x86)/NetLogo%205.1.0/docs/index.html</a:t>
            </a:r>
            <a:endParaRPr lang="en-US" sz="2000" u="sng" dirty="0"/>
          </a:p>
          <a:p>
            <a:endParaRPr lang="en-US" sz="2000" dirty="0"/>
          </a:p>
          <a:p>
            <a:r>
              <a:rPr lang="en-US" sz="2000" dirty="0"/>
              <a:t>NetLogo Dictionary: </a:t>
            </a:r>
            <a:r>
              <a:rPr lang="en-US" sz="2000" u="sng" dirty="0">
                <a:hlinkClick r:id="rId4" action="ppaction://hlinkfile"/>
              </a:rPr>
              <a:t>file:///C:/Program%20Files%20(x86)/NetLogo%205.1.0/docs/index2.html</a:t>
            </a:r>
            <a:endParaRPr lang="en-US" sz="2000" u="sng" dirty="0"/>
          </a:p>
          <a:p>
            <a:endParaRPr lang="en-US" sz="2000" dirty="0"/>
          </a:p>
          <a:p>
            <a:r>
              <a:rPr lang="en-US" sz="2000" dirty="0"/>
              <a:t>NetLogo User groups: </a:t>
            </a:r>
            <a:r>
              <a:rPr lang="en-US" sz="2000" u="sng" dirty="0">
                <a:hlinkClick r:id="rId5"/>
              </a:rPr>
              <a:t>https://groups.yahoo.com/neo/groups/netlogo-users/info</a:t>
            </a:r>
            <a:endParaRPr lang="en-US" sz="2000" u="sng" dirty="0"/>
          </a:p>
          <a:p>
            <a:endParaRPr lang="en-US" sz="2000" dirty="0"/>
          </a:p>
          <a:p>
            <a:r>
              <a:rPr lang="en-US" sz="2000" dirty="0"/>
              <a:t>Modelling Commons: </a:t>
            </a:r>
            <a:r>
              <a:rPr lang="en-US" sz="2000" u="sng" dirty="0">
                <a:hlinkClick r:id="rId6"/>
              </a:rPr>
              <a:t>http://modelingcommons.org/account/login</a:t>
            </a:r>
            <a:endParaRPr lang="en-US" sz="2000" u="sng" dirty="0"/>
          </a:p>
          <a:p>
            <a:endParaRPr lang="en-US" sz="2000" u="sng" dirty="0"/>
          </a:p>
          <a:p>
            <a:r>
              <a:rPr lang="en-US" sz="2000" dirty="0"/>
              <a:t>NetLogo Models Library:</a:t>
            </a:r>
          </a:p>
        </p:txBody>
      </p:sp>
      <p:pic>
        <p:nvPicPr>
          <p:cNvPr id="9" name="Picture 8"/>
          <p:cNvPicPr/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017618" y="4429059"/>
            <a:ext cx="2554942" cy="23765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/>
          <p:cNvPicPr/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043452" y="4298441"/>
            <a:ext cx="1623493" cy="286449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035849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Definition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611" y="878861"/>
            <a:ext cx="11660777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6000" dirty="0" err="1">
                <a:solidFill>
                  <a:schemeClr val="bg1"/>
                </a:solidFill>
              </a:rPr>
              <a:t>Let’s</a:t>
            </a:r>
            <a:r>
              <a:rPr lang="sv-SE" sz="6000" dirty="0">
                <a:solidFill>
                  <a:schemeClr val="bg1"/>
                </a:solidFill>
              </a:rPr>
              <a:t> start!</a:t>
            </a:r>
          </a:p>
          <a:p>
            <a:pPr algn="ctr"/>
            <a:r>
              <a:rPr lang="sv-SE" sz="6000" dirty="0">
                <a:solidFill>
                  <a:schemeClr val="bg1"/>
                </a:solidFill>
              </a:rPr>
              <a:t>Simple task!</a:t>
            </a:r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9287" y="2550258"/>
            <a:ext cx="2467232" cy="246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3234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000" dirty="0">
                <a:solidFill>
                  <a:schemeClr val="bg1"/>
                </a:solidFill>
              </a:rPr>
              <a:t>ABM with NetLogo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74970"/>
            <a:ext cx="12192000" cy="2830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								Agent-Based Modelling in the Social Sciences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869449"/>
            <a:ext cx="1889759" cy="56358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NetLogo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830" y="1027523"/>
            <a:ext cx="1437090" cy="14370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05451" y="2293568"/>
            <a:ext cx="4421018" cy="10310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Coding procedures [lab_1.nlogo]</a:t>
            </a:r>
          </a:p>
          <a:p>
            <a:endParaRPr lang="sv-SE" dirty="0"/>
          </a:p>
          <a:p>
            <a:endParaRPr lang="sv-SE" dirty="0"/>
          </a:p>
        </p:txBody>
      </p:sp>
      <p:sp>
        <p:nvSpPr>
          <p:cNvPr id="7" name="Rectangle 6"/>
          <p:cNvSpPr/>
          <p:nvPr/>
        </p:nvSpPr>
        <p:spPr>
          <a:xfrm>
            <a:off x="2972926" y="4238277"/>
            <a:ext cx="2530891" cy="19099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800" dirty="0" err="1"/>
              <a:t>Let’s</a:t>
            </a:r>
            <a:r>
              <a:rPr lang="sv-SE" sz="2800" dirty="0"/>
              <a:t> go to NetLogo!!!</a:t>
            </a:r>
            <a:endParaRPr lang="en-US" sz="2800" dirty="0"/>
          </a:p>
        </p:txBody>
      </p:sp>
      <p:pic>
        <p:nvPicPr>
          <p:cNvPr id="8" name="Picture 2" descr="Image result for crazy compu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1946" y="4477322"/>
            <a:ext cx="2259258" cy="1453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2437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7BE0EE43B23043AFE79A610A7C27D2" ma:contentTypeVersion="5" ma:contentTypeDescription="Create a new document." ma:contentTypeScope="" ma:versionID="778329dbcf46a37d733c712f27d7b43b">
  <xsd:schema xmlns:xsd="http://www.w3.org/2001/XMLSchema" xmlns:xs="http://www.w3.org/2001/XMLSchema" xmlns:p="http://schemas.microsoft.com/office/2006/metadata/properties" xmlns:ns2="e45ff77a-a734-434e-b7dc-7ade962cb631" xmlns:ns3="2808f00f-3211-41a5-bfe5-d2c2468f696f" targetNamespace="http://schemas.microsoft.com/office/2006/metadata/properties" ma:root="true" ma:fieldsID="6127767fb6d362b6b9d04ae9972bdc25" ns2:_="" ns3:_="">
    <xsd:import namespace="e45ff77a-a734-434e-b7dc-7ade962cb631"/>
    <xsd:import namespace="2808f00f-3211-41a5-bfe5-d2c2468f696f"/>
    <xsd:element name="properties">
      <xsd:complexType>
        <xsd:sequence>
          <xsd:element name="documentManagement">
            <xsd:complexType>
              <xsd:all>
                <xsd:element ref="ns2:_lisam_Description" minOccurs="0"/>
                <xsd:element ref="ns3:_lisam_PublishedVersio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5ff77a-a734-434e-b7dc-7ade962cb631" elementFormDefault="qualified">
    <xsd:import namespace="http://schemas.microsoft.com/office/2006/documentManagement/types"/>
    <xsd:import namespace="http://schemas.microsoft.com/office/infopath/2007/PartnerControls"/>
    <xsd:element name="_lisam_Description" ma:index="8" nillable="true" ma:displayName="Description" ma:internalName="_lisam_Description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08f00f-3211-41a5-bfe5-d2c2468f696f" elementFormDefault="qualified">
    <xsd:import namespace="http://schemas.microsoft.com/office/2006/documentManagement/types"/>
    <xsd:import namespace="http://schemas.microsoft.com/office/infopath/2007/PartnerControls"/>
    <xsd:element name="_lisam_PublishedVersion" ma:index="9" nillable="true" ma:displayName="Published Version" ma:internalName="_lisam_PublishedVersion">
      <xsd:simpleType>
        <xsd:restriction base="dms:Text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lisam_PublishedVersion xmlns="2808f00f-3211-41a5-bfe5-d2c2468f696f" xsi:nil="true"/>
    <_lisam_Description xmlns="e45ff77a-a734-434e-b7dc-7ade962cb631" xsi:nil="true"/>
  </documentManagement>
</p:properties>
</file>

<file path=customXml/itemProps1.xml><?xml version="1.0" encoding="utf-8"?>
<ds:datastoreItem xmlns:ds="http://schemas.openxmlformats.org/officeDocument/2006/customXml" ds:itemID="{DD00B356-A3B6-46FE-8A24-CC95F0967781}"/>
</file>

<file path=customXml/itemProps2.xml><?xml version="1.0" encoding="utf-8"?>
<ds:datastoreItem xmlns:ds="http://schemas.openxmlformats.org/officeDocument/2006/customXml" ds:itemID="{1E5B9040-AF56-4D3F-B8E5-2EA9E04C3B68}"/>
</file>

<file path=customXml/itemProps3.xml><?xml version="1.0" encoding="utf-8"?>
<ds:datastoreItem xmlns:ds="http://schemas.openxmlformats.org/officeDocument/2006/customXml" ds:itemID="{AB5C8B97-265D-4B17-8438-C76E7FE4074B}"/>
</file>

<file path=docProps/app.xml><?xml version="1.0" encoding="utf-8"?>
<Properties xmlns="http://schemas.openxmlformats.org/officeDocument/2006/extended-properties" xmlns:vt="http://schemas.openxmlformats.org/officeDocument/2006/docPropsVTypes">
  <TotalTime>5896</TotalTime>
  <Words>1921</Words>
  <Application>Microsoft Office PowerPoint</Application>
  <PresentationFormat>Widescreen</PresentationFormat>
  <Paragraphs>471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AdvP6960</vt:lpstr>
      <vt:lpstr>Arial</vt:lpstr>
      <vt:lpstr>Arial Unicode MS</vt:lpstr>
      <vt:lpstr>Calibri</vt:lpstr>
      <vt:lpstr>Calibri (Body)</vt:lpstr>
      <vt:lpstr>Calibri Light</vt:lpstr>
      <vt:lpstr>Söhne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Linköpings universitet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Eduardo Tapia</dc:creator>
  <cp:lastModifiedBy>Eduardo Tapia</cp:lastModifiedBy>
  <cp:revision>114</cp:revision>
  <dcterms:created xsi:type="dcterms:W3CDTF">2016-09-19T15:22:17Z</dcterms:created>
  <dcterms:modified xsi:type="dcterms:W3CDTF">2026-03-09T16:46:32Z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0x0101000B7BE0EE43B23043AFE79A610A7C27D2</vt:lpwstr>
  </property>
</Properties>
</file>