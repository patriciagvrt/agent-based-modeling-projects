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95" r:id="rId5"/>
    <p:sldId id="393" r:id="rId6"/>
    <p:sldId id="398" r:id="rId7"/>
    <p:sldId id="399" r:id="rId8"/>
    <p:sldId id="380" r:id="rId9"/>
    <p:sldId id="377" r:id="rId10"/>
    <p:sldId id="376" r:id="rId11"/>
    <p:sldId id="361" r:id="rId12"/>
    <p:sldId id="364" r:id="rId13"/>
    <p:sldId id="396" r:id="rId14"/>
    <p:sldId id="363" r:id="rId15"/>
    <p:sldId id="387" r:id="rId16"/>
    <p:sldId id="303" r:id="rId17"/>
    <p:sldId id="388" r:id="rId18"/>
    <p:sldId id="384" r:id="rId19"/>
    <p:sldId id="385" r:id="rId20"/>
    <p:sldId id="386" r:id="rId21"/>
    <p:sldId id="38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017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766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978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499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89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85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2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545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44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390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09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6E59B-7513-4EDE-B2E2-29438AA372F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DEFEA-ABBC-4F81-8C65-303F609F62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059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611" y="878861"/>
            <a:ext cx="11660777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6000" dirty="0">
                <a:solidFill>
                  <a:schemeClr val="bg1"/>
                </a:solidFill>
              </a:rPr>
              <a:t>NetLogo </a:t>
            </a:r>
          </a:p>
          <a:p>
            <a:pPr algn="ctr"/>
            <a:r>
              <a:rPr lang="sv-SE" sz="6000" dirty="0">
                <a:solidFill>
                  <a:schemeClr val="bg1"/>
                </a:solidFill>
              </a:rPr>
              <a:t>7.0</a:t>
            </a:r>
          </a:p>
          <a:p>
            <a:pPr algn="ctr"/>
            <a:r>
              <a:rPr lang="sv-SE" sz="6000">
                <a:solidFill>
                  <a:schemeClr val="bg1"/>
                </a:solidFill>
              </a:rPr>
              <a:t>Session 3</a:t>
            </a:r>
            <a:endParaRPr lang="sv-SE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511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03269" y="1292505"/>
            <a:ext cx="8290559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0E5E59-D3ED-473E-B5A5-F5EF71649E83}"/>
              </a:ext>
            </a:extLst>
          </p:cNvPr>
          <p:cNvSpPr/>
          <p:nvPr/>
        </p:nvSpPr>
        <p:spPr>
          <a:xfrm>
            <a:off x="2203269" y="1195372"/>
            <a:ext cx="3006849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3300" dirty="0" err="1"/>
              <a:t>Announcements</a:t>
            </a:r>
            <a:endParaRPr lang="sv-SE" sz="3300" dirty="0"/>
          </a:p>
        </p:txBody>
      </p:sp>
    </p:spTree>
    <p:extLst>
      <p:ext uri="{BB962C8B-B14F-4D97-AF65-F5344CB8AC3E}">
        <p14:creationId xmlns:p14="http://schemas.microsoft.com/office/powerpoint/2010/main" val="1600347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03269" y="1292505"/>
            <a:ext cx="8290559" cy="4443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v-SE" sz="2500" b="1" u="sng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Overview</a:t>
            </a:r>
            <a:r>
              <a:rPr lang="sv-SE" sz="2500" b="1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last </a:t>
            </a:r>
            <a:r>
              <a:rPr lang="sv-SE" sz="2500" b="1" u="sng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unit</a:t>
            </a:r>
            <a:endParaRPr lang="en-US" sz="2500" b="1" u="sng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Creating turtles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Creating buttons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Creating turtles through the patches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Creating turtles through other turtles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Creating breeds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Creating basic procedures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sv-SE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v-SE" b="1" u="sng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Some</a:t>
            </a:r>
            <a:r>
              <a:rPr lang="sv-SE" b="1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v-SE" b="1" u="sng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remarks</a:t>
            </a:r>
            <a:r>
              <a:rPr lang="sv-SE" b="1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b="1" u="sng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definition of variables and breeds should be declared at the very beginning of your code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Always initiate the SETUP procedure with ”ca” (clear-all)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sv-SE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 the NetLogo Dictionary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143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2EE75A-4333-010B-C2F7-C643AB7CC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DEB1C6-3BEC-262B-4B0F-405ACC06F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09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098589" y="869449"/>
            <a:ext cx="8290559" cy="5875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sv-SE" b="1" u="sng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v-SE" sz="2500" b="1" u="sng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Overview</a:t>
            </a:r>
            <a:r>
              <a:rPr lang="sv-SE" sz="2500" b="1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v-SE" sz="2500" b="1" u="sng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</a:t>
            </a:r>
            <a:r>
              <a:rPr lang="sv-SE" sz="2500" b="1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v-SE" sz="2500" b="1" u="sng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unit</a:t>
            </a:r>
            <a:endParaRPr lang="en-US" sz="2500" b="1" u="sng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v-SE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Defining turtle variables</a:t>
            </a:r>
            <a:endParaRPr lang="sv-SE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Creating monitors</a:t>
            </a:r>
            <a:endParaRPr lang="sv-SE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Creating plots (histograms and lines)</a:t>
            </a:r>
            <a:endParaRPr lang="sv-SE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Creating a histograms</a:t>
            </a:r>
            <a:endParaRPr lang="sv-SE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Creating choosers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Flowcharts</a:t>
            </a:r>
            <a:endParaRPr lang="sv-SE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sv-SE" dirty="0"/>
              <a:t>Make </a:t>
            </a:r>
            <a:r>
              <a:rPr lang="sv-SE" dirty="0" err="1"/>
              <a:t>behavioral</a:t>
            </a:r>
            <a:r>
              <a:rPr lang="sv-SE" dirty="0"/>
              <a:t> experiments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sv-SE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sv-SE" dirty="0"/>
              <a:t>Basic </a:t>
            </a:r>
            <a:r>
              <a:rPr lang="sv-SE" dirty="0" err="1"/>
              <a:t>models</a:t>
            </a:r>
            <a:r>
              <a:rPr lang="sv-SE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Creating a basic model 1: Simple economy (</a:t>
            </a:r>
            <a:r>
              <a:rPr lang="en-US" dirty="0">
                <a:highlight>
                  <a:srgbClr val="FFFF00"/>
                </a:highlight>
              </a:rPr>
              <a:t>simple turtle interaction</a:t>
            </a:r>
            <a:r>
              <a:rPr lang="en-US" dirty="0"/>
              <a:t>)</a:t>
            </a:r>
            <a:endParaRPr lang="sv-S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Creating a basic model 2: Fire model (</a:t>
            </a:r>
            <a:r>
              <a:rPr lang="en-US" dirty="0">
                <a:highlight>
                  <a:srgbClr val="FFFF00"/>
                </a:highlight>
              </a:rPr>
              <a:t>simple patch-based interaction</a:t>
            </a:r>
            <a:r>
              <a:rPr lang="en-US" dirty="0"/>
              <a:t>)</a:t>
            </a:r>
            <a:endParaRPr lang="sv-S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Creating a basic model 3: Toni’s problem (</a:t>
            </a:r>
            <a:r>
              <a:rPr lang="en-US" dirty="0">
                <a:highlight>
                  <a:srgbClr val="FFFF00"/>
                </a:highlight>
              </a:rPr>
              <a:t>simple turtle-based interaction with movement</a:t>
            </a:r>
            <a:r>
              <a:rPr lang="en-US" dirty="0"/>
              <a:t>)</a:t>
            </a:r>
            <a:endParaRPr lang="sv-S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Creating a basic model 4: Schelling model of segregation (simple patch-based interaction)</a:t>
            </a:r>
            <a:endParaRPr lang="sv-SE" dirty="0"/>
          </a:p>
          <a:p>
            <a:r>
              <a:rPr lang="en-US" dirty="0"/>
              <a:t> </a:t>
            </a:r>
            <a:endParaRPr lang="sv-SE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647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64229" y="1264284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Coding procedures [See file: lab2_1.nlogo]</a:t>
            </a:r>
          </a:p>
          <a:p>
            <a:endParaRPr lang="sv-SE" dirty="0"/>
          </a:p>
          <a:p>
            <a:pPr marL="342900" indent="-342900">
              <a:buAutoNum type="alphaUcParenBoth"/>
            </a:pPr>
            <a:r>
              <a:rPr lang="sv-SE" dirty="0">
                <a:highlight>
                  <a:srgbClr val="FFFF00"/>
                </a:highlight>
              </a:rPr>
              <a:t>Creating and </a:t>
            </a:r>
            <a:r>
              <a:rPr lang="sv-SE" dirty="0" err="1">
                <a:highlight>
                  <a:srgbClr val="FFFF00"/>
                </a:highlight>
              </a:rPr>
              <a:t>modifying</a:t>
            </a:r>
            <a:r>
              <a:rPr lang="sv-SE" dirty="0">
                <a:highlight>
                  <a:srgbClr val="FFFF00"/>
                </a:highlight>
              </a:rPr>
              <a:t> agents’ </a:t>
            </a:r>
            <a:r>
              <a:rPr lang="sv-SE" dirty="0" err="1">
                <a:highlight>
                  <a:srgbClr val="FFFF00"/>
                </a:highlight>
              </a:rPr>
              <a:t>variables</a:t>
            </a:r>
            <a:endParaRPr lang="sv-SE" dirty="0">
              <a:highlight>
                <a:srgbClr val="FFFF00"/>
              </a:highligh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533FD8-B3BD-4509-89D6-6F36B984BC14}"/>
              </a:ext>
            </a:extLst>
          </p:cNvPr>
          <p:cNvSpPr/>
          <p:nvPr/>
        </p:nvSpPr>
        <p:spPr>
          <a:xfrm>
            <a:off x="3739281" y="2529168"/>
            <a:ext cx="3753472" cy="231641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800" dirty="0" err="1"/>
              <a:t>Let’s</a:t>
            </a:r>
            <a:r>
              <a:rPr lang="sv-SE" sz="2800" dirty="0"/>
              <a:t> go to NetLogo!!!</a:t>
            </a:r>
          </a:p>
          <a:p>
            <a:pPr algn="ctr"/>
            <a:r>
              <a:rPr lang="en-US" sz="2800" dirty="0"/>
              <a:t>File: lab2_1.Nlogo</a:t>
            </a:r>
          </a:p>
          <a:p>
            <a:pPr algn="ctr"/>
            <a:endParaRPr lang="en-US" sz="2800" dirty="0"/>
          </a:p>
        </p:txBody>
      </p:sp>
      <p:pic>
        <p:nvPicPr>
          <p:cNvPr id="8" name="Picture 2" descr="Image result for crazy computer">
            <a:extLst>
              <a:ext uri="{FF2B5EF4-FFF2-40B4-BE49-F238E27FC236}">
                <a16:creationId xmlns:a16="http://schemas.microsoft.com/office/drawing/2014/main" id="{D23EBCC0-6B02-46C7-B1C2-96D4D52DA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301" y="2768213"/>
            <a:ext cx="2740026" cy="176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233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183176" y="1157631"/>
            <a:ext cx="782564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Model 1: </a:t>
            </a:r>
          </a:p>
          <a:p>
            <a:endParaRPr lang="en-US" b="1" dirty="0"/>
          </a:p>
          <a:p>
            <a:r>
              <a:rPr lang="en-US" dirty="0"/>
              <a:t>Simple economy (</a:t>
            </a:r>
            <a:r>
              <a:rPr lang="en-US" dirty="0" err="1"/>
              <a:t>Wilensky</a:t>
            </a:r>
            <a:r>
              <a:rPr lang="en-US" dirty="0"/>
              <a:t> &amp; Rand, 2016)</a:t>
            </a:r>
          </a:p>
          <a:p>
            <a:endParaRPr lang="en-US" dirty="0"/>
          </a:p>
          <a:p>
            <a:r>
              <a:rPr lang="en-US" b="1" dirty="0"/>
              <a:t>Model specification:</a:t>
            </a:r>
          </a:p>
          <a:p>
            <a:endParaRPr lang="en-US" dirty="0"/>
          </a:p>
          <a:p>
            <a:r>
              <a:rPr lang="en-US" dirty="0"/>
              <a:t>There are a fixed number of agents with a fixed number of money (€100 each). </a:t>
            </a:r>
          </a:p>
          <a:p>
            <a:r>
              <a:rPr lang="en-US" dirty="0"/>
              <a:t>Let’s suppose that: </a:t>
            </a:r>
          </a:p>
          <a:p>
            <a:r>
              <a:rPr lang="en-US" dirty="0"/>
              <a:t>(a) Each randomly chosen agent in the world gives one euro to another agent randomly chosen.</a:t>
            </a:r>
          </a:p>
          <a:p>
            <a:r>
              <a:rPr lang="en-US" dirty="0"/>
              <a:t>(b) Only gives euros the agents with money greater than zero.</a:t>
            </a:r>
          </a:p>
          <a:p>
            <a:r>
              <a:rPr lang="en-US" dirty="0"/>
              <a:t>(c) Step (a) is repeated 10 000 times.</a:t>
            </a:r>
          </a:p>
          <a:p>
            <a:endParaRPr lang="en-US" dirty="0"/>
          </a:p>
          <a:p>
            <a:r>
              <a:rPr lang="en-US" b="1" dirty="0"/>
              <a:t>Question: </a:t>
            </a:r>
          </a:p>
          <a:p>
            <a:r>
              <a:rPr lang="en-US" dirty="0"/>
              <a:t>Given this model specification, what will be the final distribution of money in the model?</a:t>
            </a:r>
          </a:p>
          <a:p>
            <a:r>
              <a:rPr lang="en-US" dirty="0"/>
              <a:t>(a) Equally distributed</a:t>
            </a:r>
          </a:p>
          <a:p>
            <a:r>
              <a:rPr lang="en-US" dirty="0"/>
              <a:t>(b) Unequally distributed</a:t>
            </a:r>
          </a:p>
        </p:txBody>
      </p:sp>
    </p:spTree>
    <p:extLst>
      <p:ext uri="{BB962C8B-B14F-4D97-AF65-F5344CB8AC3E}">
        <p14:creationId xmlns:p14="http://schemas.microsoft.com/office/powerpoint/2010/main" val="3575331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3000" dirty="0" err="1">
                <a:solidFill>
                  <a:schemeClr val="bg1"/>
                </a:solidFill>
              </a:rPr>
              <a:t>Flow</a:t>
            </a:r>
            <a:r>
              <a:rPr lang="sv-SE" sz="30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sv-SE" sz="3000" dirty="0" err="1">
                <a:solidFill>
                  <a:schemeClr val="bg1"/>
                </a:solidFill>
              </a:rPr>
              <a:t>chart</a:t>
            </a:r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2456761" y="1136641"/>
            <a:ext cx="1573806" cy="449788"/>
          </a:xfrm>
          <a:prstGeom prst="parallelogram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Agents</a:t>
            </a:r>
            <a:endParaRPr lang="en-US" sz="1200" dirty="0"/>
          </a:p>
        </p:txBody>
      </p:sp>
      <p:sp>
        <p:nvSpPr>
          <p:cNvPr id="4" name="Rectangle 3"/>
          <p:cNvSpPr/>
          <p:nvPr/>
        </p:nvSpPr>
        <p:spPr>
          <a:xfrm>
            <a:off x="2456762" y="2519119"/>
            <a:ext cx="1674564" cy="28042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Check </a:t>
            </a:r>
            <a:r>
              <a:rPr lang="sv-SE" sz="1200" dirty="0" err="1"/>
              <a:t>if</a:t>
            </a:r>
            <a:r>
              <a:rPr lang="sv-SE" sz="1200" dirty="0"/>
              <a:t> x has </a:t>
            </a:r>
            <a:r>
              <a:rPr lang="sv-SE" sz="1200" dirty="0" err="1"/>
              <a:t>money</a:t>
            </a:r>
            <a:r>
              <a:rPr lang="sv-SE" sz="1200" dirty="0"/>
              <a:t>?</a:t>
            </a:r>
            <a:endParaRPr lang="en-US" sz="1200" dirty="0"/>
          </a:p>
        </p:txBody>
      </p:sp>
      <p:sp>
        <p:nvSpPr>
          <p:cNvPr id="5" name="Diamond 4"/>
          <p:cNvSpPr/>
          <p:nvPr/>
        </p:nvSpPr>
        <p:spPr>
          <a:xfrm>
            <a:off x="2538468" y="3122033"/>
            <a:ext cx="1421177" cy="672029"/>
          </a:xfrm>
          <a:prstGeom prst="diamon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Money?</a:t>
            </a:r>
            <a:endParaRPr lang="en-US" sz="1200" dirty="0"/>
          </a:p>
        </p:txBody>
      </p:sp>
      <p:sp>
        <p:nvSpPr>
          <p:cNvPr id="10" name="Rectangle 9"/>
          <p:cNvSpPr/>
          <p:nvPr/>
        </p:nvSpPr>
        <p:spPr>
          <a:xfrm>
            <a:off x="4581461" y="3317835"/>
            <a:ext cx="732988" cy="28042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nothing</a:t>
            </a:r>
            <a:endParaRPr lang="en-US" sz="1200" dirty="0"/>
          </a:p>
        </p:txBody>
      </p:sp>
      <p:sp>
        <p:nvSpPr>
          <p:cNvPr id="11" name="Rectangle 10"/>
          <p:cNvSpPr/>
          <p:nvPr/>
        </p:nvSpPr>
        <p:spPr>
          <a:xfrm>
            <a:off x="2456761" y="4105264"/>
            <a:ext cx="1658959" cy="30722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Chooses</a:t>
            </a:r>
            <a:r>
              <a:rPr lang="sv-SE" sz="1200" dirty="0"/>
              <a:t> </a:t>
            </a:r>
            <a:r>
              <a:rPr lang="sv-SE" sz="1200" dirty="0" err="1"/>
              <a:t>other</a:t>
            </a:r>
            <a:r>
              <a:rPr lang="sv-SE" sz="1200" dirty="0"/>
              <a:t> agent y</a:t>
            </a:r>
            <a:endParaRPr lang="en-US" sz="1200" dirty="0"/>
          </a:p>
        </p:txBody>
      </p:sp>
      <p:sp>
        <p:nvSpPr>
          <p:cNvPr id="12" name="Rectangle 11"/>
          <p:cNvSpPr/>
          <p:nvPr/>
        </p:nvSpPr>
        <p:spPr>
          <a:xfrm>
            <a:off x="2504861" y="4707520"/>
            <a:ext cx="1562757" cy="30347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X gives </a:t>
            </a:r>
            <a:r>
              <a:rPr lang="sv-SE" sz="1200" dirty="0" err="1"/>
              <a:t>one</a:t>
            </a:r>
            <a:r>
              <a:rPr lang="sv-SE" sz="1200" dirty="0"/>
              <a:t> euro to y</a:t>
            </a:r>
            <a:endParaRPr lang="en-US" sz="1200" dirty="0"/>
          </a:p>
        </p:txBody>
      </p:sp>
      <p:sp>
        <p:nvSpPr>
          <p:cNvPr id="18" name="Rectangle 17"/>
          <p:cNvSpPr/>
          <p:nvPr/>
        </p:nvSpPr>
        <p:spPr>
          <a:xfrm>
            <a:off x="2456762" y="1866986"/>
            <a:ext cx="1573806" cy="27742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Pick </a:t>
            </a:r>
            <a:r>
              <a:rPr lang="sv-SE" sz="1200" dirty="0" err="1"/>
              <a:t>one</a:t>
            </a:r>
            <a:r>
              <a:rPr lang="sv-SE" sz="1200" dirty="0"/>
              <a:t> agent…x</a:t>
            </a:r>
            <a:endParaRPr lang="en-US" sz="1200" dirty="0"/>
          </a:p>
        </p:txBody>
      </p:sp>
      <p:sp>
        <p:nvSpPr>
          <p:cNvPr id="19" name="Diamond 18"/>
          <p:cNvSpPr/>
          <p:nvPr/>
        </p:nvSpPr>
        <p:spPr>
          <a:xfrm>
            <a:off x="2307230" y="5297456"/>
            <a:ext cx="1911427" cy="781305"/>
          </a:xfrm>
          <a:prstGeom prst="diamon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All agents </a:t>
            </a:r>
            <a:r>
              <a:rPr lang="sv-SE" sz="1200" dirty="0" err="1"/>
              <a:t>have</a:t>
            </a:r>
            <a:r>
              <a:rPr lang="sv-SE" sz="1200" dirty="0"/>
              <a:t> </a:t>
            </a:r>
            <a:r>
              <a:rPr lang="sv-SE" sz="1200" dirty="0" err="1"/>
              <a:t>been</a:t>
            </a:r>
            <a:r>
              <a:rPr lang="sv-SE" sz="1200" dirty="0"/>
              <a:t> </a:t>
            </a:r>
            <a:r>
              <a:rPr lang="sv-SE" sz="1200" dirty="0" err="1"/>
              <a:t>asked</a:t>
            </a:r>
            <a:endParaRPr lang="en-US" sz="1200" dirty="0"/>
          </a:p>
        </p:txBody>
      </p:sp>
      <p:sp>
        <p:nvSpPr>
          <p:cNvPr id="20" name="Rectangle 19"/>
          <p:cNvSpPr/>
          <p:nvPr/>
        </p:nvSpPr>
        <p:spPr>
          <a:xfrm>
            <a:off x="2201810" y="6206260"/>
            <a:ext cx="461057" cy="1881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no</a:t>
            </a:r>
            <a:endParaRPr lang="en-US" sz="1200" dirty="0"/>
          </a:p>
        </p:txBody>
      </p:sp>
      <p:sp>
        <p:nvSpPr>
          <p:cNvPr id="21" name="Rectangle 20"/>
          <p:cNvSpPr/>
          <p:nvPr/>
        </p:nvSpPr>
        <p:spPr>
          <a:xfrm>
            <a:off x="3757600" y="6218843"/>
            <a:ext cx="461057" cy="18810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yes</a:t>
            </a:r>
            <a:endParaRPr lang="en-US" sz="1200" dirty="0"/>
          </a:p>
        </p:txBody>
      </p:sp>
      <p:cxnSp>
        <p:nvCxnSpPr>
          <p:cNvPr id="22" name="Straight Arrow Connector 21"/>
          <p:cNvCxnSpPr>
            <a:stCxn id="3" idx="4"/>
            <a:endCxn id="18" idx="0"/>
          </p:cNvCxnSpPr>
          <p:nvPr/>
        </p:nvCxnSpPr>
        <p:spPr>
          <a:xfrm>
            <a:off x="3243664" y="1586429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243663" y="2213973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3245841" y="2830545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3243662" y="3787887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4030567" y="3444850"/>
            <a:ext cx="3761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252177" y="4414482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3252177" y="5000864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2538468" y="5952584"/>
            <a:ext cx="248799" cy="195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3770638" y="5973306"/>
            <a:ext cx="189007" cy="213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300249" y="3762972"/>
            <a:ext cx="389594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 err="1"/>
              <a:t>yes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3986957" y="3103004"/>
            <a:ext cx="346570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no</a:t>
            </a:r>
            <a:endParaRPr lang="en-US" sz="1200" dirty="0"/>
          </a:p>
        </p:txBody>
      </p:sp>
      <p:cxnSp>
        <p:nvCxnSpPr>
          <p:cNvPr id="38" name="Elbow Connector 37"/>
          <p:cNvCxnSpPr/>
          <p:nvPr/>
        </p:nvCxnSpPr>
        <p:spPr>
          <a:xfrm rot="16200000" flipV="1">
            <a:off x="4015205" y="2246848"/>
            <a:ext cx="1132512" cy="729298"/>
          </a:xfrm>
          <a:prstGeom prst="bentConnector3">
            <a:avLst>
              <a:gd name="adj1" fmla="val 99612"/>
            </a:avLst>
          </a:prstGeom>
          <a:ln>
            <a:prstDash val="dash"/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Elbow Connector 42"/>
          <p:cNvCxnSpPr/>
          <p:nvPr/>
        </p:nvCxnSpPr>
        <p:spPr>
          <a:xfrm rot="5400000" flipH="1" flipV="1">
            <a:off x="30876" y="4023961"/>
            <a:ext cx="4294614" cy="258093"/>
          </a:xfrm>
          <a:prstGeom prst="bentConnector3">
            <a:avLst>
              <a:gd name="adj1" fmla="val 100023"/>
            </a:avLst>
          </a:prstGeom>
          <a:ln>
            <a:prstDash val="dash"/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4655108" y="6121547"/>
            <a:ext cx="1026957" cy="37265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Income</a:t>
            </a:r>
            <a:r>
              <a:rPr lang="sv-SE" sz="1200" dirty="0"/>
              <a:t> </a:t>
            </a:r>
          </a:p>
          <a:p>
            <a:pPr algn="ctr"/>
            <a:r>
              <a:rPr lang="sv-SE" sz="1200" dirty="0"/>
              <a:t>distribution</a:t>
            </a:r>
            <a:endParaRPr lang="en-US" sz="1200" dirty="0"/>
          </a:p>
        </p:txBody>
      </p:sp>
      <p:cxnSp>
        <p:nvCxnSpPr>
          <p:cNvPr id="49" name="Straight Arrow Connector 48"/>
          <p:cNvCxnSpPr/>
          <p:nvPr/>
        </p:nvCxnSpPr>
        <p:spPr>
          <a:xfrm>
            <a:off x="4333527" y="6300314"/>
            <a:ext cx="2479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041120" y="1129808"/>
            <a:ext cx="2779159" cy="4616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Agents’ </a:t>
            </a:r>
            <a:r>
              <a:rPr lang="sv-SE" sz="1200" dirty="0" err="1"/>
              <a:t>types</a:t>
            </a:r>
            <a:r>
              <a:rPr lang="sv-SE" sz="1200" dirty="0"/>
              <a:t>: </a:t>
            </a:r>
            <a:r>
              <a:rPr lang="sv-SE" sz="1200" dirty="0" err="1"/>
              <a:t>Only</a:t>
            </a:r>
            <a:r>
              <a:rPr lang="sv-SE" sz="1200" dirty="0"/>
              <a:t> </a:t>
            </a:r>
            <a:r>
              <a:rPr lang="sv-SE" sz="1200" dirty="0" err="1"/>
              <a:t>one</a:t>
            </a:r>
            <a:endParaRPr lang="en-US" sz="1200" dirty="0"/>
          </a:p>
          <a:p>
            <a:r>
              <a:rPr lang="sv-SE" sz="1200" dirty="0"/>
              <a:t>Agents’ </a:t>
            </a:r>
            <a:r>
              <a:rPr lang="sv-SE" sz="1200" dirty="0" err="1"/>
              <a:t>variables</a:t>
            </a:r>
            <a:r>
              <a:rPr lang="sv-SE" sz="1200" dirty="0"/>
              <a:t>:  </a:t>
            </a:r>
            <a:r>
              <a:rPr lang="sv-SE" sz="1200" dirty="0" err="1"/>
              <a:t>Everyone</a:t>
            </a:r>
            <a:r>
              <a:rPr lang="sv-SE" sz="1200" dirty="0"/>
              <a:t> </a:t>
            </a:r>
            <a:r>
              <a:rPr lang="sv-SE" sz="1200" dirty="0" err="1"/>
              <a:t>money</a:t>
            </a:r>
            <a:r>
              <a:rPr lang="sv-SE" sz="1200" dirty="0"/>
              <a:t> = 100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13591" y="5754247"/>
            <a:ext cx="609462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output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77381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3000" dirty="0" err="1">
                <a:solidFill>
                  <a:schemeClr val="bg1"/>
                </a:solidFill>
              </a:rPr>
              <a:t>Flow</a:t>
            </a:r>
            <a:r>
              <a:rPr lang="sv-SE" sz="30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sv-SE" sz="3000" dirty="0" err="1">
                <a:solidFill>
                  <a:schemeClr val="bg1"/>
                </a:solidFill>
              </a:rPr>
              <a:t>chart</a:t>
            </a:r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2456761" y="1136641"/>
            <a:ext cx="1573806" cy="449788"/>
          </a:xfrm>
          <a:prstGeom prst="parallelogram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Agents</a:t>
            </a:r>
            <a:endParaRPr lang="en-US" sz="1200" dirty="0"/>
          </a:p>
        </p:txBody>
      </p:sp>
      <p:sp>
        <p:nvSpPr>
          <p:cNvPr id="4" name="Rectangle 3"/>
          <p:cNvSpPr/>
          <p:nvPr/>
        </p:nvSpPr>
        <p:spPr>
          <a:xfrm>
            <a:off x="2456762" y="2519119"/>
            <a:ext cx="1674564" cy="28042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Check </a:t>
            </a:r>
            <a:r>
              <a:rPr lang="sv-SE" sz="1200" dirty="0" err="1"/>
              <a:t>if</a:t>
            </a:r>
            <a:r>
              <a:rPr lang="sv-SE" sz="1200" dirty="0"/>
              <a:t> has </a:t>
            </a:r>
            <a:r>
              <a:rPr lang="sv-SE" sz="1200" dirty="0" err="1"/>
              <a:t>money</a:t>
            </a:r>
            <a:r>
              <a:rPr lang="sv-SE" sz="1200" dirty="0"/>
              <a:t>?</a:t>
            </a:r>
            <a:endParaRPr lang="en-US" sz="1200" dirty="0"/>
          </a:p>
        </p:txBody>
      </p:sp>
      <p:sp>
        <p:nvSpPr>
          <p:cNvPr id="5" name="Diamond 4"/>
          <p:cNvSpPr/>
          <p:nvPr/>
        </p:nvSpPr>
        <p:spPr>
          <a:xfrm>
            <a:off x="2538468" y="3122033"/>
            <a:ext cx="1421177" cy="672029"/>
          </a:xfrm>
          <a:prstGeom prst="diamon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Money?</a:t>
            </a:r>
            <a:endParaRPr lang="en-US" sz="1200" dirty="0"/>
          </a:p>
        </p:txBody>
      </p:sp>
      <p:sp>
        <p:nvSpPr>
          <p:cNvPr id="10" name="Rectangle 9"/>
          <p:cNvSpPr/>
          <p:nvPr/>
        </p:nvSpPr>
        <p:spPr>
          <a:xfrm>
            <a:off x="4581461" y="3317835"/>
            <a:ext cx="732988" cy="28042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nothing</a:t>
            </a:r>
            <a:endParaRPr lang="en-US" sz="1200" dirty="0"/>
          </a:p>
        </p:txBody>
      </p:sp>
      <p:sp>
        <p:nvSpPr>
          <p:cNvPr id="11" name="Rectangle 10"/>
          <p:cNvSpPr/>
          <p:nvPr/>
        </p:nvSpPr>
        <p:spPr>
          <a:xfrm>
            <a:off x="2456761" y="4105264"/>
            <a:ext cx="1658959" cy="30722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Chooses</a:t>
            </a:r>
            <a:r>
              <a:rPr lang="sv-SE" sz="1200" dirty="0"/>
              <a:t> </a:t>
            </a:r>
            <a:r>
              <a:rPr lang="sv-SE" sz="1200" dirty="0" err="1"/>
              <a:t>other</a:t>
            </a:r>
            <a:r>
              <a:rPr lang="sv-SE" sz="1200" dirty="0"/>
              <a:t> agent</a:t>
            </a:r>
            <a:endParaRPr lang="en-US" sz="1200" dirty="0"/>
          </a:p>
        </p:txBody>
      </p:sp>
      <p:sp>
        <p:nvSpPr>
          <p:cNvPr id="12" name="Rectangle 11"/>
          <p:cNvSpPr/>
          <p:nvPr/>
        </p:nvSpPr>
        <p:spPr>
          <a:xfrm>
            <a:off x="2654052" y="4716548"/>
            <a:ext cx="1196250" cy="26828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Give</a:t>
            </a:r>
            <a:r>
              <a:rPr lang="sv-SE" sz="1200" dirty="0"/>
              <a:t> </a:t>
            </a:r>
            <a:r>
              <a:rPr lang="sv-SE" sz="1200" dirty="0" err="1"/>
              <a:t>one</a:t>
            </a:r>
            <a:r>
              <a:rPr lang="sv-SE" sz="1200" dirty="0"/>
              <a:t> euro</a:t>
            </a:r>
            <a:endParaRPr lang="en-US" sz="1200" dirty="0"/>
          </a:p>
        </p:txBody>
      </p:sp>
      <p:sp>
        <p:nvSpPr>
          <p:cNvPr id="18" name="Rectangle 17"/>
          <p:cNvSpPr/>
          <p:nvPr/>
        </p:nvSpPr>
        <p:spPr>
          <a:xfrm>
            <a:off x="2456762" y="1866986"/>
            <a:ext cx="1573806" cy="27742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Pick </a:t>
            </a:r>
            <a:r>
              <a:rPr lang="sv-SE" sz="1200" dirty="0" err="1"/>
              <a:t>one</a:t>
            </a:r>
            <a:r>
              <a:rPr lang="sv-SE" sz="1200" dirty="0"/>
              <a:t> agent…</a:t>
            </a:r>
            <a:endParaRPr lang="en-US" sz="1200" dirty="0"/>
          </a:p>
        </p:txBody>
      </p:sp>
      <p:sp>
        <p:nvSpPr>
          <p:cNvPr id="19" name="Diamond 18"/>
          <p:cNvSpPr/>
          <p:nvPr/>
        </p:nvSpPr>
        <p:spPr>
          <a:xfrm>
            <a:off x="2307230" y="5297456"/>
            <a:ext cx="1911427" cy="781305"/>
          </a:xfrm>
          <a:prstGeom prst="diamon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All agents </a:t>
            </a:r>
            <a:r>
              <a:rPr lang="sv-SE" sz="1200" dirty="0" err="1"/>
              <a:t>have</a:t>
            </a:r>
            <a:r>
              <a:rPr lang="sv-SE" sz="1200" dirty="0"/>
              <a:t> </a:t>
            </a:r>
            <a:r>
              <a:rPr lang="sv-SE" sz="1200" dirty="0" err="1"/>
              <a:t>been</a:t>
            </a:r>
            <a:r>
              <a:rPr lang="sv-SE" sz="1200" dirty="0"/>
              <a:t> </a:t>
            </a:r>
            <a:r>
              <a:rPr lang="sv-SE" sz="1200" dirty="0" err="1"/>
              <a:t>asked</a:t>
            </a:r>
            <a:endParaRPr lang="en-US" sz="1200" dirty="0"/>
          </a:p>
        </p:txBody>
      </p:sp>
      <p:sp>
        <p:nvSpPr>
          <p:cNvPr id="20" name="Rectangle 19"/>
          <p:cNvSpPr/>
          <p:nvPr/>
        </p:nvSpPr>
        <p:spPr>
          <a:xfrm>
            <a:off x="2201810" y="6206260"/>
            <a:ext cx="461057" cy="1881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no</a:t>
            </a:r>
            <a:endParaRPr lang="en-US" sz="1200" dirty="0"/>
          </a:p>
        </p:txBody>
      </p:sp>
      <p:sp>
        <p:nvSpPr>
          <p:cNvPr id="21" name="Rectangle 20"/>
          <p:cNvSpPr/>
          <p:nvPr/>
        </p:nvSpPr>
        <p:spPr>
          <a:xfrm>
            <a:off x="3757600" y="6218843"/>
            <a:ext cx="461057" cy="18810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yes</a:t>
            </a:r>
            <a:endParaRPr lang="en-US" sz="1200" dirty="0"/>
          </a:p>
        </p:txBody>
      </p:sp>
      <p:cxnSp>
        <p:nvCxnSpPr>
          <p:cNvPr id="22" name="Straight Arrow Connector 21"/>
          <p:cNvCxnSpPr>
            <a:stCxn id="3" idx="4"/>
            <a:endCxn id="18" idx="0"/>
          </p:cNvCxnSpPr>
          <p:nvPr/>
        </p:nvCxnSpPr>
        <p:spPr>
          <a:xfrm>
            <a:off x="3243664" y="1586429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243663" y="2213973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3245841" y="2830545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3243662" y="3787887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4030567" y="3444850"/>
            <a:ext cx="3761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252177" y="4414482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3252177" y="5000864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2538468" y="5952584"/>
            <a:ext cx="248799" cy="195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3770638" y="5973306"/>
            <a:ext cx="189007" cy="213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300249" y="3762972"/>
            <a:ext cx="389594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 err="1"/>
              <a:t>yes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3986957" y="3157251"/>
            <a:ext cx="346570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no</a:t>
            </a:r>
            <a:endParaRPr lang="en-US" sz="1200" dirty="0"/>
          </a:p>
        </p:txBody>
      </p:sp>
      <p:cxnSp>
        <p:nvCxnSpPr>
          <p:cNvPr id="38" name="Elbow Connector 37"/>
          <p:cNvCxnSpPr/>
          <p:nvPr/>
        </p:nvCxnSpPr>
        <p:spPr>
          <a:xfrm rot="16200000" flipV="1">
            <a:off x="4015205" y="2246848"/>
            <a:ext cx="1132512" cy="729298"/>
          </a:xfrm>
          <a:prstGeom prst="bentConnector3">
            <a:avLst>
              <a:gd name="adj1" fmla="val 99612"/>
            </a:avLst>
          </a:prstGeom>
          <a:ln>
            <a:prstDash val="dash"/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Elbow Connector 42"/>
          <p:cNvCxnSpPr/>
          <p:nvPr/>
        </p:nvCxnSpPr>
        <p:spPr>
          <a:xfrm rot="5400000" flipH="1" flipV="1">
            <a:off x="30876" y="4023961"/>
            <a:ext cx="4294614" cy="258093"/>
          </a:xfrm>
          <a:prstGeom prst="bentConnector3">
            <a:avLst>
              <a:gd name="adj1" fmla="val 100023"/>
            </a:avLst>
          </a:prstGeom>
          <a:ln>
            <a:prstDash val="dash"/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4655108" y="6121547"/>
            <a:ext cx="1026957" cy="37265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Income</a:t>
            </a:r>
            <a:r>
              <a:rPr lang="sv-SE" sz="1200" dirty="0"/>
              <a:t> </a:t>
            </a:r>
          </a:p>
          <a:p>
            <a:pPr algn="ctr"/>
            <a:r>
              <a:rPr lang="sv-SE" sz="1200" dirty="0"/>
              <a:t>distribution</a:t>
            </a:r>
            <a:endParaRPr lang="en-US" sz="1200" dirty="0"/>
          </a:p>
        </p:txBody>
      </p:sp>
      <p:cxnSp>
        <p:nvCxnSpPr>
          <p:cNvPr id="49" name="Straight Arrow Connector 48"/>
          <p:cNvCxnSpPr/>
          <p:nvPr/>
        </p:nvCxnSpPr>
        <p:spPr>
          <a:xfrm>
            <a:off x="4333527" y="6300314"/>
            <a:ext cx="2479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813591" y="5754247"/>
            <a:ext cx="609462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output</a:t>
            </a:r>
            <a:endParaRPr lang="en-US" sz="1200" dirty="0"/>
          </a:p>
        </p:txBody>
      </p:sp>
      <p:sp>
        <p:nvSpPr>
          <p:cNvPr id="54" name="Rectangle 53"/>
          <p:cNvSpPr/>
          <p:nvPr/>
        </p:nvSpPr>
        <p:spPr>
          <a:xfrm>
            <a:off x="6613464" y="1241480"/>
            <a:ext cx="1674564" cy="412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setup</a:t>
            </a:r>
            <a:endParaRPr lang="en-US" dirty="0"/>
          </a:p>
        </p:txBody>
      </p:sp>
      <p:sp>
        <p:nvSpPr>
          <p:cNvPr id="55" name="Rectangle 54"/>
          <p:cNvSpPr/>
          <p:nvPr/>
        </p:nvSpPr>
        <p:spPr>
          <a:xfrm>
            <a:off x="6613464" y="3700145"/>
            <a:ext cx="1674564" cy="96089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Go</a:t>
            </a:r>
            <a:endParaRPr lang="en-US" dirty="0"/>
          </a:p>
        </p:txBody>
      </p:sp>
      <p:sp>
        <p:nvSpPr>
          <p:cNvPr id="56" name="Right Brace 55"/>
          <p:cNvSpPr/>
          <p:nvPr/>
        </p:nvSpPr>
        <p:spPr>
          <a:xfrm>
            <a:off x="5922916" y="1241480"/>
            <a:ext cx="259012" cy="366001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ight Brace 56"/>
          <p:cNvSpPr/>
          <p:nvPr/>
        </p:nvSpPr>
        <p:spPr>
          <a:xfrm>
            <a:off x="5940150" y="1866986"/>
            <a:ext cx="258030" cy="4627212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BC9FCF-54CE-4ADF-BA01-CBFD7C46FB59}"/>
              </a:ext>
            </a:extLst>
          </p:cNvPr>
          <p:cNvSpPr/>
          <p:nvPr/>
        </p:nvSpPr>
        <p:spPr>
          <a:xfrm>
            <a:off x="8551329" y="3429000"/>
            <a:ext cx="2715569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3300" dirty="0" err="1"/>
              <a:t>Define</a:t>
            </a:r>
            <a:r>
              <a:rPr lang="sv-SE" sz="3300" dirty="0"/>
              <a:t> the </a:t>
            </a:r>
            <a:r>
              <a:rPr lang="sv-SE" sz="3300" b="1" dirty="0" err="1"/>
              <a:t>Model’s</a:t>
            </a:r>
            <a:r>
              <a:rPr lang="sv-SE" sz="3300" b="1" dirty="0"/>
              <a:t> </a:t>
            </a:r>
            <a:r>
              <a:rPr lang="sv-SE" sz="3300" b="1" dirty="0" err="1"/>
              <a:t>schedule</a:t>
            </a:r>
            <a:endParaRPr lang="sv-SE" sz="3300" dirty="0"/>
          </a:p>
        </p:txBody>
      </p:sp>
    </p:spTree>
    <p:extLst>
      <p:ext uri="{BB962C8B-B14F-4D97-AF65-F5344CB8AC3E}">
        <p14:creationId xmlns:p14="http://schemas.microsoft.com/office/powerpoint/2010/main" val="1026979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3000" dirty="0" err="1">
                <a:solidFill>
                  <a:schemeClr val="bg1"/>
                </a:solidFill>
              </a:rPr>
              <a:t>Flow</a:t>
            </a:r>
            <a:r>
              <a:rPr lang="sv-SE" sz="30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sv-SE" sz="3000" dirty="0" err="1">
                <a:solidFill>
                  <a:schemeClr val="bg1"/>
                </a:solidFill>
              </a:rPr>
              <a:t>chart</a:t>
            </a:r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2456761" y="1136641"/>
            <a:ext cx="1573806" cy="449788"/>
          </a:xfrm>
          <a:prstGeom prst="parallelogram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Agents</a:t>
            </a:r>
            <a:endParaRPr lang="en-US" sz="1200" dirty="0"/>
          </a:p>
        </p:txBody>
      </p:sp>
      <p:sp>
        <p:nvSpPr>
          <p:cNvPr id="4" name="Rectangle 3"/>
          <p:cNvSpPr/>
          <p:nvPr/>
        </p:nvSpPr>
        <p:spPr>
          <a:xfrm>
            <a:off x="2456762" y="2519119"/>
            <a:ext cx="1674564" cy="28042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Check </a:t>
            </a:r>
            <a:r>
              <a:rPr lang="sv-SE" sz="1200" dirty="0" err="1"/>
              <a:t>if</a:t>
            </a:r>
            <a:r>
              <a:rPr lang="sv-SE" sz="1200" dirty="0"/>
              <a:t> x has </a:t>
            </a:r>
            <a:r>
              <a:rPr lang="sv-SE" sz="1200" dirty="0" err="1"/>
              <a:t>money</a:t>
            </a:r>
            <a:r>
              <a:rPr lang="sv-SE" sz="1200" dirty="0"/>
              <a:t>?</a:t>
            </a:r>
            <a:endParaRPr lang="en-US" sz="1200" dirty="0"/>
          </a:p>
        </p:txBody>
      </p:sp>
      <p:sp>
        <p:nvSpPr>
          <p:cNvPr id="5" name="Diamond 4"/>
          <p:cNvSpPr/>
          <p:nvPr/>
        </p:nvSpPr>
        <p:spPr>
          <a:xfrm>
            <a:off x="2538468" y="3122033"/>
            <a:ext cx="1421177" cy="672029"/>
          </a:xfrm>
          <a:prstGeom prst="diamon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Money?</a:t>
            </a:r>
            <a:endParaRPr lang="en-US" sz="1200" dirty="0"/>
          </a:p>
        </p:txBody>
      </p:sp>
      <p:sp>
        <p:nvSpPr>
          <p:cNvPr id="10" name="Rectangle 9"/>
          <p:cNvSpPr/>
          <p:nvPr/>
        </p:nvSpPr>
        <p:spPr>
          <a:xfrm>
            <a:off x="4581461" y="3317835"/>
            <a:ext cx="732988" cy="28042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nothing</a:t>
            </a:r>
            <a:endParaRPr lang="en-US" sz="1200" dirty="0"/>
          </a:p>
        </p:txBody>
      </p:sp>
      <p:sp>
        <p:nvSpPr>
          <p:cNvPr id="11" name="Rectangle 10"/>
          <p:cNvSpPr/>
          <p:nvPr/>
        </p:nvSpPr>
        <p:spPr>
          <a:xfrm>
            <a:off x="2456761" y="4105264"/>
            <a:ext cx="1658959" cy="30722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Choose</a:t>
            </a:r>
            <a:r>
              <a:rPr lang="sv-SE" sz="1200" dirty="0"/>
              <a:t> </a:t>
            </a:r>
            <a:r>
              <a:rPr lang="sv-SE" sz="1200" dirty="0" err="1"/>
              <a:t>other</a:t>
            </a:r>
            <a:r>
              <a:rPr lang="sv-SE" sz="1200" dirty="0"/>
              <a:t> agent y</a:t>
            </a:r>
            <a:endParaRPr lang="en-US" sz="1200" dirty="0"/>
          </a:p>
        </p:txBody>
      </p:sp>
      <p:sp>
        <p:nvSpPr>
          <p:cNvPr id="12" name="Rectangle 11"/>
          <p:cNvSpPr/>
          <p:nvPr/>
        </p:nvSpPr>
        <p:spPr>
          <a:xfrm>
            <a:off x="2504861" y="4707520"/>
            <a:ext cx="1562757" cy="30347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X gives </a:t>
            </a:r>
            <a:r>
              <a:rPr lang="sv-SE" sz="1200" dirty="0" err="1"/>
              <a:t>one</a:t>
            </a:r>
            <a:r>
              <a:rPr lang="sv-SE" sz="1200" dirty="0"/>
              <a:t> euro to y</a:t>
            </a:r>
            <a:endParaRPr lang="en-US" sz="1200" dirty="0"/>
          </a:p>
        </p:txBody>
      </p:sp>
      <p:sp>
        <p:nvSpPr>
          <p:cNvPr id="18" name="Rectangle 17"/>
          <p:cNvSpPr/>
          <p:nvPr/>
        </p:nvSpPr>
        <p:spPr>
          <a:xfrm>
            <a:off x="2456762" y="1866986"/>
            <a:ext cx="1573806" cy="27742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Pick </a:t>
            </a:r>
            <a:r>
              <a:rPr lang="sv-SE" sz="1200" dirty="0" err="1"/>
              <a:t>one</a:t>
            </a:r>
            <a:r>
              <a:rPr lang="sv-SE" sz="1200" dirty="0"/>
              <a:t> agent…x</a:t>
            </a:r>
            <a:endParaRPr lang="en-US" sz="1200" dirty="0"/>
          </a:p>
        </p:txBody>
      </p:sp>
      <p:sp>
        <p:nvSpPr>
          <p:cNvPr id="19" name="Diamond 18"/>
          <p:cNvSpPr/>
          <p:nvPr/>
        </p:nvSpPr>
        <p:spPr>
          <a:xfrm>
            <a:off x="2307230" y="5297456"/>
            <a:ext cx="1911427" cy="781305"/>
          </a:xfrm>
          <a:prstGeom prst="diamon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All agents </a:t>
            </a:r>
            <a:r>
              <a:rPr lang="sv-SE" sz="1200" dirty="0" err="1"/>
              <a:t>have</a:t>
            </a:r>
            <a:r>
              <a:rPr lang="sv-SE" sz="1200" dirty="0"/>
              <a:t> </a:t>
            </a:r>
            <a:r>
              <a:rPr lang="sv-SE" sz="1200" dirty="0" err="1"/>
              <a:t>been</a:t>
            </a:r>
            <a:r>
              <a:rPr lang="sv-SE" sz="1200" dirty="0"/>
              <a:t> </a:t>
            </a:r>
            <a:r>
              <a:rPr lang="sv-SE" sz="1200" dirty="0" err="1"/>
              <a:t>asked</a:t>
            </a:r>
            <a:endParaRPr lang="en-US" sz="1200" dirty="0"/>
          </a:p>
        </p:txBody>
      </p:sp>
      <p:sp>
        <p:nvSpPr>
          <p:cNvPr id="20" name="Rectangle 19"/>
          <p:cNvSpPr/>
          <p:nvPr/>
        </p:nvSpPr>
        <p:spPr>
          <a:xfrm>
            <a:off x="2201810" y="6206260"/>
            <a:ext cx="461057" cy="1881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no</a:t>
            </a:r>
            <a:endParaRPr lang="en-US" sz="1200" dirty="0"/>
          </a:p>
        </p:txBody>
      </p:sp>
      <p:sp>
        <p:nvSpPr>
          <p:cNvPr id="21" name="Rectangle 20"/>
          <p:cNvSpPr/>
          <p:nvPr/>
        </p:nvSpPr>
        <p:spPr>
          <a:xfrm>
            <a:off x="3757600" y="6218843"/>
            <a:ext cx="461057" cy="18810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yes</a:t>
            </a:r>
            <a:endParaRPr lang="en-US" sz="1200" dirty="0"/>
          </a:p>
        </p:txBody>
      </p:sp>
      <p:cxnSp>
        <p:nvCxnSpPr>
          <p:cNvPr id="22" name="Straight Arrow Connector 21"/>
          <p:cNvCxnSpPr>
            <a:stCxn id="3" idx="4"/>
            <a:endCxn id="18" idx="0"/>
          </p:cNvCxnSpPr>
          <p:nvPr/>
        </p:nvCxnSpPr>
        <p:spPr>
          <a:xfrm>
            <a:off x="3243664" y="1586429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243663" y="2213973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3245841" y="2830545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3243662" y="3787887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4030567" y="3444850"/>
            <a:ext cx="3761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252177" y="4414482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3252177" y="5000864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2538468" y="5952584"/>
            <a:ext cx="248799" cy="195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3770638" y="5973306"/>
            <a:ext cx="189007" cy="213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300249" y="3762972"/>
            <a:ext cx="389594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 err="1"/>
              <a:t>yes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3986957" y="3103004"/>
            <a:ext cx="346570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no</a:t>
            </a:r>
            <a:endParaRPr lang="en-US" sz="1200" dirty="0"/>
          </a:p>
        </p:txBody>
      </p:sp>
      <p:cxnSp>
        <p:nvCxnSpPr>
          <p:cNvPr id="38" name="Elbow Connector 37"/>
          <p:cNvCxnSpPr/>
          <p:nvPr/>
        </p:nvCxnSpPr>
        <p:spPr>
          <a:xfrm rot="16200000" flipV="1">
            <a:off x="4015205" y="2246848"/>
            <a:ext cx="1132512" cy="729298"/>
          </a:xfrm>
          <a:prstGeom prst="bentConnector3">
            <a:avLst>
              <a:gd name="adj1" fmla="val 99612"/>
            </a:avLst>
          </a:prstGeom>
          <a:ln>
            <a:prstDash val="dash"/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Elbow Connector 42"/>
          <p:cNvCxnSpPr/>
          <p:nvPr/>
        </p:nvCxnSpPr>
        <p:spPr>
          <a:xfrm rot="5400000" flipH="1" flipV="1">
            <a:off x="30876" y="4023961"/>
            <a:ext cx="4294614" cy="258093"/>
          </a:xfrm>
          <a:prstGeom prst="bentConnector3">
            <a:avLst>
              <a:gd name="adj1" fmla="val 100023"/>
            </a:avLst>
          </a:prstGeom>
          <a:ln>
            <a:prstDash val="dash"/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4655108" y="6121547"/>
            <a:ext cx="1026957" cy="37265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Income</a:t>
            </a:r>
            <a:r>
              <a:rPr lang="sv-SE" sz="1200" dirty="0"/>
              <a:t> </a:t>
            </a:r>
          </a:p>
          <a:p>
            <a:pPr algn="ctr"/>
            <a:r>
              <a:rPr lang="sv-SE" sz="1200" dirty="0"/>
              <a:t>distribution</a:t>
            </a:r>
            <a:endParaRPr lang="en-US" sz="1200" dirty="0"/>
          </a:p>
        </p:txBody>
      </p:sp>
      <p:cxnSp>
        <p:nvCxnSpPr>
          <p:cNvPr id="49" name="Straight Arrow Connector 48"/>
          <p:cNvCxnSpPr/>
          <p:nvPr/>
        </p:nvCxnSpPr>
        <p:spPr>
          <a:xfrm>
            <a:off x="4333527" y="6300314"/>
            <a:ext cx="2479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041120" y="1129808"/>
            <a:ext cx="2779159" cy="4616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Agents’ </a:t>
            </a:r>
            <a:r>
              <a:rPr lang="sv-SE" sz="1200" dirty="0" err="1"/>
              <a:t>types</a:t>
            </a:r>
            <a:r>
              <a:rPr lang="sv-SE" sz="1200" dirty="0"/>
              <a:t>: </a:t>
            </a:r>
            <a:r>
              <a:rPr lang="sv-SE" sz="1200" dirty="0" err="1"/>
              <a:t>Only</a:t>
            </a:r>
            <a:r>
              <a:rPr lang="sv-SE" sz="1200" dirty="0"/>
              <a:t> </a:t>
            </a:r>
            <a:r>
              <a:rPr lang="sv-SE" sz="1200" dirty="0" err="1"/>
              <a:t>one</a:t>
            </a:r>
            <a:endParaRPr lang="en-US" sz="1200" dirty="0"/>
          </a:p>
          <a:p>
            <a:r>
              <a:rPr lang="sv-SE" sz="1200" dirty="0"/>
              <a:t>Agents’ </a:t>
            </a:r>
            <a:r>
              <a:rPr lang="sv-SE" sz="1200" dirty="0" err="1"/>
              <a:t>variables</a:t>
            </a:r>
            <a:r>
              <a:rPr lang="sv-SE" sz="1200" dirty="0"/>
              <a:t>:  </a:t>
            </a:r>
            <a:r>
              <a:rPr lang="sv-SE" sz="1200" dirty="0" err="1"/>
              <a:t>Everyone</a:t>
            </a:r>
            <a:r>
              <a:rPr lang="sv-SE" sz="1200" dirty="0"/>
              <a:t> </a:t>
            </a:r>
            <a:r>
              <a:rPr lang="sv-SE" sz="1200" dirty="0" err="1"/>
              <a:t>money</a:t>
            </a:r>
            <a:r>
              <a:rPr lang="sv-SE" sz="1200" dirty="0"/>
              <a:t> = 100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13591" y="5754247"/>
            <a:ext cx="609462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output</a:t>
            </a:r>
            <a:endParaRPr lang="en-US" sz="1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303ED0-72B3-4B47-9FC4-16E1C8B4BDB4}"/>
              </a:ext>
            </a:extLst>
          </p:cNvPr>
          <p:cNvSpPr/>
          <p:nvPr/>
        </p:nvSpPr>
        <p:spPr>
          <a:xfrm>
            <a:off x="5111504" y="1066108"/>
            <a:ext cx="6643719" cy="5262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sv-SE" sz="2100" b="1" dirty="0"/>
              <a:t>Schedule</a:t>
            </a:r>
          </a:p>
          <a:p>
            <a:r>
              <a:rPr lang="sv-SE" sz="2100" dirty="0"/>
              <a:t>The </a:t>
            </a:r>
            <a:r>
              <a:rPr lang="sv-SE" sz="2100" dirty="0" err="1"/>
              <a:t>schedule</a:t>
            </a:r>
            <a:r>
              <a:rPr lang="sv-SE" sz="2100" dirty="0"/>
              <a:t> is a </a:t>
            </a:r>
            <a:r>
              <a:rPr lang="sv-SE" sz="2100" dirty="0" err="1"/>
              <a:t>description</a:t>
            </a:r>
            <a:r>
              <a:rPr lang="sv-SE" sz="2100" dirty="0"/>
              <a:t> </a:t>
            </a:r>
            <a:r>
              <a:rPr lang="sv-SE" sz="2100" dirty="0" err="1"/>
              <a:t>of</a:t>
            </a:r>
            <a:r>
              <a:rPr lang="sv-SE" sz="2100" dirty="0"/>
              <a:t> the order in </a:t>
            </a:r>
            <a:r>
              <a:rPr lang="sv-SE" sz="2100" dirty="0" err="1"/>
              <a:t>which</a:t>
            </a:r>
            <a:r>
              <a:rPr lang="sv-SE" sz="2100" dirty="0"/>
              <a:t> the </a:t>
            </a:r>
            <a:r>
              <a:rPr lang="sv-SE" sz="2100" dirty="0" err="1"/>
              <a:t>model</a:t>
            </a:r>
            <a:r>
              <a:rPr lang="sv-SE" sz="2100" dirty="0"/>
              <a:t> operates </a:t>
            </a:r>
            <a:r>
              <a:rPr lang="sv-SE" sz="2100" dirty="0" err="1"/>
              <a:t>depending</a:t>
            </a:r>
            <a:r>
              <a:rPr lang="sv-SE" sz="2100" dirty="0"/>
              <a:t> on the </a:t>
            </a:r>
            <a:r>
              <a:rPr lang="sv-SE" sz="2100" dirty="0" err="1"/>
              <a:t>sequence</a:t>
            </a:r>
            <a:r>
              <a:rPr lang="sv-SE" sz="2100" dirty="0"/>
              <a:t> </a:t>
            </a:r>
            <a:r>
              <a:rPr lang="sv-SE" sz="2100" dirty="0" err="1"/>
              <a:t>of</a:t>
            </a:r>
            <a:r>
              <a:rPr lang="sv-SE" sz="2100" dirty="0"/>
              <a:t> </a:t>
            </a:r>
            <a:r>
              <a:rPr lang="sv-SE" sz="2100" dirty="0" err="1"/>
              <a:t>procedures</a:t>
            </a:r>
            <a:r>
              <a:rPr lang="sv-SE" sz="2100" dirty="0"/>
              <a:t> in the </a:t>
            </a:r>
            <a:r>
              <a:rPr lang="sv-SE" sz="2100" dirty="0" err="1"/>
              <a:t>model</a:t>
            </a:r>
            <a:r>
              <a:rPr lang="sv-SE" sz="2100" dirty="0"/>
              <a:t>.</a:t>
            </a:r>
          </a:p>
          <a:p>
            <a:endParaRPr lang="sv-SE" sz="2100" dirty="0"/>
          </a:p>
          <a:p>
            <a:r>
              <a:rPr lang="sv-SE" sz="2100" b="1" dirty="0" err="1"/>
              <a:t>Asynchronous</a:t>
            </a:r>
            <a:r>
              <a:rPr lang="sv-SE" sz="2100" dirty="0"/>
              <a:t> -&gt; </a:t>
            </a:r>
            <a:r>
              <a:rPr lang="sv-SE" sz="2100" dirty="0" err="1"/>
              <a:t>any</a:t>
            </a:r>
            <a:r>
              <a:rPr lang="sv-SE" sz="2100" dirty="0"/>
              <a:t> </a:t>
            </a:r>
            <a:r>
              <a:rPr lang="sv-SE" sz="2100" dirty="0" err="1"/>
              <a:t>change</a:t>
            </a:r>
            <a:r>
              <a:rPr lang="sv-SE" sz="2100" dirty="0"/>
              <a:t> in </a:t>
            </a:r>
            <a:r>
              <a:rPr lang="sv-SE" sz="2100" dirty="0" err="1"/>
              <a:t>turtles</a:t>
            </a:r>
            <a:r>
              <a:rPr lang="sv-SE" sz="2100" dirty="0"/>
              <a:t>’ </a:t>
            </a:r>
            <a:r>
              <a:rPr lang="sv-SE" sz="2100" dirty="0" err="1"/>
              <a:t>states</a:t>
            </a:r>
            <a:r>
              <a:rPr lang="sv-SE" sz="2100" dirty="0"/>
              <a:t> is </a:t>
            </a:r>
            <a:r>
              <a:rPr lang="sv-SE" sz="2100" dirty="0" err="1"/>
              <a:t>immediately</a:t>
            </a:r>
            <a:r>
              <a:rPr lang="sv-SE" sz="2100" dirty="0"/>
              <a:t> </a:t>
            </a:r>
            <a:r>
              <a:rPr lang="sv-SE" sz="2100" dirty="0" err="1"/>
              <a:t>seen</a:t>
            </a:r>
            <a:r>
              <a:rPr lang="sv-SE" sz="2100" dirty="0"/>
              <a:t> by </a:t>
            </a:r>
            <a:r>
              <a:rPr lang="sv-SE" sz="2100" dirty="0" err="1"/>
              <a:t>other</a:t>
            </a:r>
            <a:r>
              <a:rPr lang="sv-SE" sz="2100" dirty="0"/>
              <a:t> agents</a:t>
            </a:r>
          </a:p>
          <a:p>
            <a:r>
              <a:rPr lang="sv-SE" sz="2100" b="1" dirty="0" err="1"/>
              <a:t>Synchronous</a:t>
            </a:r>
            <a:r>
              <a:rPr lang="sv-SE" sz="2100" dirty="0"/>
              <a:t> -&gt; </a:t>
            </a:r>
            <a:r>
              <a:rPr lang="sv-SE" sz="2100" dirty="0" err="1"/>
              <a:t>turtles</a:t>
            </a:r>
            <a:r>
              <a:rPr lang="sv-SE" sz="2100" dirty="0"/>
              <a:t> </a:t>
            </a:r>
            <a:r>
              <a:rPr lang="sv-SE" sz="2100" dirty="0" err="1"/>
              <a:t>can</a:t>
            </a:r>
            <a:r>
              <a:rPr lang="sv-SE" sz="2100" dirty="0"/>
              <a:t> </a:t>
            </a:r>
            <a:r>
              <a:rPr lang="sv-SE" sz="2100" dirty="0" err="1"/>
              <a:t>change</a:t>
            </a:r>
            <a:r>
              <a:rPr lang="sv-SE" sz="2100" dirty="0"/>
              <a:t> </a:t>
            </a:r>
            <a:r>
              <a:rPr lang="sv-SE" sz="2100" dirty="0" err="1"/>
              <a:t>states</a:t>
            </a:r>
            <a:r>
              <a:rPr lang="sv-SE" sz="2100" dirty="0"/>
              <a:t> (</a:t>
            </a:r>
            <a:r>
              <a:rPr lang="sv-SE" sz="2100" dirty="0" err="1"/>
              <a:t>variables</a:t>
            </a:r>
            <a:r>
              <a:rPr lang="sv-SE" sz="2100" dirty="0"/>
              <a:t>) </a:t>
            </a:r>
            <a:r>
              <a:rPr lang="sv-SE" sz="2100" dirty="0" err="1"/>
              <a:t>but</a:t>
            </a:r>
            <a:r>
              <a:rPr lang="sv-SE" sz="2100" dirty="0"/>
              <a:t> </a:t>
            </a:r>
            <a:r>
              <a:rPr lang="sv-SE" sz="2100" dirty="0" err="1"/>
              <a:t>this</a:t>
            </a:r>
            <a:r>
              <a:rPr lang="sv-SE" sz="2100" dirty="0"/>
              <a:t> </a:t>
            </a:r>
            <a:r>
              <a:rPr lang="sv-SE" sz="2100" dirty="0" err="1"/>
              <a:t>change</a:t>
            </a:r>
            <a:r>
              <a:rPr lang="sv-SE" sz="2100" dirty="0"/>
              <a:t> is not </a:t>
            </a:r>
            <a:r>
              <a:rPr lang="sv-SE" sz="2100" dirty="0" err="1"/>
              <a:t>immediately</a:t>
            </a:r>
            <a:r>
              <a:rPr lang="sv-SE" sz="2100" dirty="0"/>
              <a:t> </a:t>
            </a:r>
            <a:r>
              <a:rPr lang="sv-SE" sz="2100" dirty="0" err="1"/>
              <a:t>seen</a:t>
            </a:r>
            <a:r>
              <a:rPr lang="sv-SE" sz="2100" dirty="0"/>
              <a:t> by </a:t>
            </a:r>
            <a:r>
              <a:rPr lang="sv-SE" sz="2100" dirty="0" err="1"/>
              <a:t>other</a:t>
            </a:r>
            <a:r>
              <a:rPr lang="sv-SE" sz="2100" dirty="0"/>
              <a:t> </a:t>
            </a:r>
            <a:r>
              <a:rPr lang="sv-SE" sz="2100" dirty="0" err="1"/>
              <a:t>turtles</a:t>
            </a:r>
            <a:r>
              <a:rPr lang="sv-SE" sz="2100" dirty="0"/>
              <a:t>. It </a:t>
            </a:r>
            <a:r>
              <a:rPr lang="sv-SE" sz="2100" dirty="0" err="1"/>
              <a:t>depends</a:t>
            </a:r>
            <a:r>
              <a:rPr lang="sv-SE" sz="2100" dirty="0"/>
              <a:t> on the </a:t>
            </a:r>
            <a:r>
              <a:rPr lang="sv-SE" sz="2100" dirty="0" err="1"/>
              <a:t>modeler</a:t>
            </a:r>
            <a:r>
              <a:rPr lang="sv-SE" sz="2100" dirty="0"/>
              <a:t> </a:t>
            </a:r>
            <a:r>
              <a:rPr lang="sv-SE" sz="2100" dirty="0" err="1"/>
              <a:t>when</a:t>
            </a:r>
            <a:r>
              <a:rPr lang="sv-SE" sz="2100" dirty="0"/>
              <a:t> </a:t>
            </a:r>
            <a:r>
              <a:rPr lang="sv-SE" sz="2100" dirty="0" err="1"/>
              <a:t>this</a:t>
            </a:r>
            <a:r>
              <a:rPr lang="sv-SE" sz="2100" dirty="0"/>
              <a:t> </a:t>
            </a:r>
            <a:r>
              <a:rPr lang="sv-SE" sz="2100" dirty="0" err="1"/>
              <a:t>updating</a:t>
            </a:r>
            <a:r>
              <a:rPr lang="sv-SE" sz="2100" dirty="0"/>
              <a:t> </a:t>
            </a:r>
            <a:r>
              <a:rPr lang="sv-SE" sz="2100" dirty="0" err="1"/>
              <a:t>takes</a:t>
            </a:r>
            <a:r>
              <a:rPr lang="sv-SE" sz="2100" dirty="0"/>
              <a:t> </a:t>
            </a:r>
            <a:r>
              <a:rPr lang="sv-SE" sz="2100" dirty="0" err="1"/>
              <a:t>place</a:t>
            </a:r>
            <a:r>
              <a:rPr lang="sv-SE" sz="2100" dirty="0"/>
              <a:t>.</a:t>
            </a:r>
          </a:p>
          <a:p>
            <a:endParaRPr lang="sv-SE" sz="2100" dirty="0"/>
          </a:p>
          <a:p>
            <a:r>
              <a:rPr lang="sv-SE" sz="2100" b="1" dirty="0" err="1"/>
              <a:t>Sequential</a:t>
            </a:r>
            <a:r>
              <a:rPr lang="sv-SE" sz="2100" dirty="0"/>
              <a:t> -&gt; agents </a:t>
            </a:r>
            <a:r>
              <a:rPr lang="sv-SE" sz="2100" dirty="0" err="1"/>
              <a:t>act</a:t>
            </a:r>
            <a:r>
              <a:rPr lang="sv-SE" sz="2100" dirty="0"/>
              <a:t> </a:t>
            </a:r>
            <a:r>
              <a:rPr lang="sv-SE" sz="2100" dirty="0" err="1"/>
              <a:t>once</a:t>
            </a:r>
            <a:r>
              <a:rPr lang="sv-SE" sz="2100" dirty="0"/>
              <a:t> at a </a:t>
            </a:r>
            <a:r>
              <a:rPr lang="sv-SE" sz="2100" dirty="0" err="1"/>
              <a:t>time</a:t>
            </a:r>
            <a:endParaRPr lang="sv-SE" sz="2100" dirty="0"/>
          </a:p>
          <a:p>
            <a:r>
              <a:rPr lang="sv-SE" sz="2100" b="1" dirty="0" err="1"/>
              <a:t>Parallel</a:t>
            </a:r>
            <a:r>
              <a:rPr lang="sv-SE" sz="2100" dirty="0"/>
              <a:t> -&gt; agents </a:t>
            </a:r>
            <a:r>
              <a:rPr lang="sv-SE" sz="2100" dirty="0" err="1"/>
              <a:t>could</a:t>
            </a:r>
            <a:r>
              <a:rPr lang="sv-SE" sz="2100" dirty="0"/>
              <a:t> </a:t>
            </a:r>
            <a:r>
              <a:rPr lang="sv-SE" sz="2100" dirty="0" err="1"/>
              <a:t>act</a:t>
            </a:r>
            <a:r>
              <a:rPr lang="sv-SE" sz="2100" dirty="0"/>
              <a:t> at the same </a:t>
            </a:r>
            <a:r>
              <a:rPr lang="sv-SE" sz="2100" dirty="0" err="1"/>
              <a:t>time</a:t>
            </a:r>
            <a:r>
              <a:rPr lang="sv-SE" sz="2100" dirty="0"/>
              <a:t>.</a:t>
            </a:r>
          </a:p>
          <a:p>
            <a:endParaRPr lang="sv-SE" sz="2100" dirty="0"/>
          </a:p>
          <a:p>
            <a:r>
              <a:rPr lang="sv-SE" sz="2100" dirty="0" err="1">
                <a:solidFill>
                  <a:srgbClr val="FF0000"/>
                </a:solidFill>
              </a:rPr>
              <a:t>Asynchronous</a:t>
            </a:r>
            <a:r>
              <a:rPr lang="sv-SE" sz="2100" dirty="0">
                <a:solidFill>
                  <a:srgbClr val="FF0000"/>
                </a:solidFill>
              </a:rPr>
              <a:t> </a:t>
            </a:r>
            <a:r>
              <a:rPr lang="sv-SE" sz="2100" dirty="0" err="1">
                <a:solidFill>
                  <a:srgbClr val="FF0000"/>
                </a:solidFill>
              </a:rPr>
              <a:t>sequential</a:t>
            </a:r>
            <a:r>
              <a:rPr lang="sv-SE" sz="2100" dirty="0">
                <a:solidFill>
                  <a:srgbClr val="FF0000"/>
                </a:solidFill>
              </a:rPr>
              <a:t> </a:t>
            </a:r>
            <a:r>
              <a:rPr lang="sv-SE" sz="2100" dirty="0" err="1"/>
              <a:t>schedules</a:t>
            </a:r>
            <a:r>
              <a:rPr lang="sv-SE" sz="2100" dirty="0"/>
              <a:t> </a:t>
            </a:r>
            <a:r>
              <a:rPr lang="sv-SE" sz="2100" dirty="0" err="1"/>
              <a:t>are</a:t>
            </a:r>
            <a:r>
              <a:rPr lang="sv-SE" sz="2100" dirty="0"/>
              <a:t> the standard </a:t>
            </a:r>
            <a:r>
              <a:rPr lang="sv-SE" sz="2100" dirty="0" err="1"/>
              <a:t>schedule</a:t>
            </a:r>
            <a:r>
              <a:rPr lang="sv-SE" sz="2100" dirty="0"/>
              <a:t> in </a:t>
            </a:r>
            <a:r>
              <a:rPr lang="sv-SE" sz="2100" dirty="0" err="1"/>
              <a:t>most</a:t>
            </a:r>
            <a:r>
              <a:rPr lang="sv-SE" sz="2100" dirty="0"/>
              <a:t> </a:t>
            </a:r>
            <a:r>
              <a:rPr lang="sv-SE" sz="2100" dirty="0" err="1"/>
              <a:t>of</a:t>
            </a:r>
            <a:r>
              <a:rPr lang="sv-SE" sz="2100" dirty="0"/>
              <a:t> the ABMs.</a:t>
            </a:r>
          </a:p>
        </p:txBody>
      </p:sp>
    </p:spTree>
    <p:extLst>
      <p:ext uri="{BB962C8B-B14F-4D97-AF65-F5344CB8AC3E}">
        <p14:creationId xmlns:p14="http://schemas.microsoft.com/office/powerpoint/2010/main" val="1134222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3000" dirty="0" err="1">
                <a:solidFill>
                  <a:schemeClr val="bg1"/>
                </a:solidFill>
              </a:rPr>
              <a:t>Flow</a:t>
            </a:r>
            <a:r>
              <a:rPr lang="sv-SE" sz="30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sv-SE" sz="3000" dirty="0" err="1">
                <a:solidFill>
                  <a:schemeClr val="bg1"/>
                </a:solidFill>
              </a:rPr>
              <a:t>chart</a:t>
            </a:r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2456761" y="1136641"/>
            <a:ext cx="1573806" cy="449788"/>
          </a:xfrm>
          <a:prstGeom prst="parallelogram">
            <a:avLst/>
          </a:prstGeom>
        </p:spPr>
        <p:style>
          <a:lnRef idx="0">
            <a:schemeClr val="accent5"/>
          </a:lnRef>
          <a:fillRef idx="1003">
            <a:schemeClr val="lt2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Agents</a:t>
            </a:r>
            <a:endParaRPr lang="en-US" sz="1200" dirty="0"/>
          </a:p>
        </p:txBody>
      </p:sp>
      <p:sp>
        <p:nvSpPr>
          <p:cNvPr id="4" name="Rectangle 3"/>
          <p:cNvSpPr/>
          <p:nvPr/>
        </p:nvSpPr>
        <p:spPr>
          <a:xfrm>
            <a:off x="2456762" y="2519119"/>
            <a:ext cx="1674564" cy="280423"/>
          </a:xfrm>
          <a:prstGeom prst="rect">
            <a:avLst/>
          </a:prstGeom>
        </p:spPr>
        <p:style>
          <a:lnRef idx="0">
            <a:schemeClr val="accent5"/>
          </a:lnRef>
          <a:fillRef idx="1003">
            <a:schemeClr val="lt2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Check </a:t>
            </a:r>
            <a:r>
              <a:rPr lang="sv-SE" sz="1200" dirty="0" err="1"/>
              <a:t>if</a:t>
            </a:r>
            <a:r>
              <a:rPr lang="sv-SE" sz="1200" dirty="0"/>
              <a:t> has </a:t>
            </a:r>
            <a:r>
              <a:rPr lang="sv-SE" sz="1200" dirty="0" err="1"/>
              <a:t>money</a:t>
            </a:r>
            <a:r>
              <a:rPr lang="sv-SE" sz="1200" dirty="0"/>
              <a:t>?</a:t>
            </a:r>
            <a:endParaRPr lang="en-US" sz="1200" dirty="0"/>
          </a:p>
        </p:txBody>
      </p:sp>
      <p:sp>
        <p:nvSpPr>
          <p:cNvPr id="5" name="Diamond 4"/>
          <p:cNvSpPr/>
          <p:nvPr/>
        </p:nvSpPr>
        <p:spPr>
          <a:xfrm>
            <a:off x="2538468" y="3122033"/>
            <a:ext cx="1421177" cy="672029"/>
          </a:xfrm>
          <a:prstGeom prst="diamond">
            <a:avLst/>
          </a:prstGeom>
        </p:spPr>
        <p:style>
          <a:lnRef idx="0">
            <a:schemeClr val="accent5"/>
          </a:lnRef>
          <a:fillRef idx="1003">
            <a:schemeClr val="lt2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Money?</a:t>
            </a:r>
            <a:endParaRPr lang="en-US" sz="1200" dirty="0"/>
          </a:p>
        </p:txBody>
      </p:sp>
      <p:sp>
        <p:nvSpPr>
          <p:cNvPr id="10" name="Rectangle 9"/>
          <p:cNvSpPr/>
          <p:nvPr/>
        </p:nvSpPr>
        <p:spPr>
          <a:xfrm>
            <a:off x="4581461" y="3317835"/>
            <a:ext cx="732988" cy="280423"/>
          </a:xfrm>
          <a:prstGeom prst="rect">
            <a:avLst/>
          </a:prstGeom>
        </p:spPr>
        <p:style>
          <a:lnRef idx="0">
            <a:schemeClr val="accent5"/>
          </a:lnRef>
          <a:fillRef idx="1003">
            <a:schemeClr val="lt2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nothing</a:t>
            </a:r>
            <a:endParaRPr lang="en-US" sz="1200" dirty="0"/>
          </a:p>
        </p:txBody>
      </p:sp>
      <p:sp>
        <p:nvSpPr>
          <p:cNvPr id="11" name="Rectangle 10"/>
          <p:cNvSpPr/>
          <p:nvPr/>
        </p:nvSpPr>
        <p:spPr>
          <a:xfrm>
            <a:off x="2456761" y="4105264"/>
            <a:ext cx="1658959" cy="307229"/>
          </a:xfrm>
          <a:prstGeom prst="rect">
            <a:avLst/>
          </a:prstGeom>
        </p:spPr>
        <p:style>
          <a:lnRef idx="0">
            <a:schemeClr val="accent5"/>
          </a:lnRef>
          <a:fillRef idx="1003">
            <a:schemeClr val="lt2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Chooses</a:t>
            </a:r>
            <a:r>
              <a:rPr lang="sv-SE" sz="1200" dirty="0"/>
              <a:t> </a:t>
            </a:r>
            <a:r>
              <a:rPr lang="sv-SE" sz="1200" dirty="0" err="1"/>
              <a:t>other</a:t>
            </a:r>
            <a:r>
              <a:rPr lang="sv-SE" sz="1200" dirty="0"/>
              <a:t> agent</a:t>
            </a:r>
            <a:endParaRPr lang="en-US" sz="1200" dirty="0"/>
          </a:p>
        </p:txBody>
      </p:sp>
      <p:sp>
        <p:nvSpPr>
          <p:cNvPr id="12" name="Rectangle 11"/>
          <p:cNvSpPr/>
          <p:nvPr/>
        </p:nvSpPr>
        <p:spPr>
          <a:xfrm>
            <a:off x="2654052" y="4716548"/>
            <a:ext cx="1196250" cy="268281"/>
          </a:xfrm>
          <a:prstGeom prst="rect">
            <a:avLst/>
          </a:prstGeom>
        </p:spPr>
        <p:style>
          <a:lnRef idx="0">
            <a:schemeClr val="accent5"/>
          </a:lnRef>
          <a:fillRef idx="1003">
            <a:schemeClr val="lt2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Give</a:t>
            </a:r>
            <a:r>
              <a:rPr lang="sv-SE" sz="1200" dirty="0"/>
              <a:t> </a:t>
            </a:r>
            <a:r>
              <a:rPr lang="sv-SE" sz="1200" dirty="0" err="1"/>
              <a:t>one</a:t>
            </a:r>
            <a:r>
              <a:rPr lang="sv-SE" sz="1200" dirty="0"/>
              <a:t> euro</a:t>
            </a:r>
            <a:endParaRPr lang="en-US" sz="1200" dirty="0"/>
          </a:p>
        </p:txBody>
      </p:sp>
      <p:sp>
        <p:nvSpPr>
          <p:cNvPr id="18" name="Rectangle 17"/>
          <p:cNvSpPr/>
          <p:nvPr/>
        </p:nvSpPr>
        <p:spPr>
          <a:xfrm>
            <a:off x="2456762" y="1866986"/>
            <a:ext cx="1573806" cy="277428"/>
          </a:xfrm>
          <a:prstGeom prst="rect">
            <a:avLst/>
          </a:prstGeom>
        </p:spPr>
        <p:style>
          <a:lnRef idx="0">
            <a:schemeClr val="accent5"/>
          </a:lnRef>
          <a:fillRef idx="1003">
            <a:schemeClr val="lt2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Pick </a:t>
            </a:r>
            <a:r>
              <a:rPr lang="sv-SE" sz="1200" dirty="0" err="1"/>
              <a:t>one</a:t>
            </a:r>
            <a:r>
              <a:rPr lang="sv-SE" sz="1200" dirty="0"/>
              <a:t> agent…</a:t>
            </a:r>
            <a:endParaRPr lang="en-US" sz="1200" dirty="0"/>
          </a:p>
        </p:txBody>
      </p:sp>
      <p:sp>
        <p:nvSpPr>
          <p:cNvPr id="19" name="Diamond 18"/>
          <p:cNvSpPr/>
          <p:nvPr/>
        </p:nvSpPr>
        <p:spPr>
          <a:xfrm>
            <a:off x="2307230" y="5297456"/>
            <a:ext cx="1911427" cy="781305"/>
          </a:xfrm>
          <a:prstGeom prst="diamond">
            <a:avLst/>
          </a:prstGeom>
        </p:spPr>
        <p:style>
          <a:lnRef idx="0">
            <a:schemeClr val="accent5"/>
          </a:lnRef>
          <a:fillRef idx="1003">
            <a:schemeClr val="lt2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All agents </a:t>
            </a:r>
            <a:r>
              <a:rPr lang="sv-SE" sz="1200" dirty="0" err="1"/>
              <a:t>have</a:t>
            </a:r>
            <a:r>
              <a:rPr lang="sv-SE" sz="1200" dirty="0"/>
              <a:t> </a:t>
            </a:r>
            <a:r>
              <a:rPr lang="sv-SE" sz="1200" dirty="0" err="1"/>
              <a:t>been</a:t>
            </a:r>
            <a:r>
              <a:rPr lang="sv-SE" sz="1200" dirty="0"/>
              <a:t> </a:t>
            </a:r>
            <a:r>
              <a:rPr lang="sv-SE" sz="1200" dirty="0" err="1"/>
              <a:t>asked</a:t>
            </a:r>
            <a:endParaRPr lang="en-US" sz="1200" dirty="0"/>
          </a:p>
        </p:txBody>
      </p:sp>
      <p:sp>
        <p:nvSpPr>
          <p:cNvPr id="20" name="Rectangle 19"/>
          <p:cNvSpPr/>
          <p:nvPr/>
        </p:nvSpPr>
        <p:spPr>
          <a:xfrm>
            <a:off x="2201810" y="6206260"/>
            <a:ext cx="461057" cy="1881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no</a:t>
            </a:r>
            <a:endParaRPr lang="en-US" sz="1200" dirty="0"/>
          </a:p>
        </p:txBody>
      </p:sp>
      <p:sp>
        <p:nvSpPr>
          <p:cNvPr id="21" name="Rectangle 20"/>
          <p:cNvSpPr/>
          <p:nvPr/>
        </p:nvSpPr>
        <p:spPr>
          <a:xfrm>
            <a:off x="3757600" y="6218843"/>
            <a:ext cx="461057" cy="188108"/>
          </a:xfrm>
          <a:prstGeom prst="rect">
            <a:avLst/>
          </a:prstGeom>
        </p:spPr>
        <p:style>
          <a:lnRef idx="0">
            <a:schemeClr val="accent5"/>
          </a:lnRef>
          <a:fillRef idx="1003">
            <a:schemeClr val="lt2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yes</a:t>
            </a:r>
            <a:endParaRPr lang="en-US" sz="1200" dirty="0"/>
          </a:p>
        </p:txBody>
      </p:sp>
      <p:cxnSp>
        <p:nvCxnSpPr>
          <p:cNvPr id="22" name="Straight Arrow Connector 21"/>
          <p:cNvCxnSpPr>
            <a:stCxn id="3" idx="4"/>
            <a:endCxn id="18" idx="0"/>
          </p:cNvCxnSpPr>
          <p:nvPr/>
        </p:nvCxnSpPr>
        <p:spPr>
          <a:xfrm>
            <a:off x="3243664" y="1586429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243663" y="2213973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3245841" y="2830545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3243662" y="3787887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4030567" y="3444850"/>
            <a:ext cx="3761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252177" y="4414482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3252177" y="5000864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2538468" y="5952584"/>
            <a:ext cx="248799" cy="195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3770638" y="5973306"/>
            <a:ext cx="189007" cy="213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300249" y="3762972"/>
            <a:ext cx="389594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 err="1"/>
              <a:t>yes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3986957" y="3157251"/>
            <a:ext cx="346570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no</a:t>
            </a:r>
            <a:endParaRPr lang="en-US" sz="1200" dirty="0"/>
          </a:p>
        </p:txBody>
      </p:sp>
      <p:cxnSp>
        <p:nvCxnSpPr>
          <p:cNvPr id="38" name="Elbow Connector 37"/>
          <p:cNvCxnSpPr/>
          <p:nvPr/>
        </p:nvCxnSpPr>
        <p:spPr>
          <a:xfrm rot="16200000" flipV="1">
            <a:off x="4015205" y="2246848"/>
            <a:ext cx="1132512" cy="729298"/>
          </a:xfrm>
          <a:prstGeom prst="bentConnector3">
            <a:avLst>
              <a:gd name="adj1" fmla="val 99612"/>
            </a:avLst>
          </a:prstGeom>
          <a:ln>
            <a:prstDash val="dash"/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Elbow Connector 42"/>
          <p:cNvCxnSpPr/>
          <p:nvPr/>
        </p:nvCxnSpPr>
        <p:spPr>
          <a:xfrm rot="5400000" flipH="1" flipV="1">
            <a:off x="30876" y="4023961"/>
            <a:ext cx="4294614" cy="258093"/>
          </a:xfrm>
          <a:prstGeom prst="bentConnector3">
            <a:avLst>
              <a:gd name="adj1" fmla="val 100023"/>
            </a:avLst>
          </a:prstGeom>
          <a:ln>
            <a:prstDash val="dash"/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4655108" y="6121547"/>
            <a:ext cx="1026957" cy="372651"/>
          </a:xfrm>
          <a:prstGeom prst="rect">
            <a:avLst/>
          </a:prstGeom>
        </p:spPr>
        <p:style>
          <a:lnRef idx="0">
            <a:schemeClr val="accent5"/>
          </a:lnRef>
          <a:fillRef idx="1003">
            <a:schemeClr val="lt2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Income</a:t>
            </a:r>
            <a:r>
              <a:rPr lang="sv-SE" sz="1200" dirty="0"/>
              <a:t> </a:t>
            </a:r>
          </a:p>
          <a:p>
            <a:pPr algn="ctr"/>
            <a:r>
              <a:rPr lang="sv-SE" sz="1200" dirty="0"/>
              <a:t>distribution</a:t>
            </a:r>
            <a:endParaRPr lang="en-US" sz="1200" dirty="0"/>
          </a:p>
        </p:txBody>
      </p:sp>
      <p:cxnSp>
        <p:nvCxnSpPr>
          <p:cNvPr id="49" name="Straight Arrow Connector 48"/>
          <p:cNvCxnSpPr/>
          <p:nvPr/>
        </p:nvCxnSpPr>
        <p:spPr>
          <a:xfrm>
            <a:off x="4333527" y="6300314"/>
            <a:ext cx="2479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041120" y="1129808"/>
            <a:ext cx="1143133" cy="4616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003">
            <a:schemeClr val="lt2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Agent </a:t>
            </a:r>
            <a:r>
              <a:rPr lang="sv-SE" sz="1200" dirty="0" err="1"/>
              <a:t>types</a:t>
            </a:r>
            <a:endParaRPr lang="en-US" sz="1200" dirty="0"/>
          </a:p>
          <a:p>
            <a:r>
              <a:rPr lang="sv-SE" sz="1200" dirty="0"/>
              <a:t>Agent </a:t>
            </a:r>
            <a:r>
              <a:rPr lang="sv-SE" sz="1200" dirty="0" err="1"/>
              <a:t>variables</a:t>
            </a:r>
            <a:endParaRPr lang="sv-SE" sz="1200" dirty="0"/>
          </a:p>
        </p:txBody>
      </p:sp>
      <p:sp>
        <p:nvSpPr>
          <p:cNvPr id="53" name="TextBox 52"/>
          <p:cNvSpPr txBox="1"/>
          <p:nvPr/>
        </p:nvSpPr>
        <p:spPr>
          <a:xfrm>
            <a:off x="4813591" y="5754247"/>
            <a:ext cx="609462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output</a:t>
            </a:r>
            <a:endParaRPr lang="en-US" sz="1200" dirty="0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5829985" y="6300314"/>
            <a:ext cx="2479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118516" y="5892746"/>
            <a:ext cx="1215024" cy="646331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sv-SE" sz="1200" dirty="0" err="1"/>
              <a:t>Fist</a:t>
            </a:r>
            <a:r>
              <a:rPr lang="sv-SE" sz="1200" dirty="0"/>
              <a:t> </a:t>
            </a:r>
            <a:r>
              <a:rPr lang="sv-SE" sz="1200" dirty="0" err="1"/>
              <a:t>model</a:t>
            </a:r>
            <a:r>
              <a:rPr lang="sv-SE" sz="1200" dirty="0"/>
              <a:t> round/</a:t>
            </a:r>
            <a:r>
              <a:rPr lang="sv-SE" sz="1200" dirty="0" err="1"/>
              <a:t>time</a:t>
            </a:r>
            <a:r>
              <a:rPr lang="sv-SE" sz="1200" dirty="0"/>
              <a:t>/tick </a:t>
            </a:r>
          </a:p>
          <a:p>
            <a:r>
              <a:rPr lang="sv-SE" sz="1200" dirty="0"/>
              <a:t>has </a:t>
            </a:r>
            <a:r>
              <a:rPr lang="sv-SE" sz="1200" dirty="0" err="1"/>
              <a:t>finished</a:t>
            </a:r>
            <a:endParaRPr lang="sv-SE" sz="1200" dirty="0"/>
          </a:p>
        </p:txBody>
      </p:sp>
      <p:sp>
        <p:nvSpPr>
          <p:cNvPr id="40" name="TextBox 39"/>
          <p:cNvSpPr txBox="1"/>
          <p:nvPr/>
        </p:nvSpPr>
        <p:spPr>
          <a:xfrm>
            <a:off x="6077919" y="4165627"/>
            <a:ext cx="1291745" cy="646331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sv-SE" sz="1200" dirty="0"/>
              <a:t>Go the second round/</a:t>
            </a:r>
            <a:r>
              <a:rPr lang="sv-SE" sz="1200" dirty="0" err="1"/>
              <a:t>time</a:t>
            </a:r>
            <a:r>
              <a:rPr lang="sv-SE" sz="1200" dirty="0"/>
              <a:t>/tick</a:t>
            </a:r>
          </a:p>
          <a:p>
            <a:r>
              <a:rPr lang="sv-SE" sz="1200" dirty="0" err="1"/>
              <a:t>of</a:t>
            </a:r>
            <a:r>
              <a:rPr lang="sv-SE" sz="1200" dirty="0"/>
              <a:t> the </a:t>
            </a:r>
            <a:r>
              <a:rPr lang="sv-SE" sz="1200" dirty="0" err="1"/>
              <a:t>model</a:t>
            </a:r>
            <a:endParaRPr lang="sv-SE" sz="1200" dirty="0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6610120" y="4988842"/>
            <a:ext cx="0" cy="617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7861106" y="2519119"/>
            <a:ext cx="1674564" cy="28042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Check </a:t>
            </a:r>
            <a:r>
              <a:rPr lang="sv-SE" sz="1200" dirty="0" err="1"/>
              <a:t>if</a:t>
            </a:r>
            <a:r>
              <a:rPr lang="sv-SE" sz="1200" dirty="0"/>
              <a:t> has </a:t>
            </a:r>
            <a:r>
              <a:rPr lang="sv-SE" sz="1200" dirty="0" err="1"/>
              <a:t>money</a:t>
            </a:r>
            <a:r>
              <a:rPr lang="sv-SE" sz="1200" dirty="0"/>
              <a:t>?</a:t>
            </a:r>
            <a:endParaRPr lang="en-US" sz="1200" dirty="0"/>
          </a:p>
        </p:txBody>
      </p:sp>
      <p:sp>
        <p:nvSpPr>
          <p:cNvPr id="44" name="Diamond 43"/>
          <p:cNvSpPr/>
          <p:nvPr/>
        </p:nvSpPr>
        <p:spPr>
          <a:xfrm>
            <a:off x="7942812" y="3122033"/>
            <a:ext cx="1421177" cy="672029"/>
          </a:xfrm>
          <a:prstGeom prst="diamon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Money?</a:t>
            </a:r>
            <a:endParaRPr lang="en-US" sz="1200" dirty="0"/>
          </a:p>
        </p:txBody>
      </p:sp>
      <p:sp>
        <p:nvSpPr>
          <p:cNvPr id="46" name="Rectangle 45"/>
          <p:cNvSpPr/>
          <p:nvPr/>
        </p:nvSpPr>
        <p:spPr>
          <a:xfrm>
            <a:off x="9985805" y="3317835"/>
            <a:ext cx="732988" cy="28042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nothing</a:t>
            </a:r>
            <a:endParaRPr lang="en-US" sz="1200" dirty="0"/>
          </a:p>
        </p:txBody>
      </p:sp>
      <p:sp>
        <p:nvSpPr>
          <p:cNvPr id="47" name="Rectangle 46"/>
          <p:cNvSpPr/>
          <p:nvPr/>
        </p:nvSpPr>
        <p:spPr>
          <a:xfrm>
            <a:off x="7861105" y="4105264"/>
            <a:ext cx="1658959" cy="30722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Choose</a:t>
            </a:r>
            <a:r>
              <a:rPr lang="sv-SE" sz="1200" dirty="0"/>
              <a:t> </a:t>
            </a:r>
            <a:r>
              <a:rPr lang="sv-SE" sz="1200" dirty="0" err="1"/>
              <a:t>another</a:t>
            </a:r>
            <a:r>
              <a:rPr lang="sv-SE" sz="1200" dirty="0"/>
              <a:t> agent</a:t>
            </a:r>
            <a:endParaRPr lang="en-US" sz="1200" dirty="0"/>
          </a:p>
        </p:txBody>
      </p:sp>
      <p:sp>
        <p:nvSpPr>
          <p:cNvPr id="48" name="Rectangle 47"/>
          <p:cNvSpPr/>
          <p:nvPr/>
        </p:nvSpPr>
        <p:spPr>
          <a:xfrm>
            <a:off x="8058396" y="4716548"/>
            <a:ext cx="1196250" cy="26828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Give</a:t>
            </a:r>
            <a:r>
              <a:rPr lang="sv-SE" sz="1200" dirty="0"/>
              <a:t> </a:t>
            </a:r>
            <a:r>
              <a:rPr lang="sv-SE" sz="1200" dirty="0" err="1"/>
              <a:t>one</a:t>
            </a:r>
            <a:r>
              <a:rPr lang="sv-SE" sz="1200" dirty="0"/>
              <a:t> euro</a:t>
            </a:r>
            <a:endParaRPr lang="en-US" sz="1200" dirty="0"/>
          </a:p>
        </p:txBody>
      </p:sp>
      <p:sp>
        <p:nvSpPr>
          <p:cNvPr id="50" name="Rectangle 49"/>
          <p:cNvSpPr/>
          <p:nvPr/>
        </p:nvSpPr>
        <p:spPr>
          <a:xfrm>
            <a:off x="7861106" y="1866986"/>
            <a:ext cx="1573806" cy="27742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Pick </a:t>
            </a:r>
            <a:r>
              <a:rPr lang="sv-SE" sz="1200" dirty="0" err="1"/>
              <a:t>one</a:t>
            </a:r>
            <a:r>
              <a:rPr lang="sv-SE" sz="1200" dirty="0"/>
              <a:t> agent…</a:t>
            </a:r>
            <a:endParaRPr lang="en-US" sz="1200" dirty="0"/>
          </a:p>
        </p:txBody>
      </p:sp>
      <p:sp>
        <p:nvSpPr>
          <p:cNvPr id="51" name="Diamond 50"/>
          <p:cNvSpPr/>
          <p:nvPr/>
        </p:nvSpPr>
        <p:spPr>
          <a:xfrm>
            <a:off x="7711574" y="5297456"/>
            <a:ext cx="1911427" cy="781305"/>
          </a:xfrm>
          <a:prstGeom prst="diamon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All agents </a:t>
            </a:r>
            <a:r>
              <a:rPr lang="sv-SE" sz="1200" dirty="0" err="1"/>
              <a:t>have</a:t>
            </a:r>
            <a:r>
              <a:rPr lang="sv-SE" sz="1200" dirty="0"/>
              <a:t> </a:t>
            </a:r>
            <a:r>
              <a:rPr lang="sv-SE" sz="1200" dirty="0" err="1"/>
              <a:t>been</a:t>
            </a:r>
            <a:r>
              <a:rPr lang="sv-SE" sz="1200" dirty="0"/>
              <a:t> </a:t>
            </a:r>
            <a:r>
              <a:rPr lang="sv-SE" sz="1200" dirty="0" err="1"/>
              <a:t>asked</a:t>
            </a:r>
            <a:endParaRPr lang="en-US" sz="1200" dirty="0"/>
          </a:p>
        </p:txBody>
      </p:sp>
      <p:sp>
        <p:nvSpPr>
          <p:cNvPr id="58" name="Rectangle 57"/>
          <p:cNvSpPr/>
          <p:nvPr/>
        </p:nvSpPr>
        <p:spPr>
          <a:xfrm>
            <a:off x="7606154" y="6206260"/>
            <a:ext cx="461057" cy="1881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no</a:t>
            </a:r>
            <a:endParaRPr lang="en-US" sz="1200" dirty="0"/>
          </a:p>
        </p:txBody>
      </p:sp>
      <p:sp>
        <p:nvSpPr>
          <p:cNvPr id="59" name="Rectangle 58"/>
          <p:cNvSpPr/>
          <p:nvPr/>
        </p:nvSpPr>
        <p:spPr>
          <a:xfrm>
            <a:off x="9161944" y="6218843"/>
            <a:ext cx="461057" cy="18810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yes</a:t>
            </a:r>
            <a:endParaRPr lang="en-US" sz="1200" dirty="0"/>
          </a:p>
        </p:txBody>
      </p:sp>
      <p:cxnSp>
        <p:nvCxnSpPr>
          <p:cNvPr id="60" name="Straight Arrow Connector 59"/>
          <p:cNvCxnSpPr/>
          <p:nvPr/>
        </p:nvCxnSpPr>
        <p:spPr>
          <a:xfrm>
            <a:off x="8648007" y="2213973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8650185" y="2830545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8648006" y="3787887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9434911" y="3444850"/>
            <a:ext cx="3761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8656521" y="4414482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8656521" y="5000864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H="1">
            <a:off x="7942812" y="5952584"/>
            <a:ext cx="248799" cy="195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>
            <a:off x="9174982" y="5973306"/>
            <a:ext cx="189007" cy="213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8704593" y="3762972"/>
            <a:ext cx="389594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 err="1"/>
              <a:t>yes</a:t>
            </a:r>
            <a:endParaRPr lang="en-US" sz="1200" dirty="0"/>
          </a:p>
        </p:txBody>
      </p:sp>
      <p:sp>
        <p:nvSpPr>
          <p:cNvPr id="69" name="TextBox 68"/>
          <p:cNvSpPr txBox="1"/>
          <p:nvPr/>
        </p:nvSpPr>
        <p:spPr>
          <a:xfrm>
            <a:off x="9391301" y="3157251"/>
            <a:ext cx="346570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no</a:t>
            </a:r>
            <a:endParaRPr lang="en-US" sz="1200" dirty="0"/>
          </a:p>
        </p:txBody>
      </p:sp>
      <p:cxnSp>
        <p:nvCxnSpPr>
          <p:cNvPr id="70" name="Elbow Connector 69"/>
          <p:cNvCxnSpPr/>
          <p:nvPr/>
        </p:nvCxnSpPr>
        <p:spPr>
          <a:xfrm rot="16200000" flipV="1">
            <a:off x="9419549" y="2246848"/>
            <a:ext cx="1132512" cy="729298"/>
          </a:xfrm>
          <a:prstGeom prst="bentConnector3">
            <a:avLst>
              <a:gd name="adj1" fmla="val 99612"/>
            </a:avLst>
          </a:prstGeom>
          <a:ln>
            <a:prstDash val="dash"/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Elbow Connector 70"/>
          <p:cNvCxnSpPr/>
          <p:nvPr/>
        </p:nvCxnSpPr>
        <p:spPr>
          <a:xfrm rot="5400000" flipH="1" flipV="1">
            <a:off x="5435220" y="4023961"/>
            <a:ext cx="4294614" cy="258093"/>
          </a:xfrm>
          <a:prstGeom prst="bentConnector3">
            <a:avLst>
              <a:gd name="adj1" fmla="val 100023"/>
            </a:avLst>
          </a:prstGeom>
          <a:ln>
            <a:prstDash val="dash"/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10059452" y="6121547"/>
            <a:ext cx="1026957" cy="37265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Income</a:t>
            </a:r>
            <a:r>
              <a:rPr lang="sv-SE" sz="1200" dirty="0"/>
              <a:t> </a:t>
            </a:r>
          </a:p>
          <a:p>
            <a:pPr algn="ctr"/>
            <a:r>
              <a:rPr lang="sv-SE" sz="1200" dirty="0"/>
              <a:t>distribution</a:t>
            </a:r>
            <a:endParaRPr lang="en-US" sz="1200" dirty="0"/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9737871" y="6300314"/>
            <a:ext cx="2479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0217935" y="5754247"/>
            <a:ext cx="609462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output</a:t>
            </a:r>
            <a:endParaRPr lang="en-US" sz="1200" dirty="0"/>
          </a:p>
        </p:txBody>
      </p:sp>
      <p:cxnSp>
        <p:nvCxnSpPr>
          <p:cNvPr id="9" name="Elbow Connector 8"/>
          <p:cNvCxnSpPr/>
          <p:nvPr/>
        </p:nvCxnSpPr>
        <p:spPr>
          <a:xfrm rot="5400000" flipH="1" flipV="1">
            <a:off x="6574783" y="1766383"/>
            <a:ext cx="2135875" cy="2065200"/>
          </a:xfrm>
          <a:prstGeom prst="bentConnector3">
            <a:avLst>
              <a:gd name="adj1" fmla="val 120665"/>
            </a:avLst>
          </a:prstGeom>
          <a:ln>
            <a:prstDash val="dash"/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11336583" y="6300314"/>
            <a:ext cx="6607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1427934" y="6002274"/>
            <a:ext cx="319318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N </a:t>
            </a:r>
            <a:endParaRPr lang="en-US" sz="1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12DC4E-FA51-4F81-9811-1449441B9B84}"/>
              </a:ext>
            </a:extLst>
          </p:cNvPr>
          <p:cNvSpPr/>
          <p:nvPr/>
        </p:nvSpPr>
        <p:spPr>
          <a:xfrm>
            <a:off x="4030055" y="4708989"/>
            <a:ext cx="2036418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sv-SE" dirty="0" err="1"/>
              <a:t>Netlogo</a:t>
            </a:r>
            <a:r>
              <a:rPr lang="sv-SE" dirty="0"/>
              <a:t> primitive "tick" -&gt; </a:t>
            </a:r>
            <a:r>
              <a:rPr lang="sv-SE" dirty="0" err="1"/>
              <a:t>count</a:t>
            </a:r>
            <a:r>
              <a:rPr lang="sv-SE" dirty="0"/>
              <a:t> </a:t>
            </a:r>
            <a:r>
              <a:rPr lang="sv-SE" dirty="0" err="1"/>
              <a:t>one</a:t>
            </a:r>
            <a:r>
              <a:rPr lang="sv-SE" dirty="0"/>
              <a:t> </a:t>
            </a:r>
            <a:r>
              <a:rPr lang="sv-SE" dirty="0" err="1"/>
              <a:t>time</a:t>
            </a:r>
            <a:r>
              <a:rPr lang="sv-SE" dirty="0"/>
              <a:t> and </a:t>
            </a:r>
            <a:r>
              <a:rPr lang="sv-SE" dirty="0" err="1"/>
              <a:t>update</a:t>
            </a:r>
            <a:r>
              <a:rPr lang="sv-SE" dirty="0"/>
              <a:t> </a:t>
            </a:r>
            <a:r>
              <a:rPr lang="sv-SE" dirty="0" err="1"/>
              <a:t>plots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788825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3000" dirty="0" err="1">
                <a:solidFill>
                  <a:schemeClr val="bg1"/>
                </a:solidFill>
              </a:rPr>
              <a:t>Flow</a:t>
            </a:r>
            <a:r>
              <a:rPr lang="sv-SE" sz="30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sv-SE" sz="3000" dirty="0" err="1">
                <a:solidFill>
                  <a:schemeClr val="bg1"/>
                </a:solidFill>
              </a:rPr>
              <a:t>chart</a:t>
            </a:r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2456761" y="1136641"/>
            <a:ext cx="1573806" cy="449788"/>
          </a:xfrm>
          <a:prstGeom prst="parallelogram">
            <a:avLst/>
          </a:prstGeom>
        </p:spPr>
        <p:style>
          <a:lnRef idx="0">
            <a:schemeClr val="accent5"/>
          </a:lnRef>
          <a:fillRef idx="1003">
            <a:schemeClr val="lt2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Agents</a:t>
            </a:r>
            <a:endParaRPr lang="en-US" sz="1200" dirty="0"/>
          </a:p>
        </p:txBody>
      </p:sp>
      <p:sp>
        <p:nvSpPr>
          <p:cNvPr id="4" name="Rectangle 3"/>
          <p:cNvSpPr/>
          <p:nvPr/>
        </p:nvSpPr>
        <p:spPr>
          <a:xfrm>
            <a:off x="2456762" y="2519119"/>
            <a:ext cx="1674564" cy="280423"/>
          </a:xfrm>
          <a:prstGeom prst="rect">
            <a:avLst/>
          </a:prstGeom>
        </p:spPr>
        <p:style>
          <a:lnRef idx="0">
            <a:schemeClr val="accent5"/>
          </a:lnRef>
          <a:fillRef idx="1003">
            <a:schemeClr val="lt2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Check </a:t>
            </a:r>
            <a:r>
              <a:rPr lang="sv-SE" sz="1200" dirty="0" err="1"/>
              <a:t>if</a:t>
            </a:r>
            <a:r>
              <a:rPr lang="sv-SE" sz="1200" dirty="0"/>
              <a:t> has </a:t>
            </a:r>
            <a:r>
              <a:rPr lang="sv-SE" sz="1200" dirty="0" err="1"/>
              <a:t>money</a:t>
            </a:r>
            <a:r>
              <a:rPr lang="sv-SE" sz="1200" dirty="0"/>
              <a:t>?</a:t>
            </a:r>
            <a:endParaRPr lang="en-US" sz="1200" dirty="0"/>
          </a:p>
        </p:txBody>
      </p:sp>
      <p:sp>
        <p:nvSpPr>
          <p:cNvPr id="5" name="Diamond 4"/>
          <p:cNvSpPr/>
          <p:nvPr/>
        </p:nvSpPr>
        <p:spPr>
          <a:xfrm>
            <a:off x="2538468" y="3122033"/>
            <a:ext cx="1421177" cy="672029"/>
          </a:xfrm>
          <a:prstGeom prst="diamond">
            <a:avLst/>
          </a:prstGeom>
        </p:spPr>
        <p:style>
          <a:lnRef idx="0">
            <a:schemeClr val="accent5"/>
          </a:lnRef>
          <a:fillRef idx="1003">
            <a:schemeClr val="lt2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Money?</a:t>
            </a:r>
            <a:endParaRPr lang="en-US" sz="1200" dirty="0"/>
          </a:p>
        </p:txBody>
      </p:sp>
      <p:sp>
        <p:nvSpPr>
          <p:cNvPr id="10" name="Rectangle 9"/>
          <p:cNvSpPr/>
          <p:nvPr/>
        </p:nvSpPr>
        <p:spPr>
          <a:xfrm>
            <a:off x="4581461" y="3317835"/>
            <a:ext cx="732988" cy="280423"/>
          </a:xfrm>
          <a:prstGeom prst="rect">
            <a:avLst/>
          </a:prstGeom>
        </p:spPr>
        <p:style>
          <a:lnRef idx="0">
            <a:schemeClr val="accent5"/>
          </a:lnRef>
          <a:fillRef idx="1003">
            <a:schemeClr val="lt2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nothing</a:t>
            </a:r>
            <a:endParaRPr lang="en-US" sz="1200" dirty="0"/>
          </a:p>
        </p:txBody>
      </p:sp>
      <p:sp>
        <p:nvSpPr>
          <p:cNvPr id="11" name="Rectangle 10"/>
          <p:cNvSpPr/>
          <p:nvPr/>
        </p:nvSpPr>
        <p:spPr>
          <a:xfrm>
            <a:off x="2456761" y="4105264"/>
            <a:ext cx="1658959" cy="307229"/>
          </a:xfrm>
          <a:prstGeom prst="rect">
            <a:avLst/>
          </a:prstGeom>
        </p:spPr>
        <p:style>
          <a:lnRef idx="0">
            <a:schemeClr val="accent5"/>
          </a:lnRef>
          <a:fillRef idx="1003">
            <a:schemeClr val="lt2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Choose</a:t>
            </a:r>
            <a:r>
              <a:rPr lang="sv-SE" sz="1200" dirty="0"/>
              <a:t> </a:t>
            </a:r>
            <a:r>
              <a:rPr lang="sv-SE" sz="1200" dirty="0" err="1"/>
              <a:t>another</a:t>
            </a:r>
            <a:r>
              <a:rPr lang="sv-SE" sz="1200" dirty="0"/>
              <a:t> agent</a:t>
            </a:r>
            <a:endParaRPr lang="en-US" sz="1200" dirty="0"/>
          </a:p>
        </p:txBody>
      </p:sp>
      <p:sp>
        <p:nvSpPr>
          <p:cNvPr id="12" name="Rectangle 11"/>
          <p:cNvSpPr/>
          <p:nvPr/>
        </p:nvSpPr>
        <p:spPr>
          <a:xfrm>
            <a:off x="2654052" y="4716548"/>
            <a:ext cx="1196250" cy="268281"/>
          </a:xfrm>
          <a:prstGeom prst="rect">
            <a:avLst/>
          </a:prstGeom>
        </p:spPr>
        <p:style>
          <a:lnRef idx="0">
            <a:schemeClr val="accent5"/>
          </a:lnRef>
          <a:fillRef idx="1003">
            <a:schemeClr val="lt2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Give</a:t>
            </a:r>
            <a:r>
              <a:rPr lang="sv-SE" sz="1200" dirty="0"/>
              <a:t> </a:t>
            </a:r>
            <a:r>
              <a:rPr lang="sv-SE" sz="1200" dirty="0" err="1"/>
              <a:t>one</a:t>
            </a:r>
            <a:r>
              <a:rPr lang="sv-SE" sz="1200" dirty="0"/>
              <a:t> euro</a:t>
            </a:r>
            <a:endParaRPr lang="en-US" sz="1200" dirty="0"/>
          </a:p>
        </p:txBody>
      </p:sp>
      <p:sp>
        <p:nvSpPr>
          <p:cNvPr id="18" name="Rectangle 17"/>
          <p:cNvSpPr/>
          <p:nvPr/>
        </p:nvSpPr>
        <p:spPr>
          <a:xfrm>
            <a:off x="2456762" y="1866986"/>
            <a:ext cx="1573806" cy="277428"/>
          </a:xfrm>
          <a:prstGeom prst="rect">
            <a:avLst/>
          </a:prstGeom>
        </p:spPr>
        <p:style>
          <a:lnRef idx="0">
            <a:schemeClr val="accent5"/>
          </a:lnRef>
          <a:fillRef idx="1003">
            <a:schemeClr val="lt2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Pick </a:t>
            </a:r>
            <a:r>
              <a:rPr lang="sv-SE" sz="1200" dirty="0" err="1"/>
              <a:t>one</a:t>
            </a:r>
            <a:r>
              <a:rPr lang="sv-SE" sz="1200" dirty="0"/>
              <a:t> agent…</a:t>
            </a:r>
            <a:endParaRPr lang="en-US" sz="1200" dirty="0"/>
          </a:p>
        </p:txBody>
      </p:sp>
      <p:sp>
        <p:nvSpPr>
          <p:cNvPr id="19" name="Diamond 18"/>
          <p:cNvSpPr/>
          <p:nvPr/>
        </p:nvSpPr>
        <p:spPr>
          <a:xfrm>
            <a:off x="2307230" y="5297456"/>
            <a:ext cx="1911427" cy="781305"/>
          </a:xfrm>
          <a:prstGeom prst="diamond">
            <a:avLst/>
          </a:prstGeom>
        </p:spPr>
        <p:style>
          <a:lnRef idx="0">
            <a:schemeClr val="accent5"/>
          </a:lnRef>
          <a:fillRef idx="1003">
            <a:schemeClr val="lt2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All agents </a:t>
            </a:r>
            <a:r>
              <a:rPr lang="sv-SE" sz="1200" dirty="0" err="1"/>
              <a:t>have</a:t>
            </a:r>
            <a:r>
              <a:rPr lang="sv-SE" sz="1200" dirty="0"/>
              <a:t> </a:t>
            </a:r>
            <a:r>
              <a:rPr lang="sv-SE" sz="1200" dirty="0" err="1"/>
              <a:t>been</a:t>
            </a:r>
            <a:r>
              <a:rPr lang="sv-SE" sz="1200" dirty="0"/>
              <a:t> </a:t>
            </a:r>
            <a:r>
              <a:rPr lang="sv-SE" sz="1200" dirty="0" err="1"/>
              <a:t>asked</a:t>
            </a:r>
            <a:endParaRPr lang="en-US" sz="1200" dirty="0"/>
          </a:p>
        </p:txBody>
      </p:sp>
      <p:sp>
        <p:nvSpPr>
          <p:cNvPr id="20" name="Rectangle 19"/>
          <p:cNvSpPr/>
          <p:nvPr/>
        </p:nvSpPr>
        <p:spPr>
          <a:xfrm>
            <a:off x="2201810" y="6206260"/>
            <a:ext cx="461057" cy="1881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no</a:t>
            </a:r>
            <a:endParaRPr lang="en-US" sz="1200" dirty="0"/>
          </a:p>
        </p:txBody>
      </p:sp>
      <p:sp>
        <p:nvSpPr>
          <p:cNvPr id="21" name="Rectangle 20"/>
          <p:cNvSpPr/>
          <p:nvPr/>
        </p:nvSpPr>
        <p:spPr>
          <a:xfrm>
            <a:off x="3757600" y="6218843"/>
            <a:ext cx="461057" cy="188108"/>
          </a:xfrm>
          <a:prstGeom prst="rect">
            <a:avLst/>
          </a:prstGeom>
        </p:spPr>
        <p:style>
          <a:lnRef idx="0">
            <a:schemeClr val="accent5"/>
          </a:lnRef>
          <a:fillRef idx="1003">
            <a:schemeClr val="lt2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yes</a:t>
            </a:r>
            <a:endParaRPr lang="en-US" sz="1200" dirty="0"/>
          </a:p>
        </p:txBody>
      </p:sp>
      <p:cxnSp>
        <p:nvCxnSpPr>
          <p:cNvPr id="22" name="Straight Arrow Connector 21"/>
          <p:cNvCxnSpPr>
            <a:stCxn id="3" idx="4"/>
            <a:endCxn id="18" idx="0"/>
          </p:cNvCxnSpPr>
          <p:nvPr/>
        </p:nvCxnSpPr>
        <p:spPr>
          <a:xfrm>
            <a:off x="3243664" y="1586429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243663" y="2213973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3245841" y="2830545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3243662" y="3787887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4030567" y="3444850"/>
            <a:ext cx="3761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252177" y="4414482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3252177" y="5000864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2538468" y="5952584"/>
            <a:ext cx="248799" cy="195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3770638" y="5973306"/>
            <a:ext cx="189007" cy="213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300249" y="3762972"/>
            <a:ext cx="389594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 err="1"/>
              <a:t>yes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3986957" y="3157251"/>
            <a:ext cx="346570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no</a:t>
            </a:r>
            <a:endParaRPr lang="en-US" sz="1200" dirty="0"/>
          </a:p>
        </p:txBody>
      </p:sp>
      <p:cxnSp>
        <p:nvCxnSpPr>
          <p:cNvPr id="38" name="Elbow Connector 37"/>
          <p:cNvCxnSpPr/>
          <p:nvPr/>
        </p:nvCxnSpPr>
        <p:spPr>
          <a:xfrm rot="16200000" flipV="1">
            <a:off x="4015205" y="2246848"/>
            <a:ext cx="1132512" cy="729298"/>
          </a:xfrm>
          <a:prstGeom prst="bentConnector3">
            <a:avLst>
              <a:gd name="adj1" fmla="val 99612"/>
            </a:avLst>
          </a:prstGeom>
          <a:ln>
            <a:prstDash val="dash"/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Elbow Connector 42"/>
          <p:cNvCxnSpPr/>
          <p:nvPr/>
        </p:nvCxnSpPr>
        <p:spPr>
          <a:xfrm rot="5400000" flipH="1" flipV="1">
            <a:off x="30876" y="4023961"/>
            <a:ext cx="4294614" cy="258093"/>
          </a:xfrm>
          <a:prstGeom prst="bentConnector3">
            <a:avLst>
              <a:gd name="adj1" fmla="val 100023"/>
            </a:avLst>
          </a:prstGeom>
          <a:ln>
            <a:prstDash val="dash"/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4655108" y="6121547"/>
            <a:ext cx="1026957" cy="372651"/>
          </a:xfrm>
          <a:prstGeom prst="rect">
            <a:avLst/>
          </a:prstGeom>
        </p:spPr>
        <p:style>
          <a:lnRef idx="0">
            <a:schemeClr val="accent5"/>
          </a:lnRef>
          <a:fillRef idx="1003">
            <a:schemeClr val="lt2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Income</a:t>
            </a:r>
            <a:r>
              <a:rPr lang="sv-SE" sz="1200" dirty="0"/>
              <a:t> </a:t>
            </a:r>
          </a:p>
          <a:p>
            <a:pPr algn="ctr"/>
            <a:r>
              <a:rPr lang="sv-SE" sz="1200" dirty="0"/>
              <a:t>distribution</a:t>
            </a:r>
            <a:endParaRPr lang="en-US" sz="1200" dirty="0"/>
          </a:p>
        </p:txBody>
      </p:sp>
      <p:cxnSp>
        <p:nvCxnSpPr>
          <p:cNvPr id="49" name="Straight Arrow Connector 48"/>
          <p:cNvCxnSpPr/>
          <p:nvPr/>
        </p:nvCxnSpPr>
        <p:spPr>
          <a:xfrm>
            <a:off x="4333527" y="6300314"/>
            <a:ext cx="2479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041120" y="1129808"/>
            <a:ext cx="1143133" cy="4616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003">
            <a:schemeClr val="lt2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Agent </a:t>
            </a:r>
            <a:r>
              <a:rPr lang="sv-SE" sz="1200" dirty="0" err="1"/>
              <a:t>types</a:t>
            </a:r>
            <a:endParaRPr lang="en-US" sz="1200" dirty="0"/>
          </a:p>
          <a:p>
            <a:r>
              <a:rPr lang="sv-SE" sz="1200" dirty="0"/>
              <a:t>Agent </a:t>
            </a:r>
            <a:r>
              <a:rPr lang="sv-SE" sz="1200" dirty="0" err="1"/>
              <a:t>variables</a:t>
            </a:r>
            <a:endParaRPr lang="sv-SE" sz="1200" dirty="0"/>
          </a:p>
        </p:txBody>
      </p:sp>
      <p:sp>
        <p:nvSpPr>
          <p:cNvPr id="53" name="TextBox 52"/>
          <p:cNvSpPr txBox="1"/>
          <p:nvPr/>
        </p:nvSpPr>
        <p:spPr>
          <a:xfrm>
            <a:off x="4813591" y="5754247"/>
            <a:ext cx="609462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output</a:t>
            </a:r>
            <a:endParaRPr lang="en-US" sz="1200" dirty="0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5829985" y="6300314"/>
            <a:ext cx="2479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118516" y="5892746"/>
            <a:ext cx="1215024" cy="64633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sv-SE" sz="1200" dirty="0" err="1"/>
              <a:t>Fist</a:t>
            </a:r>
            <a:r>
              <a:rPr lang="sv-SE" sz="1200" dirty="0"/>
              <a:t> </a:t>
            </a:r>
            <a:r>
              <a:rPr lang="sv-SE" sz="1200" dirty="0" err="1"/>
              <a:t>model</a:t>
            </a:r>
            <a:r>
              <a:rPr lang="sv-SE" sz="1200" dirty="0"/>
              <a:t> round/</a:t>
            </a:r>
            <a:r>
              <a:rPr lang="sv-SE" sz="1200" dirty="0" err="1"/>
              <a:t>time</a:t>
            </a:r>
            <a:r>
              <a:rPr lang="sv-SE" sz="1200" dirty="0"/>
              <a:t>/tick </a:t>
            </a:r>
          </a:p>
          <a:p>
            <a:r>
              <a:rPr lang="sv-SE" sz="1200" dirty="0"/>
              <a:t>has </a:t>
            </a:r>
            <a:r>
              <a:rPr lang="sv-SE" sz="1200" dirty="0" err="1"/>
              <a:t>finishedv</a:t>
            </a:r>
            <a:endParaRPr lang="sv-SE" sz="1200" dirty="0"/>
          </a:p>
        </p:txBody>
      </p:sp>
      <p:sp>
        <p:nvSpPr>
          <p:cNvPr id="40" name="TextBox 39"/>
          <p:cNvSpPr txBox="1"/>
          <p:nvPr/>
        </p:nvSpPr>
        <p:spPr>
          <a:xfrm>
            <a:off x="6077919" y="4165627"/>
            <a:ext cx="1291745" cy="64633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sv-SE" sz="1200" dirty="0"/>
              <a:t>Go the second round/</a:t>
            </a:r>
            <a:r>
              <a:rPr lang="sv-SE" sz="1200" dirty="0" err="1"/>
              <a:t>time</a:t>
            </a:r>
            <a:r>
              <a:rPr lang="sv-SE" sz="1200" dirty="0"/>
              <a:t>/tick</a:t>
            </a:r>
          </a:p>
          <a:p>
            <a:r>
              <a:rPr lang="sv-SE" sz="1200" dirty="0" err="1"/>
              <a:t>of</a:t>
            </a:r>
            <a:r>
              <a:rPr lang="sv-SE" sz="1200" dirty="0"/>
              <a:t> the </a:t>
            </a:r>
            <a:r>
              <a:rPr lang="sv-SE" sz="1200" dirty="0" err="1"/>
              <a:t>model</a:t>
            </a:r>
            <a:endParaRPr lang="sv-SE" sz="1200" dirty="0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6610120" y="4988842"/>
            <a:ext cx="0" cy="617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7861106" y="2519119"/>
            <a:ext cx="1674564" cy="280423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Check </a:t>
            </a:r>
            <a:r>
              <a:rPr lang="sv-SE" sz="1200" dirty="0" err="1"/>
              <a:t>if</a:t>
            </a:r>
            <a:r>
              <a:rPr lang="sv-SE" sz="1200" dirty="0"/>
              <a:t> has </a:t>
            </a:r>
            <a:r>
              <a:rPr lang="sv-SE" sz="1200" dirty="0" err="1"/>
              <a:t>money</a:t>
            </a:r>
            <a:r>
              <a:rPr lang="sv-SE" sz="1200" dirty="0"/>
              <a:t>?</a:t>
            </a:r>
            <a:endParaRPr lang="en-US" sz="1200" dirty="0"/>
          </a:p>
        </p:txBody>
      </p:sp>
      <p:sp>
        <p:nvSpPr>
          <p:cNvPr id="44" name="Diamond 43"/>
          <p:cNvSpPr/>
          <p:nvPr/>
        </p:nvSpPr>
        <p:spPr>
          <a:xfrm>
            <a:off x="7942812" y="3122033"/>
            <a:ext cx="1421177" cy="672029"/>
          </a:xfrm>
          <a:prstGeom prst="diamond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Money?</a:t>
            </a:r>
            <a:endParaRPr lang="en-US" sz="1200" dirty="0"/>
          </a:p>
        </p:txBody>
      </p:sp>
      <p:sp>
        <p:nvSpPr>
          <p:cNvPr id="46" name="Rectangle 45"/>
          <p:cNvSpPr/>
          <p:nvPr/>
        </p:nvSpPr>
        <p:spPr>
          <a:xfrm>
            <a:off x="9985805" y="3317835"/>
            <a:ext cx="732988" cy="280423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nothing</a:t>
            </a:r>
            <a:endParaRPr lang="en-US" sz="1200" dirty="0"/>
          </a:p>
        </p:txBody>
      </p:sp>
      <p:sp>
        <p:nvSpPr>
          <p:cNvPr id="47" name="Rectangle 46"/>
          <p:cNvSpPr/>
          <p:nvPr/>
        </p:nvSpPr>
        <p:spPr>
          <a:xfrm>
            <a:off x="7861105" y="4105264"/>
            <a:ext cx="1658959" cy="30722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Choose</a:t>
            </a:r>
            <a:r>
              <a:rPr lang="sv-SE" sz="1200" dirty="0"/>
              <a:t> </a:t>
            </a:r>
            <a:r>
              <a:rPr lang="sv-SE" sz="1200" dirty="0" err="1"/>
              <a:t>another</a:t>
            </a:r>
            <a:r>
              <a:rPr lang="sv-SE" sz="1200" dirty="0"/>
              <a:t> agent</a:t>
            </a:r>
            <a:endParaRPr lang="en-US" sz="1200" dirty="0"/>
          </a:p>
        </p:txBody>
      </p:sp>
      <p:sp>
        <p:nvSpPr>
          <p:cNvPr id="48" name="Rectangle 47"/>
          <p:cNvSpPr/>
          <p:nvPr/>
        </p:nvSpPr>
        <p:spPr>
          <a:xfrm>
            <a:off x="8058396" y="4716548"/>
            <a:ext cx="1196250" cy="26828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Give</a:t>
            </a:r>
            <a:r>
              <a:rPr lang="sv-SE" sz="1200" dirty="0"/>
              <a:t> </a:t>
            </a:r>
            <a:r>
              <a:rPr lang="sv-SE" sz="1200" dirty="0" err="1"/>
              <a:t>one</a:t>
            </a:r>
            <a:r>
              <a:rPr lang="sv-SE" sz="1200" dirty="0"/>
              <a:t> euro</a:t>
            </a:r>
            <a:endParaRPr lang="en-US" sz="1200" dirty="0"/>
          </a:p>
        </p:txBody>
      </p:sp>
      <p:sp>
        <p:nvSpPr>
          <p:cNvPr id="50" name="Rectangle 49"/>
          <p:cNvSpPr/>
          <p:nvPr/>
        </p:nvSpPr>
        <p:spPr>
          <a:xfrm>
            <a:off x="7861106" y="1866986"/>
            <a:ext cx="1573806" cy="277428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Pick </a:t>
            </a:r>
            <a:r>
              <a:rPr lang="sv-SE" sz="1200" dirty="0" err="1"/>
              <a:t>one</a:t>
            </a:r>
            <a:r>
              <a:rPr lang="sv-SE" sz="1200" dirty="0"/>
              <a:t> agent…</a:t>
            </a:r>
            <a:endParaRPr lang="en-US" sz="1200" dirty="0"/>
          </a:p>
        </p:txBody>
      </p:sp>
      <p:sp>
        <p:nvSpPr>
          <p:cNvPr id="51" name="Diamond 50"/>
          <p:cNvSpPr/>
          <p:nvPr/>
        </p:nvSpPr>
        <p:spPr>
          <a:xfrm>
            <a:off x="7711574" y="5297456"/>
            <a:ext cx="1911427" cy="781305"/>
          </a:xfrm>
          <a:prstGeom prst="diamond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All agents </a:t>
            </a:r>
            <a:r>
              <a:rPr lang="sv-SE" sz="1200" dirty="0" err="1"/>
              <a:t>have</a:t>
            </a:r>
            <a:r>
              <a:rPr lang="sv-SE" sz="1200" dirty="0"/>
              <a:t> </a:t>
            </a:r>
            <a:r>
              <a:rPr lang="sv-SE" sz="1200" dirty="0" err="1"/>
              <a:t>been</a:t>
            </a:r>
            <a:r>
              <a:rPr lang="sv-SE" sz="1200" dirty="0"/>
              <a:t> </a:t>
            </a:r>
            <a:r>
              <a:rPr lang="sv-SE" sz="1200" dirty="0" err="1"/>
              <a:t>asked</a:t>
            </a:r>
            <a:endParaRPr lang="en-US" sz="1200" dirty="0"/>
          </a:p>
        </p:txBody>
      </p:sp>
      <p:sp>
        <p:nvSpPr>
          <p:cNvPr id="58" name="Rectangle 57"/>
          <p:cNvSpPr/>
          <p:nvPr/>
        </p:nvSpPr>
        <p:spPr>
          <a:xfrm>
            <a:off x="7606154" y="6206260"/>
            <a:ext cx="461057" cy="188108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no</a:t>
            </a:r>
            <a:endParaRPr lang="en-US" sz="1200" dirty="0"/>
          </a:p>
        </p:txBody>
      </p:sp>
      <p:sp>
        <p:nvSpPr>
          <p:cNvPr id="59" name="Rectangle 58"/>
          <p:cNvSpPr/>
          <p:nvPr/>
        </p:nvSpPr>
        <p:spPr>
          <a:xfrm>
            <a:off x="9161944" y="6218843"/>
            <a:ext cx="461057" cy="188108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yes</a:t>
            </a:r>
            <a:endParaRPr lang="en-US" sz="1200" dirty="0"/>
          </a:p>
        </p:txBody>
      </p:sp>
      <p:cxnSp>
        <p:nvCxnSpPr>
          <p:cNvPr id="60" name="Straight Arrow Connector 59"/>
          <p:cNvCxnSpPr/>
          <p:nvPr/>
        </p:nvCxnSpPr>
        <p:spPr>
          <a:xfrm>
            <a:off x="8648007" y="2213973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8650185" y="2830545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8648006" y="3787887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9434911" y="3444850"/>
            <a:ext cx="3761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8656521" y="4414482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8656521" y="5000864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H="1">
            <a:off x="7942812" y="5952584"/>
            <a:ext cx="248799" cy="195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>
            <a:off x="9174982" y="5973306"/>
            <a:ext cx="189007" cy="213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8704593" y="3762972"/>
            <a:ext cx="389594" cy="27699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sv-SE" sz="1200" dirty="0" err="1"/>
              <a:t>yes</a:t>
            </a:r>
            <a:endParaRPr lang="en-US" sz="1200" dirty="0"/>
          </a:p>
        </p:txBody>
      </p:sp>
      <p:sp>
        <p:nvSpPr>
          <p:cNvPr id="69" name="TextBox 68"/>
          <p:cNvSpPr txBox="1"/>
          <p:nvPr/>
        </p:nvSpPr>
        <p:spPr>
          <a:xfrm>
            <a:off x="9391301" y="3157251"/>
            <a:ext cx="346570" cy="27699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no</a:t>
            </a:r>
            <a:endParaRPr lang="en-US" sz="1200" dirty="0"/>
          </a:p>
        </p:txBody>
      </p:sp>
      <p:cxnSp>
        <p:nvCxnSpPr>
          <p:cNvPr id="70" name="Elbow Connector 69"/>
          <p:cNvCxnSpPr/>
          <p:nvPr/>
        </p:nvCxnSpPr>
        <p:spPr>
          <a:xfrm rot="16200000" flipV="1">
            <a:off x="9419549" y="2246848"/>
            <a:ext cx="1132512" cy="729298"/>
          </a:xfrm>
          <a:prstGeom prst="bentConnector3">
            <a:avLst>
              <a:gd name="adj1" fmla="val 99612"/>
            </a:avLst>
          </a:prstGeom>
          <a:ln>
            <a:headEnd type="oval" w="med" len="med"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1" name="Elbow Connector 70"/>
          <p:cNvCxnSpPr/>
          <p:nvPr/>
        </p:nvCxnSpPr>
        <p:spPr>
          <a:xfrm rot="5400000" flipH="1" flipV="1">
            <a:off x="5435220" y="4023961"/>
            <a:ext cx="4294614" cy="258093"/>
          </a:xfrm>
          <a:prstGeom prst="bentConnector3">
            <a:avLst>
              <a:gd name="adj1" fmla="val 100023"/>
            </a:avLst>
          </a:prstGeom>
          <a:ln>
            <a:headEnd type="oval" w="med" len="med"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10059452" y="6121547"/>
            <a:ext cx="1026957" cy="37265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Income</a:t>
            </a:r>
            <a:r>
              <a:rPr lang="sv-SE" sz="1200" dirty="0"/>
              <a:t> </a:t>
            </a:r>
          </a:p>
          <a:p>
            <a:pPr algn="ctr"/>
            <a:r>
              <a:rPr lang="sv-SE" sz="1200" dirty="0"/>
              <a:t>distribution</a:t>
            </a:r>
            <a:endParaRPr lang="en-US" sz="1200" dirty="0"/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9737871" y="6300314"/>
            <a:ext cx="2479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0217935" y="5754247"/>
            <a:ext cx="609462" cy="27699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output</a:t>
            </a:r>
            <a:endParaRPr lang="en-US" sz="1200" dirty="0"/>
          </a:p>
        </p:txBody>
      </p:sp>
      <p:cxnSp>
        <p:nvCxnSpPr>
          <p:cNvPr id="9" name="Elbow Connector 8"/>
          <p:cNvCxnSpPr/>
          <p:nvPr/>
        </p:nvCxnSpPr>
        <p:spPr>
          <a:xfrm rot="5400000" flipH="1" flipV="1">
            <a:off x="6574783" y="1766383"/>
            <a:ext cx="2135875" cy="2065200"/>
          </a:xfrm>
          <a:prstGeom prst="bentConnector3">
            <a:avLst>
              <a:gd name="adj1" fmla="val 120665"/>
            </a:avLst>
          </a:prstGeom>
          <a:ln>
            <a:headEnd type="oval" w="med" len="med"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11336583" y="6300314"/>
            <a:ext cx="6607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1427934" y="6002274"/>
            <a:ext cx="319318" cy="27699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N </a:t>
            </a:r>
            <a:endParaRPr 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62E75E-D340-4BC7-8C5E-BF131854D7CD}"/>
              </a:ext>
            </a:extLst>
          </p:cNvPr>
          <p:cNvSpPr txBox="1"/>
          <p:nvPr/>
        </p:nvSpPr>
        <p:spPr>
          <a:xfrm>
            <a:off x="2576842" y="2997759"/>
            <a:ext cx="2573140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8000" dirty="0">
                <a:solidFill>
                  <a:srgbClr val="FF0000"/>
                </a:solidFill>
              </a:rPr>
              <a:t>Tick 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1CE08D0-E97E-4A63-9BAE-27BA6E1E4F3D}"/>
              </a:ext>
            </a:extLst>
          </p:cNvPr>
          <p:cNvSpPr txBox="1"/>
          <p:nvPr/>
        </p:nvSpPr>
        <p:spPr>
          <a:xfrm>
            <a:off x="8129673" y="2994390"/>
            <a:ext cx="2573140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8000" dirty="0">
                <a:solidFill>
                  <a:srgbClr val="FF0000"/>
                </a:solidFill>
              </a:rPr>
              <a:t>Tick 1</a:t>
            </a:r>
          </a:p>
        </p:txBody>
      </p:sp>
    </p:spTree>
    <p:extLst>
      <p:ext uri="{BB962C8B-B14F-4D97-AF65-F5344CB8AC3E}">
        <p14:creationId xmlns:p14="http://schemas.microsoft.com/office/powerpoint/2010/main" val="2243790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739281" y="2529168"/>
            <a:ext cx="3753472" cy="231641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800" dirty="0" err="1"/>
              <a:t>Let’s</a:t>
            </a:r>
            <a:r>
              <a:rPr lang="sv-SE" sz="2800" dirty="0"/>
              <a:t> go to NetLogo!!!</a:t>
            </a:r>
          </a:p>
          <a:p>
            <a:pPr algn="ctr"/>
            <a:r>
              <a:rPr lang="en-US" sz="2800" dirty="0"/>
              <a:t>File: lab2_2.Nlogo</a:t>
            </a:r>
          </a:p>
          <a:p>
            <a:pPr algn="ctr"/>
            <a:endParaRPr lang="en-US" sz="2800" dirty="0"/>
          </a:p>
        </p:txBody>
      </p:sp>
      <p:pic>
        <p:nvPicPr>
          <p:cNvPr id="9" name="Picture 2" descr="Image result for crazy compu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301" y="2768213"/>
            <a:ext cx="2740026" cy="176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2278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183176" y="1157631"/>
            <a:ext cx="782564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Model 1: </a:t>
            </a:r>
          </a:p>
          <a:p>
            <a:endParaRPr lang="en-US" b="1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Simple economy (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Wilensky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&amp; Rand, 2016)</a:t>
            </a: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Model specification:</a:t>
            </a: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There are a fixed number of agents with a fixed number of money (€100 each). 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Let’s suppose: 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(a)	That each agent in the world gives one euro to another randomly chosen agent.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(b)	Only gives euros the agents with money greater than zero.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(c)	Step (a) is repeated over time (10 000 times).</a:t>
            </a:r>
          </a:p>
          <a:p>
            <a:endParaRPr lang="en-US" dirty="0"/>
          </a:p>
          <a:p>
            <a:r>
              <a:rPr lang="en-US" b="1" dirty="0"/>
              <a:t>Question: </a:t>
            </a:r>
          </a:p>
          <a:p>
            <a:r>
              <a:rPr lang="en-US" dirty="0"/>
              <a:t>Given this model specification , what do you think will happen with the distribution of the money at the end of the simulation?</a:t>
            </a:r>
          </a:p>
          <a:p>
            <a:r>
              <a:rPr lang="en-US" dirty="0"/>
              <a:t>(a)	Equally distributed</a:t>
            </a:r>
          </a:p>
          <a:p>
            <a:r>
              <a:rPr lang="en-US" dirty="0"/>
              <a:t>(b)	</a:t>
            </a:r>
            <a:r>
              <a:rPr lang="en-US" dirty="0">
                <a:highlight>
                  <a:srgbClr val="FFFF00"/>
                </a:highlight>
              </a:rPr>
              <a:t>Unequally distributed</a:t>
            </a:r>
          </a:p>
        </p:txBody>
      </p:sp>
    </p:spTree>
    <p:extLst>
      <p:ext uri="{BB962C8B-B14F-4D97-AF65-F5344CB8AC3E}">
        <p14:creationId xmlns:p14="http://schemas.microsoft.com/office/powerpoint/2010/main" val="3855969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098589" y="1027523"/>
            <a:ext cx="9609756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Model 2: </a:t>
            </a:r>
          </a:p>
          <a:p>
            <a:endParaRPr lang="en-US" sz="2200" b="1" dirty="0"/>
          </a:p>
          <a:p>
            <a:r>
              <a:rPr lang="en-US" sz="2200" dirty="0"/>
              <a:t>The Fire Model (Wilensky &amp; Rand, 2016)</a:t>
            </a:r>
          </a:p>
          <a:p>
            <a:endParaRPr lang="en-US" sz="2200" dirty="0"/>
          </a:p>
          <a:p>
            <a:r>
              <a:rPr lang="en-US" sz="2200" b="1" dirty="0"/>
              <a:t>Model specification:</a:t>
            </a:r>
          </a:p>
          <a:p>
            <a:r>
              <a:rPr lang="en-US" sz="2200" dirty="0"/>
              <a:t>The world is a forest wherein most of the patches represent a tree. </a:t>
            </a:r>
          </a:p>
          <a:p>
            <a:r>
              <a:rPr lang="en-US" sz="2200" dirty="0"/>
              <a:t>Let’s suppose: </a:t>
            </a:r>
          </a:p>
          <a:p>
            <a:r>
              <a:rPr lang="en-US" sz="2200" dirty="0"/>
              <a:t>(a)	All the trees in the left part of the forest start burning.</a:t>
            </a:r>
          </a:p>
          <a:p>
            <a:r>
              <a:rPr lang="en-US" sz="2200" dirty="0"/>
              <a:t>(b)	If a tree is next to a burning tree, it ignites.  </a:t>
            </a:r>
          </a:p>
          <a:p>
            <a:r>
              <a:rPr lang="en-US" sz="2200" dirty="0"/>
              <a:t>(c)	Trees just burn for one tick and then disappear</a:t>
            </a:r>
          </a:p>
          <a:p>
            <a:r>
              <a:rPr lang="en-US" sz="2200" b="1" dirty="0"/>
              <a:t> </a:t>
            </a:r>
          </a:p>
          <a:p>
            <a:r>
              <a:rPr lang="en-US" sz="2200" b="1" dirty="0"/>
              <a:t>Question: </a:t>
            </a:r>
          </a:p>
          <a:p>
            <a:r>
              <a:rPr lang="en-US" sz="2200" b="1" dirty="0"/>
              <a:t>How does the density of the forest affect the spread of fire in the model?</a:t>
            </a:r>
          </a:p>
          <a:p>
            <a:r>
              <a:rPr lang="en-US" sz="2200" dirty="0"/>
              <a:t>(a)	Does not have any effect</a:t>
            </a:r>
          </a:p>
          <a:p>
            <a:r>
              <a:rPr lang="en-US" sz="2200" dirty="0"/>
              <a:t>(b)	Affect positively and linearly the spread of fire</a:t>
            </a:r>
          </a:p>
          <a:p>
            <a:r>
              <a:rPr lang="en-US" sz="2200" dirty="0"/>
              <a:t>(c)	Affect positively and exponentially the spread of the fire </a:t>
            </a:r>
          </a:p>
        </p:txBody>
      </p:sp>
    </p:spTree>
    <p:extLst>
      <p:ext uri="{BB962C8B-B14F-4D97-AF65-F5344CB8AC3E}">
        <p14:creationId xmlns:p14="http://schemas.microsoft.com/office/powerpoint/2010/main" val="1483505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3000" dirty="0" err="1">
                <a:solidFill>
                  <a:schemeClr val="bg1"/>
                </a:solidFill>
              </a:rPr>
              <a:t>Flow</a:t>
            </a:r>
            <a:r>
              <a:rPr lang="sv-SE" sz="30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sv-SE" sz="3000" dirty="0" err="1">
                <a:solidFill>
                  <a:schemeClr val="bg1"/>
                </a:solidFill>
              </a:rPr>
              <a:t>chart</a:t>
            </a:r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2456761" y="958325"/>
            <a:ext cx="1573806" cy="628104"/>
          </a:xfrm>
          <a:prstGeom prst="parallelogram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Agents &amp; </a:t>
            </a:r>
            <a:r>
              <a:rPr lang="sv-SE" sz="1200" dirty="0" err="1"/>
              <a:t>environment</a:t>
            </a:r>
            <a:endParaRPr lang="en-US" sz="1200" dirty="0"/>
          </a:p>
        </p:txBody>
      </p:sp>
      <p:sp>
        <p:nvSpPr>
          <p:cNvPr id="4" name="Rectangle 3"/>
          <p:cNvSpPr/>
          <p:nvPr/>
        </p:nvSpPr>
        <p:spPr>
          <a:xfrm>
            <a:off x="2456762" y="2519119"/>
            <a:ext cx="1674564" cy="28042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Check </a:t>
            </a:r>
            <a:r>
              <a:rPr lang="sv-SE" sz="1200" dirty="0" err="1"/>
              <a:t>trees</a:t>
            </a:r>
            <a:r>
              <a:rPr lang="sv-SE" sz="1200" dirty="0"/>
              <a:t> </a:t>
            </a:r>
            <a:r>
              <a:rPr lang="sv-SE" sz="1200" dirty="0" err="1"/>
              <a:t>around</a:t>
            </a:r>
            <a:r>
              <a:rPr lang="sv-SE" sz="1200" dirty="0"/>
              <a:t> it</a:t>
            </a:r>
            <a:endParaRPr lang="en-US" sz="1200" dirty="0"/>
          </a:p>
        </p:txBody>
      </p:sp>
      <p:sp>
        <p:nvSpPr>
          <p:cNvPr id="5" name="Diamond 4"/>
          <p:cNvSpPr/>
          <p:nvPr/>
        </p:nvSpPr>
        <p:spPr>
          <a:xfrm>
            <a:off x="2538468" y="3122033"/>
            <a:ext cx="1421177" cy="672029"/>
          </a:xfrm>
          <a:prstGeom prst="diamon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All </a:t>
            </a:r>
            <a:r>
              <a:rPr lang="sv-SE" sz="1200" dirty="0" err="1"/>
              <a:t>trees</a:t>
            </a:r>
            <a:r>
              <a:rPr lang="sv-SE" sz="1200" dirty="0"/>
              <a:t> </a:t>
            </a:r>
            <a:r>
              <a:rPr lang="sv-SE" sz="1200" dirty="0" err="1"/>
              <a:t>burned</a:t>
            </a:r>
            <a:r>
              <a:rPr lang="sv-SE" sz="1200" dirty="0"/>
              <a:t>?</a:t>
            </a:r>
            <a:endParaRPr lang="en-US" sz="1200" dirty="0"/>
          </a:p>
        </p:txBody>
      </p:sp>
      <p:sp>
        <p:nvSpPr>
          <p:cNvPr id="10" name="Rectangle 9"/>
          <p:cNvSpPr/>
          <p:nvPr/>
        </p:nvSpPr>
        <p:spPr>
          <a:xfrm>
            <a:off x="4581461" y="3317835"/>
            <a:ext cx="732988" cy="28042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nothing</a:t>
            </a:r>
            <a:endParaRPr lang="en-US" sz="1200" dirty="0"/>
          </a:p>
        </p:txBody>
      </p:sp>
      <p:sp>
        <p:nvSpPr>
          <p:cNvPr id="11" name="Rectangle 10"/>
          <p:cNvSpPr/>
          <p:nvPr/>
        </p:nvSpPr>
        <p:spPr>
          <a:xfrm>
            <a:off x="2456761" y="4105264"/>
            <a:ext cx="1658959" cy="30722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Propagate</a:t>
            </a:r>
            <a:r>
              <a:rPr lang="sv-SE" sz="1200" dirty="0"/>
              <a:t> </a:t>
            </a:r>
            <a:r>
              <a:rPr lang="sv-SE" sz="1200" dirty="0" err="1"/>
              <a:t>fire</a:t>
            </a:r>
            <a:r>
              <a:rPr lang="sv-SE" sz="1200" dirty="0"/>
              <a:t> on </a:t>
            </a:r>
            <a:r>
              <a:rPr lang="sv-SE" sz="1200" dirty="0" err="1"/>
              <a:t>them</a:t>
            </a:r>
            <a:endParaRPr lang="en-US" sz="1200" dirty="0"/>
          </a:p>
        </p:txBody>
      </p:sp>
      <p:sp>
        <p:nvSpPr>
          <p:cNvPr id="18" name="Rectangle 17"/>
          <p:cNvSpPr/>
          <p:nvPr/>
        </p:nvSpPr>
        <p:spPr>
          <a:xfrm>
            <a:off x="2336690" y="1866986"/>
            <a:ext cx="1830973" cy="27742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Pick </a:t>
            </a:r>
            <a:r>
              <a:rPr lang="sv-SE" sz="1200" dirty="0" err="1"/>
              <a:t>one</a:t>
            </a:r>
            <a:r>
              <a:rPr lang="sv-SE" sz="1200" dirty="0"/>
              <a:t> </a:t>
            </a:r>
            <a:r>
              <a:rPr lang="sv-SE" sz="1200" dirty="0" err="1"/>
              <a:t>one</a:t>
            </a:r>
            <a:r>
              <a:rPr lang="sv-SE" sz="1200" dirty="0"/>
              <a:t> </a:t>
            </a:r>
            <a:r>
              <a:rPr lang="sv-SE" sz="1200" dirty="0" err="1"/>
              <a:t>tree</a:t>
            </a:r>
            <a:r>
              <a:rPr lang="sv-SE" sz="1200" dirty="0"/>
              <a:t> on </a:t>
            </a:r>
            <a:r>
              <a:rPr lang="sv-SE" sz="1200" dirty="0" err="1"/>
              <a:t>fire</a:t>
            </a:r>
            <a:endParaRPr lang="en-US" sz="1200" dirty="0"/>
          </a:p>
        </p:txBody>
      </p:sp>
      <p:sp>
        <p:nvSpPr>
          <p:cNvPr id="19" name="Diamond 18"/>
          <p:cNvSpPr/>
          <p:nvPr/>
        </p:nvSpPr>
        <p:spPr>
          <a:xfrm>
            <a:off x="2307230" y="4728857"/>
            <a:ext cx="1911427" cy="781305"/>
          </a:xfrm>
          <a:prstGeom prst="diamon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All </a:t>
            </a:r>
            <a:r>
              <a:rPr lang="sv-SE" sz="1200" dirty="0" err="1"/>
              <a:t>trees</a:t>
            </a:r>
            <a:r>
              <a:rPr lang="sv-SE" sz="1200" dirty="0"/>
              <a:t> </a:t>
            </a:r>
            <a:r>
              <a:rPr lang="sv-SE" sz="1200" dirty="0" err="1"/>
              <a:t>have</a:t>
            </a:r>
            <a:r>
              <a:rPr lang="sv-SE" sz="1200" dirty="0"/>
              <a:t> </a:t>
            </a:r>
            <a:r>
              <a:rPr lang="sv-SE" sz="1200" dirty="0" err="1"/>
              <a:t>been</a:t>
            </a:r>
            <a:r>
              <a:rPr lang="sv-SE" sz="1200" dirty="0"/>
              <a:t> </a:t>
            </a:r>
            <a:r>
              <a:rPr lang="sv-SE" sz="1200" dirty="0" err="1"/>
              <a:t>asked</a:t>
            </a:r>
            <a:endParaRPr lang="en-US" sz="1200" dirty="0"/>
          </a:p>
        </p:txBody>
      </p:sp>
      <p:sp>
        <p:nvSpPr>
          <p:cNvPr id="20" name="Rectangle 19"/>
          <p:cNvSpPr/>
          <p:nvPr/>
        </p:nvSpPr>
        <p:spPr>
          <a:xfrm>
            <a:off x="2201810" y="5637661"/>
            <a:ext cx="461057" cy="1881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no</a:t>
            </a:r>
            <a:endParaRPr lang="en-US" sz="1200" dirty="0"/>
          </a:p>
        </p:txBody>
      </p:sp>
      <p:sp>
        <p:nvSpPr>
          <p:cNvPr id="21" name="Rectangle 20"/>
          <p:cNvSpPr/>
          <p:nvPr/>
        </p:nvSpPr>
        <p:spPr>
          <a:xfrm>
            <a:off x="3757600" y="5650244"/>
            <a:ext cx="461057" cy="18810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yes</a:t>
            </a:r>
            <a:endParaRPr lang="en-US" sz="1200" dirty="0"/>
          </a:p>
        </p:txBody>
      </p:sp>
      <p:cxnSp>
        <p:nvCxnSpPr>
          <p:cNvPr id="22" name="Straight Arrow Connector 21"/>
          <p:cNvCxnSpPr>
            <a:cxnSpLocks/>
            <a:stCxn id="3" idx="4"/>
            <a:endCxn id="18" idx="0"/>
          </p:cNvCxnSpPr>
          <p:nvPr/>
        </p:nvCxnSpPr>
        <p:spPr>
          <a:xfrm>
            <a:off x="3243664" y="1586429"/>
            <a:ext cx="8513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243663" y="2213973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3245841" y="2830545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3243662" y="3787887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4030567" y="3444850"/>
            <a:ext cx="3761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252177" y="4414482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cxnSpLocks/>
          </p:cNvCxnSpPr>
          <p:nvPr/>
        </p:nvCxnSpPr>
        <p:spPr>
          <a:xfrm flipH="1">
            <a:off x="2538468" y="5383985"/>
            <a:ext cx="248799" cy="195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3770638" y="5404707"/>
            <a:ext cx="189007" cy="213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300249" y="3762972"/>
            <a:ext cx="346570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no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3986957" y="3157251"/>
            <a:ext cx="389594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/>
              <a:t>yes</a:t>
            </a:r>
          </a:p>
        </p:txBody>
      </p:sp>
      <p:cxnSp>
        <p:nvCxnSpPr>
          <p:cNvPr id="38" name="Elbow Connector 37"/>
          <p:cNvCxnSpPr/>
          <p:nvPr/>
        </p:nvCxnSpPr>
        <p:spPr>
          <a:xfrm rot="16200000" flipV="1">
            <a:off x="4015205" y="2246848"/>
            <a:ext cx="1132512" cy="729298"/>
          </a:xfrm>
          <a:prstGeom prst="bentConnector3">
            <a:avLst>
              <a:gd name="adj1" fmla="val 99612"/>
            </a:avLst>
          </a:prstGeom>
          <a:ln>
            <a:prstDash val="dash"/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Elbow Connector 42"/>
          <p:cNvCxnSpPr>
            <a:cxnSpLocks/>
          </p:cNvCxnSpPr>
          <p:nvPr/>
        </p:nvCxnSpPr>
        <p:spPr>
          <a:xfrm rot="5400000" flipH="1" flipV="1">
            <a:off x="315673" y="3748210"/>
            <a:ext cx="3734065" cy="249048"/>
          </a:xfrm>
          <a:prstGeom prst="bentConnector3">
            <a:avLst>
              <a:gd name="adj1" fmla="val 100023"/>
            </a:avLst>
          </a:prstGeom>
          <a:ln>
            <a:prstDash val="dash"/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3600740" y="6029294"/>
            <a:ext cx="775811" cy="37265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% </a:t>
            </a:r>
            <a:r>
              <a:rPr lang="sv-SE" sz="1200" dirty="0" err="1"/>
              <a:t>burned</a:t>
            </a:r>
            <a:r>
              <a:rPr lang="sv-SE" sz="1200" dirty="0"/>
              <a:t>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5720" y="1022564"/>
            <a:ext cx="1228350" cy="64633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sv-SE" sz="1200" dirty="0"/>
              <a:t>Forest(</a:t>
            </a:r>
            <a:r>
              <a:rPr lang="sv-SE" sz="1200" dirty="0" err="1"/>
              <a:t>Trees</a:t>
            </a:r>
            <a:r>
              <a:rPr lang="sv-SE" sz="1200" dirty="0"/>
              <a:t>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sv-SE" sz="1200" dirty="0" err="1"/>
              <a:t>Density</a:t>
            </a:r>
            <a:endParaRPr lang="en-US" sz="1200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sv-SE" sz="1200" dirty="0" err="1"/>
              <a:t>Trees</a:t>
            </a:r>
            <a:r>
              <a:rPr lang="sv-SE" sz="1200" dirty="0"/>
              <a:t> on </a:t>
            </a:r>
            <a:r>
              <a:rPr lang="sv-SE" sz="1200" dirty="0" err="1"/>
              <a:t>fire</a:t>
            </a:r>
            <a:endParaRPr lang="sv-SE" sz="1200" dirty="0"/>
          </a:p>
        </p:txBody>
      </p:sp>
      <p:sp>
        <p:nvSpPr>
          <p:cNvPr id="53" name="TextBox 52"/>
          <p:cNvSpPr txBox="1"/>
          <p:nvPr/>
        </p:nvSpPr>
        <p:spPr>
          <a:xfrm>
            <a:off x="2958212" y="6099618"/>
            <a:ext cx="609462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output</a:t>
            </a:r>
            <a:endParaRPr lang="en-US" sz="1200" dirty="0"/>
          </a:p>
        </p:txBody>
      </p:sp>
      <p:sp>
        <p:nvSpPr>
          <p:cNvPr id="54" name="Rectangle 53"/>
          <p:cNvSpPr/>
          <p:nvPr/>
        </p:nvSpPr>
        <p:spPr>
          <a:xfrm>
            <a:off x="6973743" y="1202493"/>
            <a:ext cx="1674564" cy="412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setup</a:t>
            </a:r>
            <a:endParaRPr lang="en-US" dirty="0"/>
          </a:p>
        </p:txBody>
      </p:sp>
      <p:sp>
        <p:nvSpPr>
          <p:cNvPr id="55" name="Rectangle 54"/>
          <p:cNvSpPr/>
          <p:nvPr/>
        </p:nvSpPr>
        <p:spPr>
          <a:xfrm>
            <a:off x="6973743" y="3661158"/>
            <a:ext cx="1674564" cy="96089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Go</a:t>
            </a:r>
            <a:endParaRPr lang="en-US" dirty="0"/>
          </a:p>
        </p:txBody>
      </p:sp>
      <p:sp>
        <p:nvSpPr>
          <p:cNvPr id="56" name="Right Brace 55"/>
          <p:cNvSpPr/>
          <p:nvPr/>
        </p:nvSpPr>
        <p:spPr>
          <a:xfrm>
            <a:off x="6283195" y="1202493"/>
            <a:ext cx="259012" cy="366001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ight Brace 56"/>
          <p:cNvSpPr/>
          <p:nvPr/>
        </p:nvSpPr>
        <p:spPr>
          <a:xfrm>
            <a:off x="6300429" y="1827999"/>
            <a:ext cx="258030" cy="4627212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993D192-C1FC-43C9-8F34-4F5E3D26DE9B}"/>
              </a:ext>
            </a:extLst>
          </p:cNvPr>
          <p:cNvSpPr/>
          <p:nvPr/>
        </p:nvSpPr>
        <p:spPr>
          <a:xfrm>
            <a:off x="4651692" y="5551177"/>
            <a:ext cx="1623724" cy="88407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The first group of trees which have propagated the fire, it turns to ashes.</a:t>
            </a:r>
            <a:endParaRPr lang="sv-SE" sz="120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5FA1E95-D685-45E5-8A1F-73509C8291E6}"/>
              </a:ext>
            </a:extLst>
          </p:cNvPr>
          <p:cNvCxnSpPr>
            <a:cxnSpLocks/>
          </p:cNvCxnSpPr>
          <p:nvPr/>
        </p:nvCxnSpPr>
        <p:spPr>
          <a:xfrm>
            <a:off x="4009377" y="5878070"/>
            <a:ext cx="106343" cy="115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9D624CF-BD8C-417E-B354-0F3A11CF76F0}"/>
              </a:ext>
            </a:extLst>
          </p:cNvPr>
          <p:cNvCxnSpPr>
            <a:cxnSpLocks/>
          </p:cNvCxnSpPr>
          <p:nvPr/>
        </p:nvCxnSpPr>
        <p:spPr>
          <a:xfrm>
            <a:off x="4376551" y="6238117"/>
            <a:ext cx="2478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2537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739280" y="2529168"/>
            <a:ext cx="3744595" cy="231641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800" dirty="0" err="1"/>
              <a:t>Let’s</a:t>
            </a:r>
            <a:r>
              <a:rPr lang="sv-SE" sz="2800" dirty="0"/>
              <a:t> go to NetLogo!!!</a:t>
            </a:r>
          </a:p>
          <a:p>
            <a:pPr algn="ctr"/>
            <a:r>
              <a:rPr lang="en-US" sz="2800" dirty="0"/>
              <a:t>Fille:lab2_3.Nlogo</a:t>
            </a:r>
          </a:p>
        </p:txBody>
      </p:sp>
      <p:pic>
        <p:nvPicPr>
          <p:cNvPr id="9" name="Picture 2" descr="Image result for crazy compu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301" y="2768213"/>
            <a:ext cx="2740026" cy="176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6370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183176" y="1157631"/>
            <a:ext cx="7825648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Model 2: </a:t>
            </a:r>
          </a:p>
          <a:p>
            <a:endParaRPr lang="en-US" b="1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The Fire Model (Wilensky &amp; Rand, 2016)</a:t>
            </a: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Model specification:</a:t>
            </a:r>
            <a:endParaRPr lang="sv-SE" b="1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The world is a forest wherein most of the patches represent a tree. </a:t>
            </a:r>
            <a:endParaRPr lang="sv-SE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Let’s suppose: </a:t>
            </a:r>
            <a:endParaRPr lang="sv-SE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(a)	All the trees in the left part of the forest start burning.</a:t>
            </a:r>
            <a:endParaRPr lang="sv-SE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(b)	If a tree is next to a burning tree, it ignites.  </a:t>
            </a:r>
            <a:endParaRPr lang="sv-SE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(c)	Trees just burn for one tick and then disappear</a:t>
            </a:r>
            <a:endParaRPr lang="sv-SE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 </a:t>
            </a:r>
            <a:endParaRPr lang="sv-SE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Question: </a:t>
            </a:r>
            <a:endParaRPr lang="sv-SE" b="1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How does the density of trees in the forest affect the spread of fire in the model?</a:t>
            </a:r>
            <a:endParaRPr lang="sv-SE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dirty="0"/>
              <a:t>(a)	Does not have any effect</a:t>
            </a:r>
            <a:endParaRPr lang="sv-SE" dirty="0"/>
          </a:p>
          <a:p>
            <a:r>
              <a:rPr lang="en-US" dirty="0"/>
              <a:t>(b)	Affect positively and linearly the spread of fire</a:t>
            </a:r>
            <a:endParaRPr lang="sv-SE" dirty="0"/>
          </a:p>
          <a:p>
            <a:r>
              <a:rPr lang="en-US" dirty="0"/>
              <a:t>(c)	</a:t>
            </a:r>
            <a:r>
              <a:rPr lang="en-US" dirty="0">
                <a:highlight>
                  <a:srgbClr val="FFFF00"/>
                </a:highlight>
              </a:rPr>
              <a:t>Affect positively and exponentially the spread of the fire </a:t>
            </a:r>
            <a:endParaRPr lang="sv-SE" dirty="0">
              <a:highlight>
                <a:srgbClr val="FFFF00"/>
              </a:highligh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909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7BE0EE43B23043AFE79A610A7C27D2" ma:contentTypeVersion="5" ma:contentTypeDescription="Create a new document." ma:contentTypeScope="" ma:versionID="778329dbcf46a37d733c712f27d7b43b">
  <xsd:schema xmlns:xsd="http://www.w3.org/2001/XMLSchema" xmlns:xs="http://www.w3.org/2001/XMLSchema" xmlns:p="http://schemas.microsoft.com/office/2006/metadata/properties" xmlns:ns2="e45ff77a-a734-434e-b7dc-7ade962cb631" xmlns:ns3="2808f00f-3211-41a5-bfe5-d2c2468f696f" targetNamespace="http://schemas.microsoft.com/office/2006/metadata/properties" ma:root="true" ma:fieldsID="6127767fb6d362b6b9d04ae9972bdc25" ns2:_="" ns3:_="">
    <xsd:import namespace="e45ff77a-a734-434e-b7dc-7ade962cb631"/>
    <xsd:import namespace="2808f00f-3211-41a5-bfe5-d2c2468f696f"/>
    <xsd:element name="properties">
      <xsd:complexType>
        <xsd:sequence>
          <xsd:element name="documentManagement">
            <xsd:complexType>
              <xsd:all>
                <xsd:element ref="ns2:_lisam_Description" minOccurs="0"/>
                <xsd:element ref="ns3:_lisam_PublishedVersio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5ff77a-a734-434e-b7dc-7ade962cb631" elementFormDefault="qualified">
    <xsd:import namespace="http://schemas.microsoft.com/office/2006/documentManagement/types"/>
    <xsd:import namespace="http://schemas.microsoft.com/office/infopath/2007/PartnerControls"/>
    <xsd:element name="_lisam_Description" ma:index="8" nillable="true" ma:displayName="Description" ma:internalName="_lisam_Description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08f00f-3211-41a5-bfe5-d2c2468f696f" elementFormDefault="qualified">
    <xsd:import namespace="http://schemas.microsoft.com/office/2006/documentManagement/types"/>
    <xsd:import namespace="http://schemas.microsoft.com/office/infopath/2007/PartnerControls"/>
    <xsd:element name="_lisam_PublishedVersion" ma:index="9" nillable="true" ma:displayName="Published Version" ma:internalName="_lisam_PublishedVersion">
      <xsd:simpleType>
        <xsd:restriction base="dms:Text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lisam_PublishedVersion xmlns="2808f00f-3211-41a5-bfe5-d2c2468f696f" xsi:nil="true"/>
    <_lisam_Description xmlns="e45ff77a-a734-434e-b7dc-7ade962cb631" xsi:nil="true"/>
  </documentManagement>
</p:properties>
</file>

<file path=customXml/itemProps1.xml><?xml version="1.0" encoding="utf-8"?>
<ds:datastoreItem xmlns:ds="http://schemas.openxmlformats.org/officeDocument/2006/customXml" ds:itemID="{CD93292D-DDDA-4448-A141-2EAF4A28B7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DFA4AB0-43CF-4C53-A440-524B8CC5C4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5ff77a-a734-434e-b7dc-7ade962cb631"/>
    <ds:schemaRef ds:uri="2808f00f-3211-41a5-bfe5-d2c2468f69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8E59B94-2894-4EE3-9660-12FD428DE65E}">
  <ds:schemaRefs>
    <ds:schemaRef ds:uri="http://schemas.microsoft.com/office/2006/metadata/properties"/>
    <ds:schemaRef ds:uri="http://schemas.microsoft.com/office/infopath/2007/PartnerControls"/>
    <ds:schemaRef ds:uri="2808f00f-3211-41a5-bfe5-d2c2468f696f"/>
    <ds:schemaRef ds:uri="e45ff77a-a734-434e-b7dc-7ade962cb63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12976</TotalTime>
  <Words>1492</Words>
  <Application>Microsoft Office PowerPoint</Application>
  <PresentationFormat>Widescreen</PresentationFormat>
  <Paragraphs>317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Linköpings universitet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Eduardo Tapia</dc:creator>
  <cp:lastModifiedBy>Patricia Givort Cruz Cabral</cp:lastModifiedBy>
  <cp:revision>148</cp:revision>
  <dcterms:created xsi:type="dcterms:W3CDTF">2016-09-19T15:22:17Z</dcterms:created>
  <dcterms:modified xsi:type="dcterms:W3CDTF">2026-04-10T20:31:13Z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0x0101000B7BE0EE43B23043AFE79A610A7C27D2</vt:lpwstr>
  </property>
</Properties>
</file>