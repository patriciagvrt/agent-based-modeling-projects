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92" r:id="rId5"/>
    <p:sldId id="338" r:id="rId6"/>
    <p:sldId id="752" r:id="rId7"/>
    <p:sldId id="544" r:id="rId8"/>
    <p:sldId id="507" r:id="rId9"/>
    <p:sldId id="536" r:id="rId10"/>
    <p:sldId id="496" r:id="rId11"/>
    <p:sldId id="405" r:id="rId12"/>
    <p:sldId id="395" r:id="rId13"/>
    <p:sldId id="381" r:id="rId14"/>
    <p:sldId id="382" r:id="rId15"/>
    <p:sldId id="385" r:id="rId16"/>
    <p:sldId id="389" r:id="rId17"/>
    <p:sldId id="390" r:id="rId18"/>
    <p:sldId id="391" r:id="rId19"/>
    <p:sldId id="396" r:id="rId20"/>
    <p:sldId id="545" r:id="rId21"/>
    <p:sldId id="696" r:id="rId22"/>
    <p:sldId id="741" r:id="rId23"/>
    <p:sldId id="695" r:id="rId24"/>
    <p:sldId id="735" r:id="rId25"/>
    <p:sldId id="736" r:id="rId26"/>
    <p:sldId id="538" r:id="rId27"/>
    <p:sldId id="753" r:id="rId28"/>
    <p:sldId id="697" r:id="rId29"/>
    <p:sldId id="743" r:id="rId30"/>
    <p:sldId id="754" r:id="rId31"/>
    <p:sldId id="744" r:id="rId32"/>
    <p:sldId id="549" r:id="rId33"/>
    <p:sldId id="699" r:id="rId34"/>
    <p:sldId id="550" r:id="rId35"/>
    <p:sldId id="700" r:id="rId36"/>
    <p:sldId id="563" r:id="rId37"/>
    <p:sldId id="702" r:id="rId38"/>
    <p:sldId id="543" r:id="rId39"/>
    <p:sldId id="742" r:id="rId40"/>
    <p:sldId id="737" r:id="rId41"/>
    <p:sldId id="746" r:id="rId42"/>
    <p:sldId id="552" r:id="rId43"/>
    <p:sldId id="564" r:id="rId44"/>
    <p:sldId id="704" r:id="rId45"/>
    <p:sldId id="705" r:id="rId46"/>
    <p:sldId id="565" r:id="rId47"/>
    <p:sldId id="706" r:id="rId48"/>
    <p:sldId id="707" r:id="rId49"/>
    <p:sldId id="566" r:id="rId50"/>
    <p:sldId id="708" r:id="rId51"/>
    <p:sldId id="553" r:id="rId52"/>
    <p:sldId id="748" r:id="rId53"/>
    <p:sldId id="711" r:id="rId54"/>
    <p:sldId id="712" r:id="rId55"/>
    <p:sldId id="750" r:id="rId56"/>
    <p:sldId id="569" r:id="rId57"/>
    <p:sldId id="556" r:id="rId58"/>
    <p:sldId id="714" r:id="rId59"/>
    <p:sldId id="715" r:id="rId60"/>
    <p:sldId id="716" r:id="rId61"/>
    <p:sldId id="718" r:id="rId62"/>
    <p:sldId id="755" r:id="rId63"/>
    <p:sldId id="717" r:id="rId64"/>
    <p:sldId id="751" r:id="rId65"/>
    <p:sldId id="722" r:id="rId66"/>
    <p:sldId id="723" r:id="rId67"/>
    <p:sldId id="724" r:id="rId68"/>
    <p:sldId id="726" r:id="rId69"/>
    <p:sldId id="730" r:id="rId70"/>
    <p:sldId id="757" r:id="rId71"/>
    <p:sldId id="611" r:id="rId72"/>
    <p:sldId id="692" r:id="rId73"/>
    <p:sldId id="655" r:id="rId74"/>
    <p:sldId id="614" r:id="rId75"/>
    <p:sldId id="555" r:id="rId76"/>
    <p:sldId id="756" r:id="rId77"/>
    <p:sldId id="732" r:id="rId78"/>
    <p:sldId id="733" r:id="rId79"/>
    <p:sldId id="734" r:id="rId80"/>
    <p:sldId id="554" r:id="rId81"/>
    <p:sldId id="740" r:id="rId82"/>
    <p:sldId id="739" r:id="rId83"/>
    <p:sldId id="567" r:id="rId84"/>
    <p:sldId id="568" r:id="rId85"/>
    <p:sldId id="465" r:id="rId8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FC80-692E-4370-9766-190626E9C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25399-DB83-406C-A059-3842F357B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7D85-BF97-442A-9039-ABB9C6C9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53C7F-68EE-4350-A379-687AB5F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17586-ED7D-4231-853B-F6776CF8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304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933B-55C2-402E-9B5E-B441A72C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0177-F298-41E9-B02A-36C14CCE4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BC6A2-A804-4071-B1ED-D9C823F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B44BF-1E8D-4391-A887-204329DE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F56D1-47F8-4992-9F07-D2EFA4C2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1651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5DD-7EA0-44C5-A50D-D47162AC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462E-A1F3-4F75-956C-993FA71EB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526A-46D3-4DAE-800F-9AC5121A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5663-A3D0-46FE-83DD-2B600455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1C12-F941-4390-B0A3-D2F5B92F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355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7B50-7CA0-461D-8721-2DCFA30C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EF29E-E039-4B6E-B9F3-A9600BFE4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14398-DD77-4CAB-B6EE-1461C5266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8B31E-23A5-471B-9F26-CA0980DA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A0BA6-CB72-4A49-ADC2-5C805B3A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47CF8-54CC-4332-A612-ADA55E28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0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A9FC-D070-4DBA-B234-8EE5F63B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EF45C-BAE2-407B-9360-5582F57B9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9AE9E-0A8C-4387-A7E8-F7E1C8756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97C28-156B-44D5-AAAC-8DE827C61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04909-5863-408C-B22A-15E68D30E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93D51-9FB7-4150-8F1A-3D74F00A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6FE58-B5E2-4BE5-8F06-D67414B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816E4-C843-4C31-9ED4-CB8011EE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579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1EBF-5743-40E1-9AF9-42A8DEDB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A1B45-655A-46F8-9AC7-642A6F59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15185-28BB-4EF3-BBA8-2E27256B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03472-F983-498E-A1A9-7EFC89C5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067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DC7DE-F53E-405F-BCC8-946B3C8F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70DF6-8D0D-4B3C-83F0-DFC91BCB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C875F-AA6A-4A5E-9A43-EDF9C1D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428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3BAD-52D7-4499-A135-1C523B3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B9535-F04C-4159-81F3-58C5678A4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858DE-BE82-4637-840F-2446E0C75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13C10-7BEE-42FF-97BA-F71DEB53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528E1-8394-4917-A162-09F27587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3C29E-AD0E-45E8-8A09-23489369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6948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6EB8-CAF8-4F94-91BF-9DEBE2E4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BDF45-ADAC-4FF3-9B48-1505712A8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91328-141E-4F35-B16C-67FE29885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D046F-4FDE-44C6-B107-62F9AE36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BBC44-5192-413E-9642-C9F368B6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88E3D-20BD-4E92-A799-DDC28050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147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89B9-ABF8-4905-A4FD-73E353A3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9F987-CBC3-4825-8F38-B28AB6FAC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8F57E-7FCA-4662-B72E-358481A8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147BF-BDEC-441C-A907-6B8EC09E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9AE04-FB0B-4EFC-B8F7-DB95C971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407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94149-5E72-456B-867F-6243FDCDE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B85DB-3314-4709-A489-F69C4A9F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6440-9CF0-4C5C-94E0-1BE40CEB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C550-EECC-49E3-AC0D-C3E16422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7A639-29E7-477F-A559-740EB4B8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078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280A7-DE89-4F0A-99EE-0A2F5715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4D4D2-EC5A-42FC-A565-0D57B24BE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E4D6-C361-408A-B922-37AE0049C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9730C-442F-48BB-A47A-F78E60081625}" type="datetimeFigureOut">
              <a:rPr lang="sv-SE" smtClean="0"/>
              <a:t>2026-03-10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956B9-29A8-4D07-90E9-7223078CF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E2332-B2F8-495A-9374-C593512C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64B6-E30E-4E78-B172-272348EDBD7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549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eduardo.tapia@liu.s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7469" y="384561"/>
            <a:ext cx="5067656" cy="6306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922438" y="855241"/>
            <a:ext cx="5737727" cy="240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/>
              <a:t>Agent-based modelling in the social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88182" y="4202122"/>
            <a:ext cx="4206240" cy="1018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5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Eduardo Tapia Tejada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500" u="sng" dirty="0">
                <a:solidFill>
                  <a:srgbClr val="0563C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eduardo.tapia@liu.se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mage result for domino effect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14" y="1276359"/>
            <a:ext cx="4347565" cy="430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5378" y="5417402"/>
            <a:ext cx="3237942" cy="116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8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90" y="1422173"/>
            <a:ext cx="11808823" cy="1023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912E-11A4-4FCE-97CA-56977FD24D8B}"/>
              </a:ext>
            </a:extLst>
          </p:cNvPr>
          <p:cNvSpPr/>
          <p:nvPr/>
        </p:nvSpPr>
        <p:spPr>
          <a:xfrm>
            <a:off x="1394128" y="2767449"/>
            <a:ext cx="6096000" cy="6430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am I? </a:t>
            </a:r>
            <a:endParaRPr lang="sv-SE" sz="3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age result for bandera peru">
            <a:extLst>
              <a:ext uri="{FF2B5EF4-FFF2-40B4-BE49-F238E27FC236}">
                <a16:creationId xmlns:a16="http://schemas.microsoft.com/office/drawing/2014/main" id="{A80244E9-B0B0-42D6-9A98-F137E6BC1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4488161"/>
            <a:ext cx="1703387" cy="113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bandera espana">
            <a:extLst>
              <a:ext uri="{FF2B5EF4-FFF2-40B4-BE49-F238E27FC236}">
                <a16:creationId xmlns:a16="http://schemas.microsoft.com/office/drawing/2014/main" id="{71717383-FB63-4F04-B317-FB005DBE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140" y="4466755"/>
            <a:ext cx="1767720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bandera suecia">
            <a:extLst>
              <a:ext uri="{FF2B5EF4-FFF2-40B4-BE49-F238E27FC236}">
                <a16:creationId xmlns:a16="http://schemas.microsoft.com/office/drawing/2014/main" id="{02DF9ABA-3E49-40C1-98B3-C21967377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441391"/>
            <a:ext cx="1876852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82A659-1450-4854-A9C0-8CAEF7586A40}"/>
              </a:ext>
            </a:extLst>
          </p:cNvPr>
          <p:cNvSpPr txBox="1"/>
          <p:nvPr/>
        </p:nvSpPr>
        <p:spPr>
          <a:xfrm>
            <a:off x="1957318" y="5739699"/>
            <a:ext cx="1951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Bachelor </a:t>
            </a:r>
            <a:r>
              <a:rPr lang="sv-SE" dirty="0" err="1"/>
              <a:t>Sociology</a:t>
            </a:r>
            <a:endParaRPr lang="sv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9A9A53-5A15-424D-AD73-8BC2D1D2605A}"/>
              </a:ext>
            </a:extLst>
          </p:cNvPr>
          <p:cNvSpPr txBox="1"/>
          <p:nvPr/>
        </p:nvSpPr>
        <p:spPr>
          <a:xfrm>
            <a:off x="8370238" y="5767929"/>
            <a:ext cx="3599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Segregation Dynamics</a:t>
            </a:r>
          </a:p>
          <a:p>
            <a:r>
              <a:rPr lang="en-US" dirty="0"/>
              <a:t>The Institute for Analytical Sociology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6FB00-E022-4584-A63B-457466BADD81}"/>
              </a:ext>
            </a:extLst>
          </p:cNvPr>
          <p:cNvSpPr txBox="1"/>
          <p:nvPr/>
        </p:nvSpPr>
        <p:spPr>
          <a:xfrm>
            <a:off x="4584700" y="5767929"/>
            <a:ext cx="3546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Master/PhD </a:t>
            </a:r>
            <a:r>
              <a:rPr lang="sv-SE" dirty="0" err="1"/>
              <a:t>Analytical</a:t>
            </a:r>
            <a:r>
              <a:rPr lang="sv-SE" dirty="0"/>
              <a:t> </a:t>
            </a:r>
            <a:r>
              <a:rPr lang="sv-SE" dirty="0" err="1"/>
              <a:t>Sociology</a:t>
            </a:r>
            <a:endParaRPr lang="sv-SE" dirty="0"/>
          </a:p>
          <a:p>
            <a:r>
              <a:rPr lang="sv-SE" dirty="0"/>
              <a:t>Rumor Diffusion</a:t>
            </a:r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96A76E9C-C949-4903-9D58-B82ABCBF8A72}"/>
              </a:ext>
            </a:extLst>
          </p:cNvPr>
          <p:cNvSpPr/>
          <p:nvPr/>
        </p:nvSpPr>
        <p:spPr>
          <a:xfrm>
            <a:off x="4064000" y="3810000"/>
            <a:ext cx="977900" cy="515887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F0535821-A24A-4BD2-B0AF-7C8E7A6747E6}"/>
              </a:ext>
            </a:extLst>
          </p:cNvPr>
          <p:cNvSpPr/>
          <p:nvPr/>
        </p:nvSpPr>
        <p:spPr>
          <a:xfrm>
            <a:off x="7204009" y="3788056"/>
            <a:ext cx="977900" cy="515887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BDD01B7B-C9E4-468D-BD5E-D95A3CD97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831" y="3067689"/>
            <a:ext cx="1176337" cy="1176337"/>
          </a:xfrm>
          <a:prstGeom prst="rect">
            <a:avLst/>
          </a:prstGeom>
        </p:spPr>
      </p:pic>
      <p:pic>
        <p:nvPicPr>
          <p:cNvPr id="8" name="Picture 4" descr="Brand New: New Logo and Identity for Linköping University by ...">
            <a:extLst>
              <a:ext uri="{FF2B5EF4-FFF2-40B4-BE49-F238E27FC236}">
                <a16:creationId xmlns:a16="http://schemas.microsoft.com/office/drawing/2014/main" id="{678AC13E-55A3-4F63-AE98-101AD7FAC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8880" y="3041465"/>
            <a:ext cx="1276184" cy="127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84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588" y="878861"/>
            <a:ext cx="11808823" cy="1023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Course objective</a:t>
            </a:r>
          </a:p>
        </p:txBody>
      </p:sp>
      <p:sp>
        <p:nvSpPr>
          <p:cNvPr id="2" name="Rectangle 1"/>
          <p:cNvSpPr/>
          <p:nvPr/>
        </p:nvSpPr>
        <p:spPr>
          <a:xfrm>
            <a:off x="349858" y="1963079"/>
            <a:ext cx="11338559" cy="4629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an Overview of Agent-Based Modeling: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comprehensive understanding of agent-based modeling, encompassing its principles, applications, and advantages in comparison to alternative modeling methodologies.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Logic and Explanatory Role of Agent-Based Modeling: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explanatory significance of agent-based modeling, elucidating how it offers insights into complex systems by simulating the behaviors and interactions of autonomous agents within their environments.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Implement Diverse Agent-Based Models: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skills necessary to design and implement various types of agent-based models, tailored to address specific research questions or real-world scenarios.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Conduct Agent-Based Computational Experiments: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conduct agent-based computational experiments, utilizing simulation techniques to observe emergent phenomena, system dynamics, and outcomes resulting from agent interactions.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Simulation Results Using Statistical Sensitivity Analyses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Netlogo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2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588" y="878861"/>
            <a:ext cx="11808823" cy="529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500" dirty="0">
                <a:solidFill>
                  <a:schemeClr val="bg1"/>
                </a:solidFill>
              </a:rPr>
              <a:t>Units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E28EA1-8813-66C3-E4B8-92E0812FB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83101"/>
              </p:ext>
            </p:extLst>
          </p:nvPr>
        </p:nvGraphicFramePr>
        <p:xfrm>
          <a:off x="428899" y="1709057"/>
          <a:ext cx="9139644" cy="45937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1701">
                  <a:extLst>
                    <a:ext uri="{9D8B030D-6E8A-4147-A177-3AD203B41FA5}">
                      <a16:colId xmlns:a16="http://schemas.microsoft.com/office/drawing/2014/main" val="4249869615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1734966516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189089001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3707083597"/>
                    </a:ext>
                  </a:extLst>
                </a:gridCol>
                <a:gridCol w="794657">
                  <a:extLst>
                    <a:ext uri="{9D8B030D-6E8A-4147-A177-3AD203B41FA5}">
                      <a16:colId xmlns:a16="http://schemas.microsoft.com/office/drawing/2014/main" val="2793761781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1351346358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041973920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956017272"/>
                    </a:ext>
                  </a:extLst>
                </a:gridCol>
              </a:tblGrid>
              <a:tr h="2456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Session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Weekday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Date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Begin time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End time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Teaching activity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 err="1">
                          <a:effectLst/>
                        </a:rPr>
                        <a:t>Room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Assgn.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104496652"/>
                  </a:ext>
                </a:extLst>
              </a:tr>
              <a:tr h="22265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 err="1">
                          <a:effectLst/>
                        </a:rPr>
                        <a:t>Tuesday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2026-03-10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Introduction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SP34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242792412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Tuesday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2026-03-10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13:15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15:00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NetLogo: Basic Concepts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SP34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59261351"/>
                  </a:ext>
                </a:extLst>
              </a:tr>
              <a:tr h="22265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Wednesday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2026-03-11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Basic Models 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SP35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861310559"/>
                  </a:ext>
                </a:extLst>
              </a:tr>
              <a:tr h="230333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Wednesday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2026-03-11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13:15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15:00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Basic Models 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SP35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23898763"/>
                  </a:ext>
                </a:extLst>
              </a:tr>
              <a:tr h="230333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Thursday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2026-03-12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Network Models 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SP35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 &amp; 2 start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578713545"/>
                  </a:ext>
                </a:extLst>
              </a:tr>
              <a:tr h="22265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6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Monday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12:00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Network Models 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K24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 &amp; 2 due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426593344"/>
                  </a:ext>
                </a:extLst>
              </a:tr>
              <a:tr h="230333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7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Monday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13:15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15:00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Complex Models 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K24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33529878"/>
                  </a:ext>
                </a:extLst>
              </a:tr>
              <a:tr h="22265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8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Tuesday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12:00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Complex Models 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K22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793294364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9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Tuesday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13:15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15:00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Groups' Projects Tutoring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K24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3 start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63993303"/>
                  </a:ext>
                </a:extLst>
              </a:tr>
              <a:tr h="22265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Friday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2026-03-27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 err="1">
                          <a:effectLst/>
                        </a:rPr>
                        <a:t>Tutoring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online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46232980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11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Friday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2026-03-27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14:15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16:00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Empirically-Calibrated ABM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online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890832366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Monday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2026-03-30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09:15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11:00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Tutoring for group project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online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646707469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Monday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2026-04-13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10:00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12:00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Group project presentation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online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3 due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49793648"/>
                  </a:ext>
                </a:extLst>
              </a:tr>
              <a:tr h="385578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14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Monday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2026-04-13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14:00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16:00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Group project presentation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</a:rPr>
                        <a:t>online</a:t>
                      </a:r>
                      <a:endParaRPr lang="sv-S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>
                          <a:effectLst/>
                        </a:rPr>
                        <a:t>3 due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654988303"/>
                  </a:ext>
                </a:extLst>
              </a:tr>
              <a:tr h="230333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15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 err="1">
                          <a:effectLst/>
                          <a:highlight>
                            <a:srgbClr val="FFFF00"/>
                          </a:highlight>
                        </a:rPr>
                        <a:t>Monday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2026-04-20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14:00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18:00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Final </a:t>
                      </a:r>
                      <a:r>
                        <a:rPr lang="sv-SE" sz="1000" dirty="0" err="1">
                          <a:effectLst/>
                          <a:highlight>
                            <a:srgbClr val="FFFF00"/>
                          </a:highlight>
                        </a:rPr>
                        <a:t>Exam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000" dirty="0">
                          <a:effectLst/>
                          <a:highlight>
                            <a:srgbClr val="FFFF00"/>
                          </a:highlight>
                        </a:rPr>
                        <a:t>SP35</a:t>
                      </a: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sv-SE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883186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709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588" y="878861"/>
            <a:ext cx="11808823" cy="100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Course examination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DC671B-9740-EB9B-FE24-0766FB259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001545"/>
              </p:ext>
            </p:extLst>
          </p:nvPr>
        </p:nvGraphicFramePr>
        <p:xfrm>
          <a:off x="1749769" y="3429000"/>
          <a:ext cx="2140585" cy="101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241547883"/>
                    </a:ext>
                  </a:extLst>
                </a:gridCol>
                <a:gridCol w="997585">
                  <a:extLst>
                    <a:ext uri="{9D8B030D-6E8A-4147-A177-3AD203B41FA5}">
                      <a16:colId xmlns:a16="http://schemas.microsoft.com/office/drawing/2014/main" val="3410185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Assignment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Max. points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9224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1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6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084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2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6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6271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3*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12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7883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Final exam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</a:rPr>
                        <a:t>24</a:t>
                      </a:r>
                      <a:endParaRPr lang="sv-S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522389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8D377A-7DD3-5907-1272-5BFD3B2A3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05"/>
              </p:ext>
            </p:extLst>
          </p:nvPr>
        </p:nvGraphicFramePr>
        <p:xfrm>
          <a:off x="5346838" y="3226434"/>
          <a:ext cx="1657350" cy="1417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9820">
                  <a:extLst>
                    <a:ext uri="{9D8B030D-6E8A-4147-A177-3AD203B41FA5}">
                      <a16:colId xmlns:a16="http://schemas.microsoft.com/office/drawing/2014/main" val="2663904775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1250309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Points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Grade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773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</a:rPr>
                        <a:t>45 – 48</a:t>
                      </a:r>
                      <a:endParaRPr lang="sv-S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A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89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40 – 44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B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3473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35 – 39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C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376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30 – 34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D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917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25 – 29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E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723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0 – 24</a:t>
                      </a:r>
                      <a:endParaRPr lang="sv-S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</a:rPr>
                        <a:t>F</a:t>
                      </a:r>
                      <a:endParaRPr lang="sv-S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3993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18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90" y="1422173"/>
            <a:ext cx="11808823" cy="1023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Lecture Outline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912E-11A4-4FCE-97CA-56977FD24D8B}"/>
              </a:ext>
            </a:extLst>
          </p:cNvPr>
          <p:cNvSpPr/>
          <p:nvPr/>
        </p:nvSpPr>
        <p:spPr>
          <a:xfrm>
            <a:off x="917049" y="3049703"/>
            <a:ext cx="97818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ABM in Social Science Research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About ABMs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Advantages and disadvantages of ABM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Types of ABM</a:t>
            </a:r>
          </a:p>
        </p:txBody>
      </p:sp>
    </p:spTree>
    <p:extLst>
      <p:ext uri="{BB962C8B-B14F-4D97-AF65-F5344CB8AC3E}">
        <p14:creationId xmlns:p14="http://schemas.microsoft.com/office/powerpoint/2010/main" val="194007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1942BF-BAFA-4899-989A-C78F33F51994}"/>
              </a:ext>
            </a:extLst>
          </p:cNvPr>
          <p:cNvSpPr/>
          <p:nvPr/>
        </p:nvSpPr>
        <p:spPr>
          <a:xfrm>
            <a:off x="2759165" y="1735204"/>
            <a:ext cx="6673669" cy="277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ABM in Social Science Research</a:t>
            </a:r>
          </a:p>
        </p:txBody>
      </p:sp>
    </p:spTree>
    <p:extLst>
      <p:ext uri="{BB962C8B-B14F-4D97-AF65-F5344CB8AC3E}">
        <p14:creationId xmlns:p14="http://schemas.microsoft.com/office/powerpoint/2010/main" val="3106332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63306" y="1514621"/>
            <a:ext cx="2275366" cy="4308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200" dirty="0"/>
              <a:t>Theoretical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7567" y="1518118"/>
            <a:ext cx="2142695" cy="4308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3518" y="457570"/>
            <a:ext cx="3070792" cy="4770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9157" y="1514621"/>
            <a:ext cx="2142695" cy="4308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Analysis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110446" y="1201783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110445" y="1201783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927672" y="1214839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906012" y="1206132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927672" y="934624"/>
            <a:ext cx="0" cy="267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9919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B8A25-52FC-41F2-9B49-96E6869362A1}"/>
              </a:ext>
            </a:extLst>
          </p:cNvPr>
          <p:cNvSpPr txBox="1"/>
          <p:nvPr/>
        </p:nvSpPr>
        <p:spPr>
          <a:xfrm>
            <a:off x="9715412" y="658279"/>
            <a:ext cx="2275366" cy="4308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200" dirty="0"/>
              <a:t>Theoretical design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1EAF82-ED5A-4A6A-BBAC-D01041A1CC0E}"/>
              </a:ext>
            </a:extLst>
          </p:cNvPr>
          <p:cNvCxnSpPr/>
          <p:nvPr/>
        </p:nvCxnSpPr>
        <p:spPr>
          <a:xfrm>
            <a:off x="10988777" y="1320800"/>
            <a:ext cx="0" cy="14093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462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59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66" y="1736242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Every day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66" y="2253175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66" y="2762626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Urban / Rural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66" y="3272077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66" y="3781528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66" y="4290979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66" y="480043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66" y="5309881"/>
            <a:ext cx="1723549" cy="4001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980966" y="585011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organizations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4849568" y="1617747"/>
            <a:ext cx="290737" cy="4809444"/>
          </a:xfrm>
          <a:prstGeom prst="rightBrace">
            <a:avLst>
              <a:gd name="adj1" fmla="val 59254"/>
              <a:gd name="adj2" fmla="val 7806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868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66" y="1736242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Every day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66" y="2253175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66" y="2762626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Urban / Rural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66" y="3272077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66" y="3781528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66" y="4290979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66" y="480043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66" y="5309881"/>
            <a:ext cx="1723549" cy="4001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980966" y="585011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organizations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4849568" y="1617747"/>
            <a:ext cx="290737" cy="4809444"/>
          </a:xfrm>
          <a:prstGeom prst="rightBrace">
            <a:avLst>
              <a:gd name="adj1" fmla="val 59254"/>
              <a:gd name="adj2" fmla="val 7806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789279" y="4197476"/>
            <a:ext cx="907411" cy="3231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Theory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9278" y="4568427"/>
            <a:ext cx="907411" cy="3231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Theory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9277" y="4939378"/>
            <a:ext cx="907411" cy="3231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sv-SE" sz="1500" dirty="0"/>
              <a:t>…</a:t>
            </a:r>
            <a:endParaRPr lang="en-US" sz="1500" dirty="0"/>
          </a:p>
        </p:txBody>
      </p:sp>
      <p:sp>
        <p:nvSpPr>
          <p:cNvPr id="33" name="TextBox 32"/>
          <p:cNvSpPr txBox="1"/>
          <p:nvPr/>
        </p:nvSpPr>
        <p:spPr>
          <a:xfrm>
            <a:off x="1789276" y="5309881"/>
            <a:ext cx="907411" cy="3231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Theory n</a:t>
            </a:r>
          </a:p>
        </p:txBody>
      </p:sp>
      <p:sp>
        <p:nvSpPr>
          <p:cNvPr id="34" name="Right Brace 33"/>
          <p:cNvSpPr/>
          <p:nvPr/>
        </p:nvSpPr>
        <p:spPr>
          <a:xfrm>
            <a:off x="2661391" y="4089753"/>
            <a:ext cx="215646" cy="1699249"/>
          </a:xfrm>
          <a:prstGeom prst="rightBrace">
            <a:avLst>
              <a:gd name="adj1" fmla="val 59254"/>
              <a:gd name="adj2" fmla="val 5373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57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66" y="1736242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Every day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66" y="2253175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66" y="2762626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Urban / Rural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66" y="3272077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66" y="3781528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66" y="4290979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66" y="480043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66" y="5309881"/>
            <a:ext cx="1723549" cy="4001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980966" y="585011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organizations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401" y="5642361"/>
            <a:ext cx="1713482" cy="7848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+ 100 theories which do not agree in basic principles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4849568" y="1617747"/>
            <a:ext cx="290737" cy="4809444"/>
          </a:xfrm>
          <a:prstGeom prst="rightBrace">
            <a:avLst>
              <a:gd name="adj1" fmla="val 59254"/>
              <a:gd name="adj2" fmla="val 7806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1320269" y="5183904"/>
            <a:ext cx="442302" cy="306241"/>
          </a:xfrm>
          <a:prstGeom prst="upArrow">
            <a:avLst>
              <a:gd name="adj1" fmla="val 26372"/>
              <a:gd name="adj2" fmla="val 44313"/>
            </a:avLst>
          </a:prstGeom>
        </p:spPr>
        <p:style>
          <a:lnRef idx="2">
            <a:schemeClr val="accent2">
              <a:shade val="50000"/>
            </a:schemeClr>
          </a:lnRef>
          <a:fillRef idx="1003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0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66" y="1736242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Every day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66" y="2253175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66" y="2762626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Urban / Rural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66" y="3272077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66" y="3781528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66" y="4290979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66" y="480043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66" y="5309881"/>
            <a:ext cx="1723549" cy="4001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980966" y="585011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organizations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401" y="5642361"/>
            <a:ext cx="1713482" cy="7848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+ 100 theories which do not agree in basic principles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4849568" y="1617747"/>
            <a:ext cx="290737" cy="4809444"/>
          </a:xfrm>
          <a:prstGeom prst="rightBrace">
            <a:avLst>
              <a:gd name="adj1" fmla="val 59254"/>
              <a:gd name="adj2" fmla="val 7806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1320269" y="5183904"/>
            <a:ext cx="442302" cy="306241"/>
          </a:xfrm>
          <a:prstGeom prst="upArrow">
            <a:avLst>
              <a:gd name="adj1" fmla="val 26372"/>
              <a:gd name="adj2" fmla="val 44313"/>
            </a:avLst>
          </a:prstGeom>
        </p:spPr>
        <p:style>
          <a:lnRef idx="2">
            <a:schemeClr val="accent2">
              <a:shade val="50000"/>
            </a:schemeClr>
          </a:lnRef>
          <a:fillRef idx="1003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Image result for duncan wat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52" y="2685273"/>
            <a:ext cx="1320036" cy="193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2547" y="4742553"/>
            <a:ext cx="25392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/>
              <a:t>”</a:t>
            </a:r>
            <a:r>
              <a:rPr lang="sv-SE" sz="1400" b="1" dirty="0"/>
              <a:t>Bookshelf problem</a:t>
            </a:r>
            <a:r>
              <a:rPr lang="sv-SE" sz="1400" dirty="0"/>
              <a:t>” (D. Watts): </a:t>
            </a:r>
          </a:p>
        </p:txBody>
      </p:sp>
    </p:spTree>
    <p:extLst>
      <p:ext uri="{BB962C8B-B14F-4D97-AF65-F5344CB8AC3E}">
        <p14:creationId xmlns:p14="http://schemas.microsoft.com/office/powerpoint/2010/main" val="1026104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32036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4652" y="2360803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Natural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6036" y="3008028"/>
            <a:ext cx="169209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Formal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4652" y="3655253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8652" y="1617747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Anthropology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8652" y="2127198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8652" y="2636649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2" y="3146100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8652" y="3655551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8652" y="4165002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Psychology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652" y="4674453"/>
            <a:ext cx="172354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538652" y="5183904"/>
            <a:ext cx="1713482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66" y="1736242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Every day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66" y="2253175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66" y="2762626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Urban / Rural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66" y="3272077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66" y="3781528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66" y="4290979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Political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66" y="480043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66" y="5309881"/>
            <a:ext cx="1723549" cy="40011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" wrap="square" rtlCol="0">
            <a:spAutoFit/>
          </a:bodyPr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sv-SE" sz="2000" dirty="0"/>
              <a:t>…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980966" y="5850110"/>
            <a:ext cx="171348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Of organizations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401" y="5642361"/>
            <a:ext cx="1713482" cy="7848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+ 100 theories which do not agree in basic principles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9715412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7385870" y="1556617"/>
            <a:ext cx="290737" cy="4153373"/>
          </a:xfrm>
          <a:prstGeom prst="rightBrace">
            <a:avLst>
              <a:gd name="adj1" fmla="val 59254"/>
              <a:gd name="adj2" fmla="val 5545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4849568" y="1617747"/>
            <a:ext cx="290737" cy="4809444"/>
          </a:xfrm>
          <a:prstGeom prst="rightBrace">
            <a:avLst>
              <a:gd name="adj1" fmla="val 59254"/>
              <a:gd name="adj2" fmla="val 78066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/>
          <p:cNvSpPr/>
          <p:nvPr/>
        </p:nvSpPr>
        <p:spPr>
          <a:xfrm>
            <a:off x="1320269" y="5183904"/>
            <a:ext cx="442302" cy="306241"/>
          </a:xfrm>
          <a:prstGeom prst="upArrow">
            <a:avLst>
              <a:gd name="adj1" fmla="val 26372"/>
              <a:gd name="adj2" fmla="val 44313"/>
            </a:avLst>
          </a:prstGeom>
        </p:spPr>
        <p:style>
          <a:lnRef idx="2">
            <a:schemeClr val="accent2">
              <a:shade val="50000"/>
            </a:schemeClr>
          </a:lnRef>
          <a:fillRef idx="1003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Image result for duncan wat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52" y="2685273"/>
            <a:ext cx="1320036" cy="193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2547" y="4742553"/>
            <a:ext cx="25392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/>
              <a:t>”</a:t>
            </a:r>
            <a:r>
              <a:rPr lang="sv-SE" sz="1400" b="1" dirty="0"/>
              <a:t>Bookshelf problem</a:t>
            </a:r>
            <a:r>
              <a:rPr lang="sv-SE" sz="1400" dirty="0"/>
              <a:t>” (D. Watts):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01" y="172817"/>
            <a:ext cx="3193006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v-SE" sz="1900" dirty="0">
              <a:highlight>
                <a:srgbClr val="FFFF00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v-SE" sz="1900" dirty="0">
                <a:highlight>
                  <a:srgbClr val="FFFF00"/>
                </a:highlight>
              </a:rPr>
              <a:t>If </a:t>
            </a:r>
            <a:r>
              <a:rPr lang="sv-SE" sz="1900" dirty="0" err="1">
                <a:highlight>
                  <a:srgbClr val="FFFF00"/>
                </a:highlight>
              </a:rPr>
              <a:t>you</a:t>
            </a:r>
            <a:r>
              <a:rPr lang="sv-SE" sz="1900" dirty="0">
                <a:highlight>
                  <a:srgbClr val="FFFF00"/>
                </a:highlight>
              </a:rPr>
              <a:t> read </a:t>
            </a:r>
            <a:r>
              <a:rPr lang="sv-SE" sz="1900" dirty="0" err="1">
                <a:highlight>
                  <a:srgbClr val="FFFF00"/>
                </a:highlight>
              </a:rPr>
              <a:t>one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book</a:t>
            </a:r>
            <a:r>
              <a:rPr lang="sv-SE" sz="1900" dirty="0">
                <a:highlight>
                  <a:srgbClr val="FFFF00"/>
                </a:highlight>
              </a:rPr>
              <a:t>/paper </a:t>
            </a:r>
            <a:r>
              <a:rPr lang="sv-SE" sz="1900" dirty="0" err="1">
                <a:highlight>
                  <a:srgbClr val="FFFF00"/>
                </a:highlight>
              </a:rPr>
              <a:t>you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feel</a:t>
            </a:r>
            <a:r>
              <a:rPr lang="sv-SE" sz="1900" dirty="0">
                <a:highlight>
                  <a:srgbClr val="FFFF00"/>
                </a:highlight>
              </a:rPr>
              <a:t> like </a:t>
            </a:r>
            <a:r>
              <a:rPr lang="sv-SE" sz="1900" dirty="0" err="1">
                <a:highlight>
                  <a:srgbClr val="FFFF00"/>
                </a:highlight>
              </a:rPr>
              <a:t>you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have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learned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something</a:t>
            </a:r>
            <a:r>
              <a:rPr lang="sv-SE" sz="1900" dirty="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sv-SE" sz="19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v-SE" sz="1900" dirty="0">
                <a:highlight>
                  <a:srgbClr val="FFFF00"/>
                </a:highlight>
              </a:rPr>
              <a:t>If </a:t>
            </a:r>
            <a:r>
              <a:rPr lang="sv-SE" sz="1900" dirty="0" err="1">
                <a:highlight>
                  <a:srgbClr val="FFFF00"/>
                </a:highlight>
              </a:rPr>
              <a:t>you</a:t>
            </a:r>
            <a:r>
              <a:rPr lang="sv-SE" sz="1900" dirty="0">
                <a:highlight>
                  <a:srgbClr val="FFFF00"/>
                </a:highlight>
              </a:rPr>
              <a:t> read </a:t>
            </a:r>
            <a:r>
              <a:rPr lang="sv-SE" sz="1900" dirty="0" err="1">
                <a:highlight>
                  <a:srgbClr val="FFFF00"/>
                </a:highlight>
              </a:rPr>
              <a:t>many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you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feel</a:t>
            </a:r>
            <a:r>
              <a:rPr lang="sv-SE" sz="1900" dirty="0">
                <a:highlight>
                  <a:srgbClr val="FFFF00"/>
                </a:highlight>
              </a:rPr>
              <a:t> </a:t>
            </a:r>
            <a:r>
              <a:rPr lang="sv-SE" sz="1900" dirty="0" err="1">
                <a:highlight>
                  <a:srgbClr val="FFFF00"/>
                </a:highlight>
              </a:rPr>
              <a:t>confused</a:t>
            </a:r>
            <a:r>
              <a:rPr lang="sv-SE" sz="1900" dirty="0">
                <a:highlight>
                  <a:srgbClr val="FFFF00"/>
                </a:highlight>
              </a:rPr>
              <a:t>.</a:t>
            </a:r>
            <a:endParaRPr lang="en-US" sz="19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33031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4790" y="3024422"/>
            <a:ext cx="1713482" cy="369332"/>
          </a:xfrm>
          <a:prstGeom prst="rect">
            <a:avLst/>
          </a:prstGeom>
        </p:spPr>
        <p:style>
          <a:lnRef idx="1">
            <a:schemeClr val="accent1"/>
          </a:lnRef>
          <a:fillRef idx="1002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Science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8797" y="3040425"/>
            <a:ext cx="1713482" cy="369332"/>
          </a:xfrm>
          <a:prstGeom prst="rect">
            <a:avLst/>
          </a:prstGeom>
        </p:spPr>
        <p:style>
          <a:lnRef idx="1">
            <a:schemeClr val="accent2"/>
          </a:lnRef>
          <a:fillRef idx="1002">
            <a:schemeClr val="l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Social sciences</a:t>
            </a:r>
          </a:p>
        </p:txBody>
      </p:sp>
      <p:sp>
        <p:nvSpPr>
          <p:cNvPr id="25" name="Right Brace 24"/>
          <p:cNvSpPr/>
          <p:nvPr/>
        </p:nvSpPr>
        <p:spPr>
          <a:xfrm>
            <a:off x="3088166" y="2285179"/>
            <a:ext cx="290737" cy="1879824"/>
          </a:xfrm>
          <a:prstGeom prst="rightBrace">
            <a:avLst>
              <a:gd name="adj1" fmla="val 59254"/>
              <a:gd name="adj2" fmla="val 50000"/>
            </a:avLst>
          </a:prstGeom>
          <a:ln/>
        </p:spPr>
        <p:style>
          <a:lnRef idx="3">
            <a:schemeClr val="dk1"/>
          </a:lnRef>
          <a:fillRef idx="1002">
            <a:schemeClr val="lt2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63306" y="1514621"/>
            <a:ext cx="2275366" cy="430887"/>
          </a:xfrm>
          <a:prstGeom prst="rect">
            <a:avLst/>
          </a:prstGeom>
        </p:spPr>
        <p:style>
          <a:lnRef idx="1">
            <a:schemeClr val="accent1"/>
          </a:lnRef>
          <a:fillRef idx="1002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200" dirty="0"/>
              <a:t>Theoretical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7567" y="1518118"/>
            <a:ext cx="2142695" cy="43088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3518" y="457570"/>
            <a:ext cx="3070792" cy="4770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9157" y="1514621"/>
            <a:ext cx="2142695" cy="43088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Analysis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110446" y="1201783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0445" y="1201783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1002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927672" y="1214839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906012" y="1206132"/>
            <a:ext cx="0" cy="31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927672" y="934624"/>
            <a:ext cx="0" cy="267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70" name="Picture 2" descr="Image result for toolbox clipart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44159" y="2545246"/>
            <a:ext cx="4181475" cy="357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11252" y="4546327"/>
            <a:ext cx="39402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Learn to program different type of situations, environments, interactions, agents</a:t>
            </a:r>
          </a:p>
        </p:txBody>
      </p:sp>
      <p:pic>
        <p:nvPicPr>
          <p:cNvPr id="7172" name="Picture 4" descr="Image result for toolbox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521" y="2901866"/>
            <a:ext cx="2235679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27F695-ECCE-4104-B5E5-2FD5ED92AC40}"/>
              </a:ext>
            </a:extLst>
          </p:cNvPr>
          <p:cNvSpPr/>
          <p:nvPr/>
        </p:nvSpPr>
        <p:spPr>
          <a:xfrm>
            <a:off x="653143" y="4253939"/>
            <a:ext cx="4379129" cy="2215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300" dirty="0"/>
              <a:t>In this course, I assume you know the most prominent theories in your field of expertise. The goal of the course is thus translating those theories into an agent-based model.</a:t>
            </a:r>
            <a:endParaRPr lang="sv-SE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8B606-0968-24C5-F4DC-6FD1316415AA}"/>
              </a:ext>
            </a:extLst>
          </p:cNvPr>
          <p:cNvSpPr txBox="1"/>
          <p:nvPr/>
        </p:nvSpPr>
        <p:spPr>
          <a:xfrm rot="19672726">
            <a:off x="1005141" y="2083627"/>
            <a:ext cx="3153702" cy="76944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Comment master thesis!!!</a:t>
            </a:r>
          </a:p>
        </p:txBody>
      </p:sp>
    </p:spTree>
    <p:extLst>
      <p:ext uri="{BB962C8B-B14F-4D97-AF65-F5344CB8AC3E}">
        <p14:creationId xmlns:p14="http://schemas.microsoft.com/office/powerpoint/2010/main" val="11586580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</a:t>
            </a:r>
            <a:r>
              <a:rPr lang="en-US" sz="2500" dirty="0">
                <a:highlight>
                  <a:srgbClr val="FFFF00"/>
                </a:highlight>
              </a:rPr>
              <a:t>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r>
              <a:rPr lang="en-US" sz="2500" dirty="0">
                <a:solidFill>
                  <a:schemeClr val="bg1"/>
                </a:solidFill>
              </a:rPr>
              <a:t>b) Micro explanation of macro patterns -&gt; </a:t>
            </a:r>
            <a:r>
              <a:rPr lang="en-US" sz="2500" b="1" dirty="0">
                <a:solidFill>
                  <a:schemeClr val="bg1"/>
                </a:solidFill>
              </a:rPr>
              <a:t>Methodological Individualism </a:t>
            </a:r>
            <a:r>
              <a:rPr lang="en-US" sz="2500" dirty="0">
                <a:solidFill>
                  <a:schemeClr val="bg1"/>
                </a:solidFill>
              </a:rPr>
              <a:t>(MI)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It is a doctrine that states that social phenomena must be explained by individual actions -&gt; </a:t>
            </a:r>
            <a:r>
              <a:rPr lang="en-US" sz="2500" b="1" dirty="0">
                <a:solidFill>
                  <a:schemeClr val="bg1"/>
                </a:solidFill>
              </a:rPr>
              <a:t>“micro” foundations.</a:t>
            </a:r>
          </a:p>
          <a:p>
            <a:endParaRPr lang="en-US" sz="2500" b="1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The reason for this is that only individuals possess </a:t>
            </a:r>
            <a:r>
              <a:rPr lang="en-US" sz="2500" b="1" dirty="0">
                <a:solidFill>
                  <a:schemeClr val="bg1"/>
                </a:solidFill>
              </a:rPr>
              <a:t>intentional states </a:t>
            </a:r>
            <a:r>
              <a:rPr lang="en-US" sz="2500" dirty="0">
                <a:solidFill>
                  <a:schemeClr val="bg1"/>
                </a:solidFill>
              </a:rPr>
              <a:t>and not, for example, cities or social phenomena.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“To explain social institutions and social change is to show how they arise as a result of the actions and interaction of individuals (</a:t>
            </a:r>
            <a:r>
              <a:rPr lang="en-US" sz="2500" dirty="0" err="1">
                <a:solidFill>
                  <a:schemeClr val="bg1"/>
                </a:solidFill>
              </a:rPr>
              <a:t>Elster</a:t>
            </a:r>
            <a:r>
              <a:rPr lang="en-US" sz="2500" dirty="0">
                <a:solidFill>
                  <a:schemeClr val="bg1"/>
                </a:solidFill>
              </a:rPr>
              <a:t>, 1989).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0008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</a:t>
            </a:r>
            <a:r>
              <a:rPr lang="en-US" sz="2500" dirty="0">
                <a:highlight>
                  <a:srgbClr val="FFFF00"/>
                </a:highlight>
              </a:rPr>
              <a:t>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Micro explanation of macro patterns -&gt; </a:t>
            </a:r>
            <a:r>
              <a:rPr lang="en-US" sz="2500" dirty="0">
                <a:highlight>
                  <a:srgbClr val="FFFF00"/>
                </a:highlight>
              </a:rPr>
              <a:t>(residential choices -&gt; segregation)</a:t>
            </a:r>
          </a:p>
        </p:txBody>
      </p:sp>
      <p:pic>
        <p:nvPicPr>
          <p:cNvPr id="3" name="Picture 4" descr="Understanding Society: Computational models for social phenomena">
            <a:extLst>
              <a:ext uri="{FF2B5EF4-FFF2-40B4-BE49-F238E27FC236}">
                <a16:creationId xmlns:a16="http://schemas.microsoft.com/office/drawing/2014/main" id="{BF7A82D4-2B4D-69E8-71D8-A36E9046E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743" y="3267654"/>
            <a:ext cx="6227031" cy="326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644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r>
              <a:rPr lang="en-US" sz="2500" dirty="0"/>
              <a:t>b)   Micro explanation of macro patterns -&gt; </a:t>
            </a:r>
            <a:r>
              <a:rPr lang="en-US" sz="2500" b="1" dirty="0">
                <a:highlight>
                  <a:srgbClr val="FFFF00"/>
                </a:highlight>
              </a:rPr>
              <a:t>Methodological Individualism </a:t>
            </a:r>
            <a:r>
              <a:rPr lang="en-US" sz="2500" dirty="0">
                <a:highlight>
                  <a:srgbClr val="FFFF00"/>
                </a:highlight>
              </a:rPr>
              <a:t>(MI)</a:t>
            </a:r>
          </a:p>
        </p:txBody>
      </p:sp>
    </p:spTree>
    <p:extLst>
      <p:ext uri="{BB962C8B-B14F-4D97-AF65-F5344CB8AC3E}">
        <p14:creationId xmlns:p14="http://schemas.microsoft.com/office/powerpoint/2010/main" val="887593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r>
              <a:rPr lang="en-US" sz="2500" dirty="0"/>
              <a:t>b)   Micro explanation of macro patterns -&gt; </a:t>
            </a:r>
            <a:r>
              <a:rPr lang="en-US" sz="2500" b="1" dirty="0">
                <a:highlight>
                  <a:srgbClr val="FFFF00"/>
                </a:highlight>
              </a:rPr>
              <a:t>Methodological Individualism</a:t>
            </a:r>
            <a:r>
              <a:rPr lang="en-US" sz="2500" b="1" dirty="0"/>
              <a:t> </a:t>
            </a:r>
            <a:r>
              <a:rPr lang="en-US" sz="2500" dirty="0"/>
              <a:t>(MI)</a:t>
            </a:r>
          </a:p>
          <a:p>
            <a:endParaRPr lang="en-US" sz="2500" dirty="0"/>
          </a:p>
          <a:p>
            <a:r>
              <a:rPr lang="en-US" sz="2500" dirty="0"/>
              <a:t>It is a doctrine that states that social phenomena must be explained by individual actions -&gt; </a:t>
            </a:r>
            <a:r>
              <a:rPr lang="en-US" sz="2500" b="1" dirty="0"/>
              <a:t>“micro” foundations.</a:t>
            </a:r>
          </a:p>
          <a:p>
            <a:endParaRPr lang="en-US" sz="2500" b="1" dirty="0"/>
          </a:p>
          <a:p>
            <a:r>
              <a:rPr lang="en-US" sz="2500" dirty="0">
                <a:solidFill>
                  <a:schemeClr val="bg1"/>
                </a:solidFill>
              </a:rPr>
              <a:t>The reason for this is that only individuals possess </a:t>
            </a:r>
            <a:r>
              <a:rPr lang="en-US" sz="2500" b="1" dirty="0">
                <a:solidFill>
                  <a:schemeClr val="bg1"/>
                </a:solidFill>
              </a:rPr>
              <a:t>intentional states </a:t>
            </a:r>
            <a:r>
              <a:rPr lang="en-US" sz="2500" dirty="0">
                <a:solidFill>
                  <a:schemeClr val="bg1"/>
                </a:solidFill>
              </a:rPr>
              <a:t>and not, for example, cities or social phenomena.</a:t>
            </a:r>
          </a:p>
          <a:p>
            <a:endParaRPr lang="en-US" sz="25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“To explain social institutions and social change is to show how they arise as a result of the actions and interaction of individuals (</a:t>
            </a:r>
            <a:r>
              <a:rPr lang="en-US" sz="2500" dirty="0" err="1">
                <a:solidFill>
                  <a:schemeClr val="bg1"/>
                </a:solidFill>
              </a:rPr>
              <a:t>Elster</a:t>
            </a:r>
            <a:r>
              <a:rPr lang="en-US" sz="2500" dirty="0">
                <a:solidFill>
                  <a:schemeClr val="bg1"/>
                </a:solidFill>
              </a:rPr>
              <a:t>, 1989).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470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r>
              <a:rPr lang="en-US" sz="2500" dirty="0"/>
              <a:t>b)   Micro explanation of macro patterns -&gt; </a:t>
            </a:r>
            <a:r>
              <a:rPr lang="en-US" sz="2500" b="1" dirty="0">
                <a:highlight>
                  <a:srgbClr val="FFFF00"/>
                </a:highlight>
              </a:rPr>
              <a:t>Methodological Individualism</a:t>
            </a:r>
            <a:r>
              <a:rPr lang="en-US" sz="2500" b="1" dirty="0"/>
              <a:t> </a:t>
            </a:r>
            <a:r>
              <a:rPr lang="en-US" sz="2500" dirty="0"/>
              <a:t>(MI)</a:t>
            </a:r>
          </a:p>
          <a:p>
            <a:endParaRPr lang="en-US" sz="2500" dirty="0"/>
          </a:p>
          <a:p>
            <a:r>
              <a:rPr lang="en-US" sz="2500" dirty="0"/>
              <a:t>It is a doctrine that states that social phenomena must be explained by individual actions -&gt; </a:t>
            </a:r>
            <a:r>
              <a:rPr lang="en-US" sz="2500" b="1" dirty="0"/>
              <a:t>“micro” foundations.</a:t>
            </a:r>
          </a:p>
          <a:p>
            <a:endParaRPr lang="en-US" sz="2500" b="1" dirty="0"/>
          </a:p>
          <a:p>
            <a:r>
              <a:rPr lang="en-US" sz="2500" dirty="0"/>
              <a:t>The reason for this is that only individuals possess </a:t>
            </a:r>
            <a:r>
              <a:rPr lang="en-US" sz="2500" b="1" dirty="0"/>
              <a:t>intentional states </a:t>
            </a:r>
            <a:r>
              <a:rPr lang="en-US" sz="2500" dirty="0"/>
              <a:t>and not, for example, cities or social phenomena.</a:t>
            </a:r>
          </a:p>
          <a:p>
            <a:endParaRPr lang="en-US" sz="2500" dirty="0"/>
          </a:p>
          <a:p>
            <a:r>
              <a:rPr lang="en-US" sz="2500" dirty="0">
                <a:solidFill>
                  <a:schemeClr val="bg1"/>
                </a:solidFill>
              </a:rPr>
              <a:t>“To explain social institutions and social change is to show how they arise as a result of the actions and interaction of individuals (</a:t>
            </a:r>
            <a:r>
              <a:rPr lang="en-US" sz="2500" dirty="0" err="1">
                <a:solidFill>
                  <a:schemeClr val="bg1"/>
                </a:solidFill>
              </a:rPr>
              <a:t>Elster</a:t>
            </a:r>
            <a:r>
              <a:rPr lang="en-US" sz="2500" dirty="0">
                <a:solidFill>
                  <a:schemeClr val="bg1"/>
                </a:solidFill>
              </a:rPr>
              <a:t>, 1989).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031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4C879-2B4D-46DE-97DD-8BC96A89F90E}"/>
              </a:ext>
            </a:extLst>
          </p:cNvPr>
          <p:cNvSpPr/>
          <p:nvPr/>
        </p:nvSpPr>
        <p:spPr>
          <a:xfrm>
            <a:off x="784572" y="1009134"/>
            <a:ext cx="1075428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The theories you know could be grouped on:</a:t>
            </a:r>
          </a:p>
          <a:p>
            <a:endParaRPr lang="en-US" sz="2500" dirty="0"/>
          </a:p>
          <a:p>
            <a:pPr marL="457200" indent="-457200">
              <a:buAutoNum type="alphaLcParenR"/>
            </a:pPr>
            <a:r>
              <a:rPr lang="en-US" sz="2500" dirty="0"/>
              <a:t>Macro to Macro explanation (inequality -&gt; segregation)</a:t>
            </a:r>
          </a:p>
          <a:p>
            <a:pPr marL="457200" indent="-457200">
              <a:buAutoNum type="alphaLcParenR"/>
            </a:pPr>
            <a:endParaRPr lang="en-US" sz="2500" dirty="0"/>
          </a:p>
          <a:p>
            <a:r>
              <a:rPr lang="en-US" sz="2500" dirty="0"/>
              <a:t>b)   Micro explanation of macro patterns -&gt; </a:t>
            </a:r>
            <a:r>
              <a:rPr lang="en-US" sz="2500" b="1" dirty="0">
                <a:highlight>
                  <a:srgbClr val="FFFF00"/>
                </a:highlight>
              </a:rPr>
              <a:t>Methodological Individualism</a:t>
            </a:r>
            <a:r>
              <a:rPr lang="en-US" sz="2500" b="1" dirty="0"/>
              <a:t> </a:t>
            </a:r>
            <a:r>
              <a:rPr lang="en-US" sz="2500" dirty="0"/>
              <a:t>(MI)</a:t>
            </a:r>
          </a:p>
          <a:p>
            <a:endParaRPr lang="en-US" sz="2500" dirty="0"/>
          </a:p>
          <a:p>
            <a:r>
              <a:rPr lang="en-US" sz="2500" dirty="0"/>
              <a:t>It is a doctrine that states that social phenomena must be explained by individual actions -&gt; </a:t>
            </a:r>
            <a:r>
              <a:rPr lang="en-US" sz="2500" b="1" dirty="0"/>
              <a:t>“micro” foundations.</a:t>
            </a:r>
          </a:p>
          <a:p>
            <a:endParaRPr lang="en-US" sz="2500" b="1" dirty="0"/>
          </a:p>
          <a:p>
            <a:r>
              <a:rPr lang="en-US" sz="2500" dirty="0"/>
              <a:t>The reason for this is that only individuals possess </a:t>
            </a:r>
            <a:r>
              <a:rPr lang="en-US" sz="2500" b="1" dirty="0"/>
              <a:t>intentional states </a:t>
            </a:r>
            <a:r>
              <a:rPr lang="en-US" sz="2500" dirty="0"/>
              <a:t>and not, for example, cities or social phenomena.</a:t>
            </a:r>
          </a:p>
          <a:p>
            <a:endParaRPr lang="en-US" sz="2500" dirty="0"/>
          </a:p>
          <a:p>
            <a:r>
              <a:rPr lang="en-US" sz="2500" dirty="0">
                <a:highlight>
                  <a:srgbClr val="FFFF00"/>
                </a:highlight>
              </a:rPr>
              <a:t>“To explain social institutions and social change is to show how they arise as a result of the actions and interaction of individuals (</a:t>
            </a:r>
            <a:r>
              <a:rPr lang="en-US" sz="2500" dirty="0" err="1">
                <a:highlight>
                  <a:srgbClr val="FFFF00"/>
                </a:highlight>
              </a:rPr>
              <a:t>Elster</a:t>
            </a:r>
            <a:r>
              <a:rPr lang="en-US" sz="2500" dirty="0">
                <a:highlight>
                  <a:srgbClr val="FFFF00"/>
                </a:highlight>
              </a:rPr>
              <a:t>, 1989).</a:t>
            </a:r>
            <a:endParaRPr lang="sv-SE" sz="2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09883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98048CC-A129-9AAE-BB5A-CBEC9F92E3B3}"/>
              </a:ext>
            </a:extLst>
          </p:cNvPr>
          <p:cNvSpPr txBox="1"/>
          <p:nvPr/>
        </p:nvSpPr>
        <p:spPr>
          <a:xfrm>
            <a:off x="3874780" y="676550"/>
            <a:ext cx="3194359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400" dirty="0"/>
              <a:t>Decision </a:t>
            </a:r>
            <a:r>
              <a:rPr lang="sv-SE" sz="2400" b="1" dirty="0" err="1"/>
              <a:t>context</a:t>
            </a:r>
            <a:r>
              <a:rPr lang="sv-SE" sz="2400" dirty="0"/>
              <a:t> on X </a:t>
            </a:r>
          </a:p>
        </p:txBody>
      </p:sp>
    </p:spTree>
    <p:extLst>
      <p:ext uri="{BB962C8B-B14F-4D97-AF65-F5344CB8AC3E}">
        <p14:creationId xmlns:p14="http://schemas.microsoft.com/office/powerpoint/2010/main" val="1491170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4265707" y="1703990"/>
            <a:ext cx="2601470" cy="3095431"/>
            <a:chOff x="1812793" y="150961"/>
            <a:chExt cx="2601470" cy="30954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015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endParaRPr lang="sv-SE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477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3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2FCF92-1616-4804-8680-3ADE073C7607}"/>
                </a:ext>
              </a:extLst>
            </p:cNvPr>
            <p:cNvSpPr/>
            <p:nvPr/>
          </p:nvSpPr>
          <p:spPr>
            <a:xfrm>
              <a:off x="3053441" y="150961"/>
              <a:ext cx="13608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Alternatives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874556" y="2877060"/>
              <a:ext cx="2256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Decision </a:t>
              </a:r>
              <a:r>
                <a:rPr lang="sv-SE" b="1" dirty="0" err="1"/>
                <a:t>context</a:t>
              </a:r>
              <a:r>
                <a:rPr lang="sv-SE" dirty="0"/>
                <a:t> on X 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C399D45-FE84-416B-95A1-DB207FD66B54}"/>
              </a:ext>
            </a:extLst>
          </p:cNvPr>
          <p:cNvSpPr/>
          <p:nvPr/>
        </p:nvSpPr>
        <p:spPr>
          <a:xfrm>
            <a:off x="4051921" y="4270536"/>
            <a:ext cx="2840078" cy="72153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048CC-A129-9AAE-BB5A-CBEC9F92E3B3}"/>
              </a:ext>
            </a:extLst>
          </p:cNvPr>
          <p:cNvSpPr txBox="1"/>
          <p:nvPr/>
        </p:nvSpPr>
        <p:spPr>
          <a:xfrm>
            <a:off x="3874780" y="676550"/>
            <a:ext cx="3194359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400" dirty="0"/>
              <a:t>Decision </a:t>
            </a:r>
            <a:r>
              <a:rPr lang="sv-SE" sz="2400" b="1" dirty="0" err="1"/>
              <a:t>context</a:t>
            </a:r>
            <a:r>
              <a:rPr lang="sv-SE" sz="2400" dirty="0"/>
              <a:t> on X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33854-ADF4-08DC-2623-589BEF9B9085}"/>
              </a:ext>
            </a:extLst>
          </p:cNvPr>
          <p:cNvSpPr txBox="1"/>
          <p:nvPr/>
        </p:nvSpPr>
        <p:spPr>
          <a:xfrm>
            <a:off x="88641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dirty="0" err="1">
                <a:solidFill>
                  <a:srgbClr val="0D0D0D"/>
                </a:solidFill>
                <a:latin typeface="Söhne"/>
              </a:rPr>
              <a:t>L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eft</a:t>
            </a:r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45AD3-A1A7-DFE7-5F22-2663AB15821D}"/>
              </a:ext>
            </a:extLst>
          </p:cNvPr>
          <p:cNvSpPr txBox="1"/>
          <p:nvPr/>
        </p:nvSpPr>
        <p:spPr>
          <a:xfrm>
            <a:off x="810956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Right 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724A67-898F-8179-A9DF-1D04D2E8EDFE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186649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BEE655-8E67-A65B-AA6B-328EEACF6F8D}"/>
              </a:ext>
            </a:extLst>
          </p:cNvPr>
          <p:cNvCxnSpPr/>
          <p:nvPr/>
        </p:nvCxnSpPr>
        <p:spPr>
          <a:xfrm flipH="1" flipV="1">
            <a:off x="710542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06B42D-8DCD-795B-BB44-11468CBC3D94}"/>
              </a:ext>
            </a:extLst>
          </p:cNvPr>
          <p:cNvCxnSpPr>
            <a:cxnSpLocks/>
          </p:cNvCxnSpPr>
          <p:nvPr/>
        </p:nvCxnSpPr>
        <p:spPr>
          <a:xfrm flipV="1">
            <a:off x="9113710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818C1B-D22F-127B-2E43-C5543F3E5786}"/>
              </a:ext>
            </a:extLst>
          </p:cNvPr>
          <p:cNvCxnSpPr>
            <a:cxnSpLocks/>
          </p:cNvCxnSpPr>
          <p:nvPr/>
        </p:nvCxnSpPr>
        <p:spPr>
          <a:xfrm flipV="1">
            <a:off x="1866492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280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4265707" y="1703990"/>
            <a:ext cx="2601470" cy="3095431"/>
            <a:chOff x="1812793" y="150961"/>
            <a:chExt cx="2601470" cy="30954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015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endParaRPr lang="sv-SE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477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3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2FCF92-1616-4804-8680-3ADE073C7607}"/>
                </a:ext>
              </a:extLst>
            </p:cNvPr>
            <p:cNvSpPr/>
            <p:nvPr/>
          </p:nvSpPr>
          <p:spPr>
            <a:xfrm>
              <a:off x="3053441" y="150961"/>
              <a:ext cx="13608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Alternatives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874556" y="2877060"/>
              <a:ext cx="2256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Decision </a:t>
              </a:r>
              <a:r>
                <a:rPr lang="sv-SE" b="1" dirty="0" err="1"/>
                <a:t>context</a:t>
              </a:r>
              <a:r>
                <a:rPr lang="sv-SE" dirty="0"/>
                <a:t> on X 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57890-9B6B-408A-B92E-0590FD5726D2}"/>
              </a:ext>
            </a:extLst>
          </p:cNvPr>
          <p:cNvSpPr/>
          <p:nvPr/>
        </p:nvSpPr>
        <p:spPr>
          <a:xfrm>
            <a:off x="794845" y="1914733"/>
            <a:ext cx="28620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sv-SE" sz="2200" dirty="0" err="1"/>
              <a:t>Our</a:t>
            </a:r>
            <a:r>
              <a:rPr lang="sv-SE" sz="2200" dirty="0"/>
              <a:t> </a:t>
            </a:r>
            <a:r>
              <a:rPr lang="sv-SE" sz="2200" dirty="0" err="1"/>
              <a:t>job</a:t>
            </a:r>
            <a:r>
              <a:rPr lang="sv-SE" sz="2200" dirty="0"/>
              <a:t> as a social scientist is to </a:t>
            </a:r>
            <a:r>
              <a:rPr lang="sv-SE" sz="2200" dirty="0" err="1"/>
              <a:t>figure</a:t>
            </a:r>
            <a:r>
              <a:rPr lang="sv-SE" sz="2200" dirty="0"/>
              <a:t> </a:t>
            </a:r>
            <a:r>
              <a:rPr lang="sv-SE" sz="2200" dirty="0" err="1"/>
              <a:t>out</a:t>
            </a:r>
            <a:r>
              <a:rPr lang="sv-SE" sz="2200" dirty="0"/>
              <a:t> </a:t>
            </a:r>
            <a:r>
              <a:rPr lang="sv-SE" sz="2200" dirty="0" err="1"/>
              <a:t>what</a:t>
            </a:r>
            <a:r>
              <a:rPr lang="sv-SE" sz="2200" dirty="0"/>
              <a:t> </a:t>
            </a:r>
            <a:r>
              <a:rPr lang="sv-SE" sz="2200" dirty="0" err="1"/>
              <a:t>factors</a:t>
            </a:r>
            <a:r>
              <a:rPr lang="sv-SE" sz="2200" dirty="0"/>
              <a:t> </a:t>
            </a:r>
            <a:r>
              <a:rPr lang="sv-SE" sz="2200" dirty="0" err="1"/>
              <a:t>influence</a:t>
            </a:r>
            <a:r>
              <a:rPr lang="sv-SE" sz="2200" dirty="0"/>
              <a:t> </a:t>
            </a:r>
            <a:r>
              <a:rPr lang="sv-SE" sz="2200" dirty="0" err="1"/>
              <a:t>that</a:t>
            </a:r>
            <a:r>
              <a:rPr lang="sv-SE" sz="2200" dirty="0"/>
              <a:t> decision.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7DDA03-5CEF-48A1-86E0-DFA9623E39A8}"/>
              </a:ext>
            </a:extLst>
          </p:cNvPr>
          <p:cNvSpPr/>
          <p:nvPr/>
        </p:nvSpPr>
        <p:spPr>
          <a:xfrm>
            <a:off x="2118194" y="3676036"/>
            <a:ext cx="51167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550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B4CBC-1256-63AC-8BA8-90F764FA6124}"/>
              </a:ext>
            </a:extLst>
          </p:cNvPr>
          <p:cNvSpPr txBox="1"/>
          <p:nvPr/>
        </p:nvSpPr>
        <p:spPr>
          <a:xfrm>
            <a:off x="3874780" y="676550"/>
            <a:ext cx="3194359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400" dirty="0"/>
              <a:t>Decision </a:t>
            </a:r>
            <a:r>
              <a:rPr lang="sv-SE" sz="2400" b="1" dirty="0" err="1"/>
              <a:t>context</a:t>
            </a:r>
            <a:r>
              <a:rPr lang="sv-SE" sz="2400" dirty="0"/>
              <a:t> on X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71EDE-4DA9-F61B-39BA-6CD76FB2C30E}"/>
              </a:ext>
            </a:extLst>
          </p:cNvPr>
          <p:cNvSpPr txBox="1"/>
          <p:nvPr/>
        </p:nvSpPr>
        <p:spPr>
          <a:xfrm>
            <a:off x="88641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dirty="0" err="1">
                <a:solidFill>
                  <a:srgbClr val="0D0D0D"/>
                </a:solidFill>
                <a:latin typeface="Söhne"/>
              </a:rPr>
              <a:t>L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eft</a:t>
            </a:r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2B658D-A5FE-66F9-C5D4-AE52B6261D7B}"/>
              </a:ext>
            </a:extLst>
          </p:cNvPr>
          <p:cNvSpPr txBox="1"/>
          <p:nvPr/>
        </p:nvSpPr>
        <p:spPr>
          <a:xfrm>
            <a:off x="810956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Right 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EDE34-6489-8477-D024-4DBD63223BD4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186649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8A6DAE-70FA-C3CE-7E0E-FA857394DC97}"/>
              </a:ext>
            </a:extLst>
          </p:cNvPr>
          <p:cNvCxnSpPr/>
          <p:nvPr/>
        </p:nvCxnSpPr>
        <p:spPr>
          <a:xfrm flipH="1" flipV="1">
            <a:off x="710542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44104E-0D06-52B3-8C7F-92CA31EAEDDE}"/>
              </a:ext>
            </a:extLst>
          </p:cNvPr>
          <p:cNvCxnSpPr>
            <a:cxnSpLocks/>
          </p:cNvCxnSpPr>
          <p:nvPr/>
        </p:nvCxnSpPr>
        <p:spPr>
          <a:xfrm flipV="1">
            <a:off x="9113710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06E98A-04B1-7947-51A6-70ADDF5BA315}"/>
              </a:ext>
            </a:extLst>
          </p:cNvPr>
          <p:cNvCxnSpPr>
            <a:cxnSpLocks/>
          </p:cNvCxnSpPr>
          <p:nvPr/>
        </p:nvCxnSpPr>
        <p:spPr>
          <a:xfrm flipV="1">
            <a:off x="1866492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240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4265707" y="1703990"/>
            <a:ext cx="2601470" cy="3095431"/>
            <a:chOff x="1812793" y="150961"/>
            <a:chExt cx="2601470" cy="30954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015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endParaRPr lang="sv-SE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477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3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2FCF92-1616-4804-8680-3ADE073C7607}"/>
                </a:ext>
              </a:extLst>
            </p:cNvPr>
            <p:cNvSpPr/>
            <p:nvPr/>
          </p:nvSpPr>
          <p:spPr>
            <a:xfrm>
              <a:off x="3053441" y="150961"/>
              <a:ext cx="13608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Alternatives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874556" y="2877060"/>
              <a:ext cx="2256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Decision </a:t>
              </a:r>
              <a:r>
                <a:rPr lang="sv-SE" b="1" dirty="0" err="1"/>
                <a:t>context</a:t>
              </a:r>
              <a:r>
                <a:rPr lang="sv-SE" dirty="0"/>
                <a:t> on X 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57890-9B6B-408A-B92E-0590FD5726D2}"/>
              </a:ext>
            </a:extLst>
          </p:cNvPr>
          <p:cNvSpPr/>
          <p:nvPr/>
        </p:nvSpPr>
        <p:spPr>
          <a:xfrm>
            <a:off x="234685" y="2197893"/>
            <a:ext cx="367250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There are two types of factors:</a:t>
            </a:r>
          </a:p>
          <a:p>
            <a:pPr algn="just"/>
            <a:endParaRPr lang="en-US" sz="2200" dirty="0"/>
          </a:p>
          <a:p>
            <a:pPr marL="457200" indent="-457200" algn="just">
              <a:buAutoNum type="arabicParenBoth"/>
            </a:pPr>
            <a:r>
              <a:rPr lang="en-US" sz="2200" dirty="0"/>
              <a:t>Those which are in-built to the individual and do not change (e.g. intelligence),</a:t>
            </a:r>
          </a:p>
          <a:p>
            <a:pPr marL="457200" indent="-457200" algn="just">
              <a:buAutoNum type="arabicParenBoth"/>
            </a:pPr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FD9EC-A4CD-76C3-F086-9B2242E29325}"/>
              </a:ext>
            </a:extLst>
          </p:cNvPr>
          <p:cNvSpPr txBox="1"/>
          <p:nvPr/>
        </p:nvSpPr>
        <p:spPr>
          <a:xfrm>
            <a:off x="3874780" y="676550"/>
            <a:ext cx="3194359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400" dirty="0"/>
              <a:t>Decision </a:t>
            </a:r>
            <a:r>
              <a:rPr lang="sv-SE" sz="2400" b="1" dirty="0" err="1"/>
              <a:t>context</a:t>
            </a:r>
            <a:r>
              <a:rPr lang="sv-SE" sz="2400" dirty="0"/>
              <a:t> on X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C08D5-E402-275E-2906-1045ECB9362F}"/>
              </a:ext>
            </a:extLst>
          </p:cNvPr>
          <p:cNvSpPr txBox="1"/>
          <p:nvPr/>
        </p:nvSpPr>
        <p:spPr>
          <a:xfrm>
            <a:off x="88641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dirty="0" err="1">
                <a:solidFill>
                  <a:srgbClr val="0D0D0D"/>
                </a:solidFill>
                <a:latin typeface="Söhne"/>
              </a:rPr>
              <a:t>L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eft</a:t>
            </a:r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CA3F3-89F2-7D57-5CBF-A8C16B53448C}"/>
              </a:ext>
            </a:extLst>
          </p:cNvPr>
          <p:cNvSpPr txBox="1"/>
          <p:nvPr/>
        </p:nvSpPr>
        <p:spPr>
          <a:xfrm>
            <a:off x="810956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Right 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BF6637-8C30-08B3-8BC9-0CFAA5ACE946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186649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0F3092-FD71-1073-A321-B5CF3FAFBD1C}"/>
              </a:ext>
            </a:extLst>
          </p:cNvPr>
          <p:cNvCxnSpPr/>
          <p:nvPr/>
        </p:nvCxnSpPr>
        <p:spPr>
          <a:xfrm flipH="1" flipV="1">
            <a:off x="710542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DF17D6-504E-C726-0C9A-D2838A2DF8B3}"/>
              </a:ext>
            </a:extLst>
          </p:cNvPr>
          <p:cNvCxnSpPr>
            <a:cxnSpLocks/>
          </p:cNvCxnSpPr>
          <p:nvPr/>
        </p:nvCxnSpPr>
        <p:spPr>
          <a:xfrm flipV="1">
            <a:off x="9113710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E5ED6-F079-B8C4-68FE-9BD844A919E5}"/>
              </a:ext>
            </a:extLst>
          </p:cNvPr>
          <p:cNvCxnSpPr>
            <a:cxnSpLocks/>
          </p:cNvCxnSpPr>
          <p:nvPr/>
        </p:nvCxnSpPr>
        <p:spPr>
          <a:xfrm flipV="1">
            <a:off x="1866492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661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4265707" y="1703990"/>
            <a:ext cx="2601470" cy="3095431"/>
            <a:chOff x="1812793" y="150961"/>
            <a:chExt cx="2601470" cy="30954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015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endParaRPr lang="sv-SE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477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3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2FCF92-1616-4804-8680-3ADE073C7607}"/>
                </a:ext>
              </a:extLst>
            </p:cNvPr>
            <p:cNvSpPr/>
            <p:nvPr/>
          </p:nvSpPr>
          <p:spPr>
            <a:xfrm>
              <a:off x="3053441" y="150961"/>
              <a:ext cx="13608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Alternatives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874556" y="2877060"/>
              <a:ext cx="22560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Decision </a:t>
              </a:r>
              <a:r>
                <a:rPr lang="sv-SE" b="1" dirty="0" err="1"/>
                <a:t>context</a:t>
              </a:r>
              <a:r>
                <a:rPr lang="sv-SE" dirty="0"/>
                <a:t> on X 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57890-9B6B-408A-B92E-0590FD5726D2}"/>
              </a:ext>
            </a:extLst>
          </p:cNvPr>
          <p:cNvSpPr/>
          <p:nvPr/>
        </p:nvSpPr>
        <p:spPr>
          <a:xfrm>
            <a:off x="234685" y="2197893"/>
            <a:ext cx="367250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There are two types of factors:</a:t>
            </a:r>
          </a:p>
          <a:p>
            <a:pPr algn="just"/>
            <a:endParaRPr lang="en-US" sz="2200" dirty="0"/>
          </a:p>
          <a:p>
            <a:pPr marL="457200" indent="-457200" algn="just">
              <a:buAutoNum type="arabicParenBoth"/>
            </a:pPr>
            <a:r>
              <a:rPr lang="en-US" sz="2200" dirty="0"/>
              <a:t>Those which are in-built to the individual and do not change (e.g. intelligence),</a:t>
            </a:r>
          </a:p>
          <a:p>
            <a:pPr marL="457200" indent="-457200" algn="just">
              <a:buAutoNum type="arabicParenBoth"/>
            </a:pPr>
            <a:endParaRPr lang="en-US" sz="2200" dirty="0"/>
          </a:p>
          <a:p>
            <a:pPr marL="457200" indent="-457200" algn="just">
              <a:buFontTx/>
              <a:buAutoNum type="arabicParenBoth"/>
            </a:pPr>
            <a:r>
              <a:rPr lang="en-US" sz="2200" dirty="0"/>
              <a:t>Those which can change and usually are external to the individuals.</a:t>
            </a:r>
          </a:p>
          <a:p>
            <a:pPr marL="457200" indent="-457200" algn="just">
              <a:buAutoNum type="arabicParenBoth"/>
            </a:pPr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FD9EC-A4CD-76C3-F086-9B2242E29325}"/>
              </a:ext>
            </a:extLst>
          </p:cNvPr>
          <p:cNvSpPr txBox="1"/>
          <p:nvPr/>
        </p:nvSpPr>
        <p:spPr>
          <a:xfrm>
            <a:off x="3874780" y="676550"/>
            <a:ext cx="3194359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400" dirty="0"/>
              <a:t>Decision </a:t>
            </a:r>
            <a:r>
              <a:rPr lang="sv-SE" sz="2400" b="1" dirty="0" err="1"/>
              <a:t>context</a:t>
            </a:r>
            <a:r>
              <a:rPr lang="sv-SE" sz="2400" dirty="0"/>
              <a:t> on X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C08D5-E402-275E-2906-1045ECB9362F}"/>
              </a:ext>
            </a:extLst>
          </p:cNvPr>
          <p:cNvSpPr txBox="1"/>
          <p:nvPr/>
        </p:nvSpPr>
        <p:spPr>
          <a:xfrm>
            <a:off x="88641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dirty="0" err="1">
                <a:solidFill>
                  <a:srgbClr val="0D0D0D"/>
                </a:solidFill>
                <a:latin typeface="Söhne"/>
              </a:rPr>
              <a:t>L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eft</a:t>
            </a:r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CA3F3-89F2-7D57-5CBF-A8C16B53448C}"/>
              </a:ext>
            </a:extLst>
          </p:cNvPr>
          <p:cNvSpPr txBox="1"/>
          <p:nvPr/>
        </p:nvSpPr>
        <p:spPr>
          <a:xfrm>
            <a:off x="8109566" y="1328872"/>
            <a:ext cx="19601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Right  </a:t>
            </a:r>
            <a:r>
              <a:rPr lang="sv-SE" b="0" i="0" dirty="0" err="1">
                <a:solidFill>
                  <a:srgbClr val="0D0D0D"/>
                </a:solidFill>
                <a:effectLst/>
                <a:latin typeface="Söhne"/>
              </a:rPr>
              <a:t>side</a:t>
            </a:r>
            <a:endParaRPr lang="sv-S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BF6637-8C30-08B3-8BC9-0CFAA5ACE946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186649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0F3092-FD71-1073-A321-B5CF3FAFBD1C}"/>
              </a:ext>
            </a:extLst>
          </p:cNvPr>
          <p:cNvCxnSpPr/>
          <p:nvPr/>
        </p:nvCxnSpPr>
        <p:spPr>
          <a:xfrm flipH="1" flipV="1">
            <a:off x="7105422" y="907382"/>
            <a:ext cx="2008288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DF17D6-504E-C726-0C9A-D2838A2DF8B3}"/>
              </a:ext>
            </a:extLst>
          </p:cNvPr>
          <p:cNvCxnSpPr>
            <a:cxnSpLocks/>
          </p:cNvCxnSpPr>
          <p:nvPr/>
        </p:nvCxnSpPr>
        <p:spPr>
          <a:xfrm flipV="1">
            <a:off x="9113710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0E5ED6-F079-B8C4-68FE-9BD844A919E5}"/>
              </a:ext>
            </a:extLst>
          </p:cNvPr>
          <p:cNvCxnSpPr>
            <a:cxnSpLocks/>
          </p:cNvCxnSpPr>
          <p:nvPr/>
        </p:nvCxnSpPr>
        <p:spPr>
          <a:xfrm flipV="1">
            <a:off x="1866492" y="907382"/>
            <a:ext cx="0" cy="421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03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333BA-675A-4B38-A575-7EEC9AB042FE}"/>
              </a:ext>
            </a:extLst>
          </p:cNvPr>
          <p:cNvSpPr/>
          <p:nvPr/>
        </p:nvSpPr>
        <p:spPr>
          <a:xfrm>
            <a:off x="508000" y="464404"/>
            <a:ext cx="1117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Let's take a look at some examples…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5782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547291"/>
            <a:chOff x="1812793" y="520293"/>
            <a:chExt cx="2379593" cy="27564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2204977" y="2877060"/>
              <a:ext cx="1595224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en-US" dirty="0">
                  <a:highlight>
                    <a:srgbClr val="FFFF00"/>
                  </a:highlight>
                </a:rPr>
                <a:t>dishwasher</a:t>
              </a:r>
              <a:endParaRPr lang="sv-SE" dirty="0">
                <a:highlight>
                  <a:srgbClr val="FFFF00"/>
                </a:highlight>
              </a:endParaRP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5728812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1: Putting your cup in the dishwasher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ABAEB-D691-482C-B635-F50FA75AC561}"/>
              </a:ext>
            </a:extLst>
          </p:cNvPr>
          <p:cNvSpPr/>
          <p:nvPr/>
        </p:nvSpPr>
        <p:spPr>
          <a:xfrm>
            <a:off x="6348304" y="1074746"/>
            <a:ext cx="344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Putting your cup in the dishwasher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8D057-6AE3-4261-BE83-2C8D89A07726}"/>
              </a:ext>
            </a:extLst>
          </p:cNvPr>
          <p:cNvSpPr/>
          <p:nvPr/>
        </p:nvSpPr>
        <p:spPr>
          <a:xfrm>
            <a:off x="6348303" y="1829295"/>
            <a:ext cx="4135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 not putting your cup in the dishwasher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3208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 err="1"/>
              <a:t>Others</a:t>
            </a:r>
            <a:r>
              <a:rPr lang="sv-SE" sz="2400" dirty="0"/>
              <a:t> </a:t>
            </a:r>
            <a:r>
              <a:rPr lang="sv-SE" sz="2400" dirty="0" err="1"/>
              <a:t>observing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3973064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547291"/>
            <a:chOff x="1812793" y="520293"/>
            <a:chExt cx="2379593" cy="27564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2204977" y="2877060"/>
              <a:ext cx="1595224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X = </a:t>
              </a:r>
              <a:r>
                <a:rPr lang="en-US" dirty="0"/>
                <a:t>dishwasher</a:t>
              </a:r>
              <a:endParaRPr lang="sv-SE" dirty="0"/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5728812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1: Putting your cup in the dishwasher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F3DF4A-0A3A-4941-841D-EE54EE63E105}"/>
              </a:ext>
            </a:extLst>
          </p:cNvPr>
          <p:cNvGrpSpPr/>
          <p:nvPr/>
        </p:nvGrpSpPr>
        <p:grpSpPr>
          <a:xfrm>
            <a:off x="3917365" y="3961251"/>
            <a:ext cx="2373502" cy="2489789"/>
            <a:chOff x="1812793" y="582516"/>
            <a:chExt cx="2379593" cy="269419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A98E3D-3C98-4194-ACF9-11FBC61E3B1B}"/>
                </a:ext>
              </a:extLst>
            </p:cNvPr>
            <p:cNvSpPr txBox="1"/>
            <p:nvPr/>
          </p:nvSpPr>
          <p:spPr>
            <a:xfrm>
              <a:off x="1894857" y="582516"/>
              <a:ext cx="1196016" cy="399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74619A-4625-4B8D-8206-0BC7880F9E34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A3FAC8E-90ED-43E7-AB6D-A2630C66580D}"/>
                </a:ext>
              </a:extLst>
            </p:cNvPr>
            <p:cNvSpPr/>
            <p:nvPr/>
          </p:nvSpPr>
          <p:spPr>
            <a:xfrm>
              <a:off x="3325879" y="1407070"/>
              <a:ext cx="633046" cy="587552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pic>
          <p:nvPicPr>
            <p:cNvPr id="25" name="Graphic 24" descr="Schelling">
              <a:extLst>
                <a:ext uri="{FF2B5EF4-FFF2-40B4-BE49-F238E27FC236}">
                  <a16:creationId xmlns:a16="http://schemas.microsoft.com/office/drawing/2014/main" id="{F76F0CAB-85D7-4E8F-A1AF-580CAEDE1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04C1AB-CF4B-461A-901F-029C255D2F10}"/>
                </a:ext>
              </a:extLst>
            </p:cNvPr>
            <p:cNvSpPr/>
            <p:nvPr/>
          </p:nvSpPr>
          <p:spPr>
            <a:xfrm>
              <a:off x="2204977" y="2877060"/>
              <a:ext cx="1595224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en-US" dirty="0">
                  <a:highlight>
                    <a:srgbClr val="FFFF00"/>
                  </a:highlight>
                </a:rPr>
                <a:t>dishwasher</a:t>
              </a:r>
              <a:endParaRPr lang="sv-SE" dirty="0">
                <a:highlight>
                  <a:srgbClr val="FFFF00"/>
                </a:highlight>
              </a:endParaRP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26FD2209-65EC-4795-AC74-FF23DEB70D8A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F0ABAEB-D691-482C-B635-F50FA75AC561}"/>
              </a:ext>
            </a:extLst>
          </p:cNvPr>
          <p:cNvSpPr/>
          <p:nvPr/>
        </p:nvSpPr>
        <p:spPr>
          <a:xfrm>
            <a:off x="6348304" y="1074746"/>
            <a:ext cx="344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Putting your cup in the dishwasher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8D057-6AE3-4261-BE83-2C8D89A07726}"/>
              </a:ext>
            </a:extLst>
          </p:cNvPr>
          <p:cNvSpPr/>
          <p:nvPr/>
        </p:nvSpPr>
        <p:spPr>
          <a:xfrm>
            <a:off x="6348303" y="1829295"/>
            <a:ext cx="4135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 not putting your cup in the dishwasher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3208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 err="1"/>
              <a:t>Others</a:t>
            </a:r>
            <a:r>
              <a:rPr lang="sv-SE" sz="2400" dirty="0"/>
              <a:t> </a:t>
            </a:r>
            <a:r>
              <a:rPr lang="sv-SE" sz="2400" dirty="0" err="1"/>
              <a:t>observing</a:t>
            </a:r>
            <a:endParaRPr lang="sv-SE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4595B2-794F-4ECB-BEEF-2D1AE22ABD94}"/>
              </a:ext>
            </a:extLst>
          </p:cNvPr>
          <p:cNvSpPr/>
          <p:nvPr/>
        </p:nvSpPr>
        <p:spPr>
          <a:xfrm>
            <a:off x="702641" y="4592554"/>
            <a:ext cx="2383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No </a:t>
            </a:r>
            <a:r>
              <a:rPr lang="sv-SE" sz="2400" dirty="0" err="1"/>
              <a:t>one</a:t>
            </a:r>
            <a:r>
              <a:rPr lang="sv-SE" sz="2400" dirty="0"/>
              <a:t> </a:t>
            </a:r>
            <a:r>
              <a:rPr lang="sv-SE" sz="2400" dirty="0" err="1"/>
              <a:t>observing</a:t>
            </a:r>
            <a:endParaRPr lang="sv-SE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37B4AB-CEF6-4FDA-BF80-6B381FDA5AD1}"/>
              </a:ext>
            </a:extLst>
          </p:cNvPr>
          <p:cNvSpPr/>
          <p:nvPr/>
        </p:nvSpPr>
        <p:spPr>
          <a:xfrm>
            <a:off x="6418348" y="3968697"/>
            <a:ext cx="344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Putting your cup in the dishwasher</a:t>
            </a:r>
            <a:endParaRPr lang="sv-S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658DD9-B167-4619-986D-FE9CDFDB4699}"/>
              </a:ext>
            </a:extLst>
          </p:cNvPr>
          <p:cNvSpPr/>
          <p:nvPr/>
        </p:nvSpPr>
        <p:spPr>
          <a:xfrm>
            <a:off x="6418347" y="4723246"/>
            <a:ext cx="4135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 not putting your cup in the dishwasher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81424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547291"/>
            <a:chOff x="1812793" y="520293"/>
            <a:chExt cx="2379593" cy="27564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2008041" y="2877060"/>
              <a:ext cx="1989097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en-US" dirty="0">
                  <a:highlight>
                    <a:srgbClr val="FFFF00"/>
                  </a:highlight>
                </a:rPr>
                <a:t>Replying emails</a:t>
              </a:r>
              <a:endParaRPr lang="sv-SE" dirty="0">
                <a:highlight>
                  <a:srgbClr val="FFFF00"/>
                </a:highlight>
              </a:endParaRP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498053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2: Answering emails on Sunday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ABAEB-D691-482C-B635-F50FA75AC561}"/>
              </a:ext>
            </a:extLst>
          </p:cNvPr>
          <p:cNvSpPr/>
          <p:nvPr/>
        </p:nvSpPr>
        <p:spPr>
          <a:xfrm>
            <a:off x="6348304" y="1074746"/>
            <a:ext cx="1822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on Monday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8D057-6AE3-4261-BE83-2C8D89A07726}"/>
              </a:ext>
            </a:extLst>
          </p:cNvPr>
          <p:cNvSpPr/>
          <p:nvPr/>
        </p:nvSpPr>
        <p:spPr>
          <a:xfrm>
            <a:off x="6348303" y="1829295"/>
            <a:ext cx="1920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immediately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7051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From </a:t>
            </a:r>
            <a:r>
              <a:rPr lang="sv-SE" sz="2400" dirty="0" err="1"/>
              <a:t>your</a:t>
            </a:r>
            <a:r>
              <a:rPr lang="sv-SE" sz="2400" dirty="0"/>
              <a:t> </a:t>
            </a:r>
            <a:r>
              <a:rPr lang="sv-SE" sz="2400" dirty="0" err="1"/>
              <a:t>coworker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28832603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547291"/>
            <a:chOff x="1812793" y="520293"/>
            <a:chExt cx="2379593" cy="27564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2008041" y="2877060"/>
              <a:ext cx="1989097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X = </a:t>
              </a:r>
              <a:r>
                <a:rPr lang="en-US" dirty="0"/>
                <a:t>Replying emails</a:t>
              </a:r>
              <a:endParaRPr lang="sv-SE" dirty="0"/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498053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2: Answering emails on Sunday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F3DF4A-0A3A-4941-841D-EE54EE63E105}"/>
              </a:ext>
            </a:extLst>
          </p:cNvPr>
          <p:cNvGrpSpPr/>
          <p:nvPr/>
        </p:nvGrpSpPr>
        <p:grpSpPr>
          <a:xfrm>
            <a:off x="3917365" y="3961251"/>
            <a:ext cx="2373502" cy="2489789"/>
            <a:chOff x="1812793" y="582516"/>
            <a:chExt cx="2379593" cy="269419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A98E3D-3C98-4194-ACF9-11FBC61E3B1B}"/>
                </a:ext>
              </a:extLst>
            </p:cNvPr>
            <p:cNvSpPr txBox="1"/>
            <p:nvPr/>
          </p:nvSpPr>
          <p:spPr>
            <a:xfrm>
              <a:off x="1894857" y="582516"/>
              <a:ext cx="1196016" cy="399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74619A-4625-4B8D-8206-0BC7880F9E34}"/>
                </a:ext>
              </a:extLst>
            </p:cNvPr>
            <p:cNvSpPr txBox="1"/>
            <p:nvPr/>
          </p:nvSpPr>
          <p:spPr>
            <a:xfrm>
              <a:off x="3457095" y="584125"/>
              <a:ext cx="370614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A3FAC8E-90ED-43E7-AB6D-A2630C66580D}"/>
                </a:ext>
              </a:extLst>
            </p:cNvPr>
            <p:cNvSpPr/>
            <p:nvPr/>
          </p:nvSpPr>
          <p:spPr>
            <a:xfrm>
              <a:off x="3325879" y="1407070"/>
              <a:ext cx="633046" cy="587552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pic>
          <p:nvPicPr>
            <p:cNvPr id="25" name="Graphic 24" descr="Schelling">
              <a:extLst>
                <a:ext uri="{FF2B5EF4-FFF2-40B4-BE49-F238E27FC236}">
                  <a16:creationId xmlns:a16="http://schemas.microsoft.com/office/drawing/2014/main" id="{F76F0CAB-85D7-4E8F-A1AF-580CAEDE1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04C1AB-CF4B-461A-901F-029C255D2F10}"/>
                </a:ext>
              </a:extLst>
            </p:cNvPr>
            <p:cNvSpPr/>
            <p:nvPr/>
          </p:nvSpPr>
          <p:spPr>
            <a:xfrm>
              <a:off x="2008041" y="2877060"/>
              <a:ext cx="1989097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en-US" dirty="0">
                  <a:highlight>
                    <a:srgbClr val="FFFF00"/>
                  </a:highlight>
                </a:rPr>
                <a:t>Replying emails</a:t>
              </a:r>
              <a:endParaRPr lang="sv-SE" dirty="0">
                <a:highlight>
                  <a:srgbClr val="FFFF00"/>
                </a:highlight>
              </a:endParaRP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26FD2209-65EC-4795-AC74-FF23DEB70D8A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F0ABAEB-D691-482C-B635-F50FA75AC561}"/>
              </a:ext>
            </a:extLst>
          </p:cNvPr>
          <p:cNvSpPr/>
          <p:nvPr/>
        </p:nvSpPr>
        <p:spPr>
          <a:xfrm>
            <a:off x="6348304" y="1074746"/>
            <a:ext cx="1822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on Monday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8D057-6AE3-4261-BE83-2C8D89A07726}"/>
              </a:ext>
            </a:extLst>
          </p:cNvPr>
          <p:cNvSpPr/>
          <p:nvPr/>
        </p:nvSpPr>
        <p:spPr>
          <a:xfrm>
            <a:off x="6348303" y="1829295"/>
            <a:ext cx="1920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immediately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7051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From </a:t>
            </a:r>
            <a:r>
              <a:rPr lang="sv-SE" sz="2400" dirty="0" err="1"/>
              <a:t>your</a:t>
            </a:r>
            <a:r>
              <a:rPr lang="sv-SE" sz="2400" dirty="0"/>
              <a:t> </a:t>
            </a:r>
            <a:r>
              <a:rPr lang="sv-SE" sz="2400" dirty="0" err="1"/>
              <a:t>coworker</a:t>
            </a:r>
            <a:endParaRPr lang="sv-SE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4595B2-794F-4ECB-BEEF-2D1AE22ABD94}"/>
              </a:ext>
            </a:extLst>
          </p:cNvPr>
          <p:cNvSpPr/>
          <p:nvPr/>
        </p:nvSpPr>
        <p:spPr>
          <a:xfrm>
            <a:off x="702641" y="4592554"/>
            <a:ext cx="2104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From </a:t>
            </a:r>
            <a:r>
              <a:rPr lang="sv-SE" sz="2400" dirty="0" err="1"/>
              <a:t>your</a:t>
            </a:r>
            <a:r>
              <a:rPr lang="sv-SE" sz="2400" dirty="0"/>
              <a:t> boss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4538A9-C872-40BE-843F-56DE61CF1CEF}"/>
              </a:ext>
            </a:extLst>
          </p:cNvPr>
          <p:cNvSpPr/>
          <p:nvPr/>
        </p:nvSpPr>
        <p:spPr>
          <a:xfrm>
            <a:off x="6359415" y="3968697"/>
            <a:ext cx="1822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on Monday</a:t>
            </a:r>
            <a:endParaRPr lang="sv-S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6B192B-F5CC-475B-889C-D64F1A606083}"/>
              </a:ext>
            </a:extLst>
          </p:cNvPr>
          <p:cNvSpPr/>
          <p:nvPr/>
        </p:nvSpPr>
        <p:spPr>
          <a:xfrm>
            <a:off x="6359414" y="4723246"/>
            <a:ext cx="1920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immediately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52736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921311"/>
            <a:chOff x="1812793" y="520293"/>
            <a:chExt cx="2379593" cy="316114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1565" cy="309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988344" y="2877060"/>
              <a:ext cx="2028503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sv-SE" dirty="0" err="1">
                  <a:highlight>
                    <a:srgbClr val="FFFF00"/>
                  </a:highlight>
                </a:rPr>
                <a:t>Choosing</a:t>
              </a:r>
              <a:r>
                <a:rPr lang="sv-SE" dirty="0">
                  <a:highlight>
                    <a:srgbClr val="FFFF00"/>
                  </a:highlight>
                </a:rPr>
                <a:t> a NBH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5982792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3: Discrimination in the housing market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393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No </a:t>
            </a:r>
            <a:r>
              <a:rPr lang="sv-SE" sz="2400" dirty="0" err="1"/>
              <a:t>discrimination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37728623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8047C3-797E-4F4B-BBA6-33D4C74AB49F}"/>
              </a:ext>
            </a:extLst>
          </p:cNvPr>
          <p:cNvGrpSpPr/>
          <p:nvPr/>
        </p:nvGrpSpPr>
        <p:grpSpPr>
          <a:xfrm>
            <a:off x="3917365" y="987925"/>
            <a:ext cx="2373502" cy="2921311"/>
            <a:chOff x="1812793" y="520293"/>
            <a:chExt cx="2379593" cy="316114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117A17-6BB5-42C0-8CB3-2C866D9A6D03}"/>
                </a:ext>
              </a:extLst>
            </p:cNvPr>
            <p:cNvSpPr txBox="1"/>
            <p:nvPr/>
          </p:nvSpPr>
          <p:spPr>
            <a:xfrm>
              <a:off x="1894857" y="582516"/>
              <a:ext cx="12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424B35-EB4C-4139-AB06-C790446A213A}"/>
                </a:ext>
              </a:extLst>
            </p:cNvPr>
            <p:cNvSpPr txBox="1"/>
            <p:nvPr/>
          </p:nvSpPr>
          <p:spPr>
            <a:xfrm>
              <a:off x="3457095" y="584125"/>
              <a:ext cx="371565" cy="309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2EEAB-C2E8-4F6F-B545-681EEF801EBC}"/>
                </a:ext>
              </a:extLst>
            </p:cNvPr>
            <p:cNvSpPr/>
            <p:nvPr/>
          </p:nvSpPr>
          <p:spPr>
            <a:xfrm>
              <a:off x="3325879" y="520293"/>
              <a:ext cx="633046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" name="Graphic 5" descr="Schelling">
              <a:extLst>
                <a:ext uri="{FF2B5EF4-FFF2-40B4-BE49-F238E27FC236}">
                  <a16:creationId xmlns:a16="http://schemas.microsoft.com/office/drawing/2014/main" id="{F21A72F3-F7A8-4AE9-828A-779E57466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533DC9-1484-423E-AA2B-61AB911CD026}"/>
                </a:ext>
              </a:extLst>
            </p:cNvPr>
            <p:cNvSpPr/>
            <p:nvPr/>
          </p:nvSpPr>
          <p:spPr>
            <a:xfrm>
              <a:off x="1988344" y="2877060"/>
              <a:ext cx="2028503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/>
                <a:t>X = </a:t>
              </a:r>
              <a:r>
                <a:rPr lang="sv-SE" dirty="0" err="1"/>
                <a:t>Choosing</a:t>
              </a:r>
              <a:r>
                <a:rPr lang="sv-SE" dirty="0"/>
                <a:t> a NBH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D5EF7B1-856C-4B95-ADE4-C8B04784E595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CB596F9-BFFD-44B0-BFFB-3E17EF9607BE}"/>
              </a:ext>
            </a:extLst>
          </p:cNvPr>
          <p:cNvSpPr/>
          <p:nvPr/>
        </p:nvSpPr>
        <p:spPr>
          <a:xfrm>
            <a:off x="173651" y="255016"/>
            <a:ext cx="5982792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3: Discrimination in the housing market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F3DF4A-0A3A-4941-841D-EE54EE63E105}"/>
              </a:ext>
            </a:extLst>
          </p:cNvPr>
          <p:cNvGrpSpPr/>
          <p:nvPr/>
        </p:nvGrpSpPr>
        <p:grpSpPr>
          <a:xfrm>
            <a:off x="3917365" y="3961251"/>
            <a:ext cx="2373502" cy="2863809"/>
            <a:chOff x="1812793" y="582516"/>
            <a:chExt cx="2379593" cy="309892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A98E3D-3C98-4194-ACF9-11FBC61E3B1B}"/>
                </a:ext>
              </a:extLst>
            </p:cNvPr>
            <p:cNvSpPr txBox="1"/>
            <p:nvPr/>
          </p:nvSpPr>
          <p:spPr>
            <a:xfrm>
              <a:off x="1894857" y="582516"/>
              <a:ext cx="1196016" cy="399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Schelling</a:t>
              </a:r>
              <a:r>
                <a:rPr lang="sv-SE" dirty="0"/>
                <a:t> 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74619A-4625-4B8D-8206-0BC7880F9E34}"/>
                </a:ext>
              </a:extLst>
            </p:cNvPr>
            <p:cNvSpPr txBox="1"/>
            <p:nvPr/>
          </p:nvSpPr>
          <p:spPr>
            <a:xfrm>
              <a:off x="3457095" y="584125"/>
              <a:ext cx="371565" cy="3097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>
                  <a:solidFill>
                    <a:schemeClr val="bg1">
                      <a:lumMod val="85000"/>
                    </a:schemeClr>
                  </a:solidFill>
                </a:rPr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A3FAC8E-90ED-43E7-AB6D-A2630C66580D}"/>
                </a:ext>
              </a:extLst>
            </p:cNvPr>
            <p:cNvSpPr/>
            <p:nvPr/>
          </p:nvSpPr>
          <p:spPr>
            <a:xfrm>
              <a:off x="3325879" y="1407070"/>
              <a:ext cx="633046" cy="587552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pic>
          <p:nvPicPr>
            <p:cNvPr id="25" name="Graphic 24" descr="Schelling">
              <a:extLst>
                <a:ext uri="{FF2B5EF4-FFF2-40B4-BE49-F238E27FC236}">
                  <a16:creationId xmlns:a16="http://schemas.microsoft.com/office/drawing/2014/main" id="{F76F0CAB-85D7-4E8F-A1AF-580CAEDE1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7" y="914625"/>
              <a:ext cx="1015021" cy="1701181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04C1AB-CF4B-461A-901F-029C255D2F10}"/>
                </a:ext>
              </a:extLst>
            </p:cNvPr>
            <p:cNvSpPr/>
            <p:nvPr/>
          </p:nvSpPr>
          <p:spPr>
            <a:xfrm>
              <a:off x="1961819" y="2877060"/>
              <a:ext cx="2081537" cy="399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sv-SE" dirty="0">
                  <a:highlight>
                    <a:srgbClr val="FFFF00"/>
                  </a:highlight>
                </a:rPr>
                <a:t>X = </a:t>
              </a:r>
              <a:r>
                <a:rPr lang="sv-SE" dirty="0" err="1">
                  <a:highlight>
                    <a:srgbClr val="FFFF00"/>
                  </a:highlight>
                </a:rPr>
                <a:t>Choosing</a:t>
              </a:r>
              <a:r>
                <a:rPr lang="sv-SE" dirty="0">
                  <a:highlight>
                    <a:srgbClr val="FFFF00"/>
                  </a:highlight>
                </a:rPr>
                <a:t> a NBH </a:t>
              </a: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26FD2209-65EC-4795-AC74-FF23DEB70D8A}"/>
                </a:ext>
              </a:extLst>
            </p:cNvPr>
            <p:cNvSpPr/>
            <p:nvPr/>
          </p:nvSpPr>
          <p:spPr>
            <a:xfrm rot="5400000">
              <a:off x="2855147" y="1519158"/>
              <a:ext cx="294886" cy="237959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E59D2-4336-46FC-AE84-9BCAC6ECE78B}"/>
              </a:ext>
            </a:extLst>
          </p:cNvPr>
          <p:cNvSpPr/>
          <p:nvPr/>
        </p:nvSpPr>
        <p:spPr>
          <a:xfrm>
            <a:off x="702641" y="1741757"/>
            <a:ext cx="2393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/>
              <a:t>No </a:t>
            </a:r>
            <a:r>
              <a:rPr lang="sv-SE" sz="2400" dirty="0" err="1"/>
              <a:t>discrimination</a:t>
            </a:r>
            <a:endParaRPr lang="sv-SE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4595B2-794F-4ECB-BEEF-2D1AE22ABD94}"/>
              </a:ext>
            </a:extLst>
          </p:cNvPr>
          <p:cNvSpPr/>
          <p:nvPr/>
        </p:nvSpPr>
        <p:spPr>
          <a:xfrm>
            <a:off x="702641" y="4592554"/>
            <a:ext cx="1991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dirty="0" err="1"/>
              <a:t>Discrimination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4128574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333BA-675A-4B38-A575-7EEC9AB042FE}"/>
              </a:ext>
            </a:extLst>
          </p:cNvPr>
          <p:cNvSpPr/>
          <p:nvPr/>
        </p:nvSpPr>
        <p:spPr>
          <a:xfrm>
            <a:off x="508000" y="464404"/>
            <a:ext cx="1117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What is the important aspect of all these </a:t>
            </a:r>
            <a:r>
              <a:rPr lang="en-US" sz="2800" b="0" i="0" dirty="0" err="1">
                <a:solidFill>
                  <a:srgbClr val="0D0D0D"/>
                </a:solidFill>
                <a:effectLst/>
                <a:latin typeface="Söhne"/>
              </a:rPr>
              <a:t>examples?</a:t>
            </a:r>
            <a:r>
              <a:rPr lang="en-US" sz="2500" dirty="0" err="1">
                <a:solidFill>
                  <a:schemeClr val="bg1"/>
                </a:solidFill>
              </a:rPr>
              <a:t>s</a:t>
            </a:r>
            <a:r>
              <a:rPr lang="en-US" sz="2500" dirty="0">
                <a:solidFill>
                  <a:schemeClr val="bg1"/>
                </a:solidFill>
              </a:rPr>
              <a:t>).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136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333BA-675A-4B38-A575-7EEC9AB042FE}"/>
              </a:ext>
            </a:extLst>
          </p:cNvPr>
          <p:cNvSpPr/>
          <p:nvPr/>
        </p:nvSpPr>
        <p:spPr>
          <a:xfrm>
            <a:off x="508000" y="464404"/>
            <a:ext cx="11176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In all these examples, Schelling </a:t>
            </a:r>
            <a:r>
              <a:rPr lang="en-US" sz="2500" b="1" dirty="0">
                <a:highlight>
                  <a:srgbClr val="FFFF00"/>
                </a:highlight>
              </a:rPr>
              <a:t>interacts</a:t>
            </a:r>
            <a:r>
              <a:rPr lang="en-US" sz="2500" dirty="0"/>
              <a:t> with "others" (culture, peers, rules). This basically means that Schelling </a:t>
            </a:r>
            <a:r>
              <a:rPr lang="en-US" sz="2500" b="1" dirty="0"/>
              <a:t>would have taken a different choice if "others" had not been there.</a:t>
            </a:r>
          </a:p>
          <a:p>
            <a:endParaRPr lang="en-US" sz="2500" dirty="0"/>
          </a:p>
          <a:p>
            <a:r>
              <a:rPr lang="en-US" sz="2500" dirty="0">
                <a:solidFill>
                  <a:schemeClr val="bg1"/>
                </a:solidFill>
              </a:rPr>
              <a:t>So far, we have explained the left side of the decision context (others affecting Schelling decision).</a:t>
            </a:r>
          </a:p>
          <a:p>
            <a:r>
              <a:rPr lang="en-US" sz="2500" dirty="0">
                <a:solidFill>
                  <a:schemeClr val="bg1"/>
                </a:solidFill>
              </a:rPr>
              <a:t>Now let's take a look at the right side of the decision context (Schelling affecting others' decisions).</a:t>
            </a:r>
            <a:endParaRPr lang="sv-SE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27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333BA-675A-4B38-A575-7EEC9AB042FE}"/>
              </a:ext>
            </a:extLst>
          </p:cNvPr>
          <p:cNvSpPr/>
          <p:nvPr/>
        </p:nvSpPr>
        <p:spPr>
          <a:xfrm>
            <a:off x="508000" y="464404"/>
            <a:ext cx="1117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In all these examples, Schelling </a:t>
            </a:r>
            <a:r>
              <a:rPr lang="en-US" sz="2500" b="1" dirty="0">
                <a:highlight>
                  <a:srgbClr val="FFFF00"/>
                </a:highlight>
              </a:rPr>
              <a:t>interacts</a:t>
            </a:r>
            <a:r>
              <a:rPr lang="en-US" sz="2500" dirty="0"/>
              <a:t> with "others" (culture, peers, rules). This basically means that Schelling would have taken a different choice if "others" had not been there.</a:t>
            </a:r>
          </a:p>
          <a:p>
            <a:endParaRPr lang="en-US" sz="2500" dirty="0"/>
          </a:p>
          <a:p>
            <a:r>
              <a:rPr lang="en-US" sz="2500" dirty="0"/>
              <a:t>So far, we have explained the </a:t>
            </a:r>
            <a:r>
              <a:rPr lang="en-US" sz="2500" dirty="0">
                <a:highlight>
                  <a:srgbClr val="FFFF00"/>
                </a:highlight>
              </a:rPr>
              <a:t>left side </a:t>
            </a:r>
            <a:r>
              <a:rPr lang="en-US" sz="2500" dirty="0"/>
              <a:t>of the decision context (others affecting Schelling decision).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B1E9FD-B055-6DE2-05B6-9A99EB119E00}"/>
              </a:ext>
            </a:extLst>
          </p:cNvPr>
          <p:cNvGrpSpPr/>
          <p:nvPr/>
        </p:nvGrpSpPr>
        <p:grpSpPr>
          <a:xfrm>
            <a:off x="2132187" y="3077154"/>
            <a:ext cx="7927625" cy="3652017"/>
            <a:chOff x="1105057" y="2311830"/>
            <a:chExt cx="9183302" cy="43696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32176F0-553C-6C83-F93F-77CE6BC159DA}"/>
                </a:ext>
              </a:extLst>
            </p:cNvPr>
            <p:cNvGrpSpPr/>
            <p:nvPr/>
          </p:nvGrpSpPr>
          <p:grpSpPr>
            <a:xfrm>
              <a:off x="4492704" y="3760153"/>
              <a:ext cx="2058784" cy="2921311"/>
              <a:chOff x="1894857" y="520293"/>
              <a:chExt cx="2064068" cy="3161148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358ADD-F122-E956-81F4-AA95762BDFE5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187F6-3554-37B6-B659-5B4DE452C75D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EB4BD4F-5BC6-36ED-DA34-B92B3714D6C7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9" name="Graphic 18" descr="Schelling">
                <a:extLst>
                  <a:ext uri="{FF2B5EF4-FFF2-40B4-BE49-F238E27FC236}">
                    <a16:creationId xmlns:a16="http://schemas.microsoft.com/office/drawing/2014/main" id="{86A9250C-756C-476E-D402-1359839F0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35298" y="1231143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B18AA02B-0584-A11C-9792-607539410909}"/>
                </a:ext>
              </a:extLst>
            </p:cNvPr>
            <p:cNvSpPr/>
            <p:nvPr/>
          </p:nvSpPr>
          <p:spPr>
            <a:xfrm>
              <a:off x="149004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7BB6FA-B959-DB5C-60F9-9AF25313EBDA}"/>
                </a:ext>
              </a:extLst>
            </p:cNvPr>
            <p:cNvSpPr/>
            <p:nvPr/>
          </p:nvSpPr>
          <p:spPr>
            <a:xfrm>
              <a:off x="1721610" y="368960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8DA38EC3-AF61-0CD4-6482-7BA46B55B27C}"/>
                </a:ext>
              </a:extLst>
            </p:cNvPr>
            <p:cNvSpPr/>
            <p:nvPr/>
          </p:nvSpPr>
          <p:spPr>
            <a:xfrm>
              <a:off x="871319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59E9DA-B79A-FCC2-2A1B-288A78F4959E}"/>
                </a:ext>
              </a:extLst>
            </p:cNvPr>
            <p:cNvSpPr/>
            <p:nvPr/>
          </p:nvSpPr>
          <p:spPr>
            <a:xfrm>
              <a:off x="9076141" y="367837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91DF60-9945-C609-22DF-CC0B26289A7E}"/>
                </a:ext>
              </a:extLst>
            </p:cNvPr>
            <p:cNvSpPr txBox="1"/>
            <p:nvPr/>
          </p:nvSpPr>
          <p:spPr>
            <a:xfrm>
              <a:off x="4093421" y="2311830"/>
              <a:ext cx="3194359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sz="2400" dirty="0"/>
                <a:t>Decision </a:t>
              </a:r>
              <a:r>
                <a:rPr lang="sv-SE" sz="2400" b="1" dirty="0" err="1"/>
                <a:t>context</a:t>
              </a:r>
              <a:r>
                <a:rPr lang="sv-SE" sz="2400" dirty="0"/>
                <a:t> on X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89C867-C085-0174-406C-3EB90C2FC8A2}"/>
                </a:ext>
              </a:extLst>
            </p:cNvPr>
            <p:cNvSpPr txBox="1"/>
            <p:nvPr/>
          </p:nvSpPr>
          <p:spPr>
            <a:xfrm>
              <a:off x="110505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dirty="0" err="1">
                  <a:solidFill>
                    <a:srgbClr val="0D0D0D"/>
                  </a:solidFill>
                  <a:latin typeface="Söhne"/>
                </a:rPr>
                <a:t>L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eft</a:t>
              </a:r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4F7CD5-5CF2-A446-8977-3C0D6C7DAAC7}"/>
                </a:ext>
              </a:extLst>
            </p:cNvPr>
            <p:cNvSpPr txBox="1"/>
            <p:nvPr/>
          </p:nvSpPr>
          <p:spPr>
            <a:xfrm>
              <a:off x="832820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Right 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1CB6CA-86C5-9529-58CF-7C0BFE345C99}"/>
                </a:ext>
              </a:extLst>
            </p:cNvPr>
            <p:cNvCxnSpPr>
              <a:stCxn id="9" idx="1"/>
            </p:cNvCxnSpPr>
            <p:nvPr/>
          </p:nvCxnSpPr>
          <p:spPr>
            <a:xfrm flipH="1" flipV="1">
              <a:off x="208513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2A4275F-206A-CBB2-34B5-E3B9CC672C1F}"/>
                </a:ext>
              </a:extLst>
            </p:cNvPr>
            <p:cNvCxnSpPr/>
            <p:nvPr/>
          </p:nvCxnSpPr>
          <p:spPr>
            <a:xfrm flipH="1" flipV="1">
              <a:off x="732406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1EC79EB-5713-0708-FC8C-23966CE5D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2351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ED541-F868-D407-5D2C-3162B4D42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5133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4040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333BA-675A-4B38-A575-7EEC9AB042FE}"/>
              </a:ext>
            </a:extLst>
          </p:cNvPr>
          <p:cNvSpPr/>
          <p:nvPr/>
        </p:nvSpPr>
        <p:spPr>
          <a:xfrm>
            <a:off x="635221" y="2022457"/>
            <a:ext cx="11176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 let's take a look at the right side of the decision context (Schelling affecting others' decisions).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B1E9FD-B055-6DE2-05B6-9A99EB119E00}"/>
              </a:ext>
            </a:extLst>
          </p:cNvPr>
          <p:cNvGrpSpPr/>
          <p:nvPr/>
        </p:nvGrpSpPr>
        <p:grpSpPr>
          <a:xfrm>
            <a:off x="2132187" y="3077154"/>
            <a:ext cx="7927625" cy="3652017"/>
            <a:chOff x="1105057" y="2311830"/>
            <a:chExt cx="9183302" cy="43696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32176F0-553C-6C83-F93F-77CE6BC159DA}"/>
                </a:ext>
              </a:extLst>
            </p:cNvPr>
            <p:cNvGrpSpPr/>
            <p:nvPr/>
          </p:nvGrpSpPr>
          <p:grpSpPr>
            <a:xfrm>
              <a:off x="4492704" y="3760153"/>
              <a:ext cx="2058784" cy="2921311"/>
              <a:chOff x="1894857" y="520293"/>
              <a:chExt cx="2064068" cy="3161148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358ADD-F122-E956-81F4-AA95762BDFE5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187F6-3554-37B6-B659-5B4DE452C75D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EB4BD4F-5BC6-36ED-DA34-B92B3714D6C7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9" name="Graphic 18" descr="Schelling">
                <a:extLst>
                  <a:ext uri="{FF2B5EF4-FFF2-40B4-BE49-F238E27FC236}">
                    <a16:creationId xmlns:a16="http://schemas.microsoft.com/office/drawing/2014/main" id="{86A9250C-756C-476E-D402-1359839F0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35298" y="1231143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B18AA02B-0584-A11C-9792-607539410909}"/>
                </a:ext>
              </a:extLst>
            </p:cNvPr>
            <p:cNvSpPr/>
            <p:nvPr/>
          </p:nvSpPr>
          <p:spPr>
            <a:xfrm>
              <a:off x="149004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7BB6FA-B959-DB5C-60F9-9AF25313EBDA}"/>
                </a:ext>
              </a:extLst>
            </p:cNvPr>
            <p:cNvSpPr/>
            <p:nvPr/>
          </p:nvSpPr>
          <p:spPr>
            <a:xfrm>
              <a:off x="1721610" y="368960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8DA38EC3-AF61-0CD4-6482-7BA46B55B27C}"/>
                </a:ext>
              </a:extLst>
            </p:cNvPr>
            <p:cNvSpPr/>
            <p:nvPr/>
          </p:nvSpPr>
          <p:spPr>
            <a:xfrm>
              <a:off x="871319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59E9DA-B79A-FCC2-2A1B-288A78F4959E}"/>
                </a:ext>
              </a:extLst>
            </p:cNvPr>
            <p:cNvSpPr/>
            <p:nvPr/>
          </p:nvSpPr>
          <p:spPr>
            <a:xfrm>
              <a:off x="9076141" y="367837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91DF60-9945-C609-22DF-CC0B26289A7E}"/>
                </a:ext>
              </a:extLst>
            </p:cNvPr>
            <p:cNvSpPr txBox="1"/>
            <p:nvPr/>
          </p:nvSpPr>
          <p:spPr>
            <a:xfrm>
              <a:off x="4093421" y="2311830"/>
              <a:ext cx="3194359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sz="2400" dirty="0"/>
                <a:t>Decision </a:t>
              </a:r>
              <a:r>
                <a:rPr lang="sv-SE" sz="2400" b="1" dirty="0" err="1"/>
                <a:t>context</a:t>
              </a:r>
              <a:r>
                <a:rPr lang="sv-SE" sz="2400" dirty="0"/>
                <a:t> on X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89C867-C085-0174-406C-3EB90C2FC8A2}"/>
                </a:ext>
              </a:extLst>
            </p:cNvPr>
            <p:cNvSpPr txBox="1"/>
            <p:nvPr/>
          </p:nvSpPr>
          <p:spPr>
            <a:xfrm>
              <a:off x="110505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dirty="0" err="1">
                  <a:solidFill>
                    <a:srgbClr val="0D0D0D"/>
                  </a:solidFill>
                  <a:latin typeface="Söhne"/>
                </a:rPr>
                <a:t>L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eft</a:t>
              </a:r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4F7CD5-5CF2-A446-8977-3C0D6C7DAAC7}"/>
                </a:ext>
              </a:extLst>
            </p:cNvPr>
            <p:cNvSpPr txBox="1"/>
            <p:nvPr/>
          </p:nvSpPr>
          <p:spPr>
            <a:xfrm>
              <a:off x="832820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Right 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1CB6CA-86C5-9529-58CF-7C0BFE345C99}"/>
                </a:ext>
              </a:extLst>
            </p:cNvPr>
            <p:cNvCxnSpPr>
              <a:stCxn id="9" idx="1"/>
            </p:cNvCxnSpPr>
            <p:nvPr/>
          </p:nvCxnSpPr>
          <p:spPr>
            <a:xfrm flipH="1" flipV="1">
              <a:off x="208513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2A4275F-206A-CBB2-34B5-E3B9CC672C1F}"/>
                </a:ext>
              </a:extLst>
            </p:cNvPr>
            <p:cNvCxnSpPr/>
            <p:nvPr/>
          </p:nvCxnSpPr>
          <p:spPr>
            <a:xfrm flipH="1" flipV="1">
              <a:off x="732406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1EC79EB-5713-0708-FC8C-23966CE5D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2351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ED541-F868-D407-5D2C-3162B4D42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5133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4898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2039773" y="2877060"/>
                <a:ext cx="1925648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Choosing</a:t>
                </a:r>
                <a:r>
                  <a:rPr lang="sv-SE" dirty="0"/>
                  <a:t> a Bar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38971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>
                <a:highlight>
                  <a:srgbClr val="FFFF00"/>
                </a:highlight>
              </a:rPr>
              <a:t>Example 1: Bar 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77603" y="1102228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highlight>
                  <a:srgbClr val="FFFF00"/>
                </a:highlight>
              </a:rPr>
              <a:t>For </a:t>
            </a:r>
            <a:r>
              <a:rPr lang="sv-SE" dirty="0" err="1">
                <a:highlight>
                  <a:srgbClr val="FFFF00"/>
                </a:highlight>
              </a:rPr>
              <a:t>some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reason</a:t>
            </a:r>
            <a:r>
              <a:rPr lang="sv-SE" dirty="0">
                <a:highlight>
                  <a:srgbClr val="FFFF00"/>
                </a:highlight>
              </a:rPr>
              <a:t>, </a:t>
            </a:r>
            <a:r>
              <a:rPr lang="sv-SE" dirty="0" err="1">
                <a:highlight>
                  <a:srgbClr val="FFFF00"/>
                </a:highlight>
              </a:rPr>
              <a:t>Schelling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chooses</a:t>
            </a:r>
            <a:r>
              <a:rPr lang="sv-SE" dirty="0">
                <a:highlight>
                  <a:srgbClr val="FFFF00"/>
                </a:highlight>
              </a:rPr>
              <a:t> to go to the bar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2B4BC-C9D8-4C66-AAFF-1866D09E3360}"/>
              </a:ext>
            </a:extLst>
          </p:cNvPr>
          <p:cNvSpPr/>
          <p:nvPr/>
        </p:nvSpPr>
        <p:spPr>
          <a:xfrm>
            <a:off x="5192768" y="2636596"/>
            <a:ext cx="579454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200" dirty="0" err="1"/>
              <a:t>This</a:t>
            </a:r>
            <a:r>
              <a:rPr lang="sv-SE" sz="2200" dirty="0"/>
              <a:t> decision </a:t>
            </a:r>
            <a:r>
              <a:rPr lang="sv-SE" sz="2200" dirty="0" err="1"/>
              <a:t>affects</a:t>
            </a:r>
            <a:r>
              <a:rPr lang="sv-SE" sz="2200" dirty="0"/>
              <a:t> </a:t>
            </a:r>
            <a:r>
              <a:rPr lang="sv-SE" sz="2200" dirty="0" err="1"/>
              <a:t>our</a:t>
            </a:r>
            <a:r>
              <a:rPr lang="sv-SE" sz="2200" dirty="0"/>
              <a:t> X, </a:t>
            </a:r>
            <a:r>
              <a:rPr lang="sv-SE" sz="2200" b="1" dirty="0" err="1"/>
              <a:t>choosing</a:t>
            </a:r>
            <a:r>
              <a:rPr lang="sv-SE" sz="2200" b="1" dirty="0"/>
              <a:t> a bar</a:t>
            </a:r>
            <a:r>
              <a:rPr lang="sv-SE" sz="2200" dirty="0"/>
              <a:t>, </a:t>
            </a:r>
            <a:r>
              <a:rPr lang="sv-SE" sz="2200" dirty="0" err="1"/>
              <a:t>but</a:t>
            </a:r>
            <a:r>
              <a:rPr lang="sv-SE" sz="2200" dirty="0"/>
              <a:t> </a:t>
            </a:r>
            <a:r>
              <a:rPr lang="sv-SE" sz="2200" dirty="0" err="1"/>
              <a:t>also</a:t>
            </a:r>
            <a:r>
              <a:rPr lang="sv-SE" sz="2200" dirty="0"/>
              <a:t> </a:t>
            </a:r>
            <a:r>
              <a:rPr lang="sv-SE" sz="2200" dirty="0" err="1"/>
              <a:t>many</a:t>
            </a:r>
            <a:r>
              <a:rPr lang="sv-SE" sz="2200" dirty="0"/>
              <a:t> </a:t>
            </a:r>
            <a:r>
              <a:rPr lang="sv-SE" sz="2200" dirty="0">
                <a:highlight>
                  <a:srgbClr val="FFFF00"/>
                </a:highlight>
              </a:rPr>
              <a:t>non-X</a:t>
            </a:r>
            <a:r>
              <a:rPr lang="sv-SE" sz="2200" dirty="0"/>
              <a:t> (</a:t>
            </a:r>
            <a:r>
              <a:rPr lang="sv-SE" sz="2200" b="1" dirty="0" err="1"/>
              <a:t>inequality</a:t>
            </a:r>
            <a:r>
              <a:rPr lang="sv-SE" sz="2200" b="1" dirty="0"/>
              <a:t> or segregation in bars</a:t>
            </a:r>
            <a:r>
              <a:rPr lang="sv-SE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60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2039773" y="2877060"/>
                <a:ext cx="1925648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Choosing</a:t>
                </a:r>
                <a:r>
                  <a:rPr lang="sv-SE" dirty="0"/>
                  <a:t> a Bar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38971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1: Bar 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220799" y="1121895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For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reason</a:t>
            </a:r>
            <a:r>
              <a:rPr lang="sv-SE" dirty="0"/>
              <a:t>, </a:t>
            </a:r>
            <a:r>
              <a:rPr lang="sv-SE" dirty="0" err="1"/>
              <a:t>Schelling</a:t>
            </a:r>
            <a:r>
              <a:rPr lang="sv-SE" dirty="0"/>
              <a:t> </a:t>
            </a:r>
            <a:r>
              <a:rPr lang="sv-SE" dirty="0" err="1"/>
              <a:t>chooses</a:t>
            </a:r>
            <a:r>
              <a:rPr lang="sv-SE" dirty="0"/>
              <a:t> to go to the bar 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/>
              <a:t>X = maybe, because of social influence, this decision make more likely that other people go to the bar as well.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65325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>
                <a:solidFill>
                  <a:schemeClr val="bg1"/>
                </a:solidFill>
              </a:rPr>
              <a:t>non-X = </a:t>
            </a:r>
            <a:r>
              <a:rPr lang="sv-SE" dirty="0" err="1">
                <a:solidFill>
                  <a:schemeClr val="bg1"/>
                </a:solidFill>
              </a:rPr>
              <a:t>if</a:t>
            </a:r>
            <a:r>
              <a:rPr lang="sv-SE" dirty="0">
                <a:solidFill>
                  <a:schemeClr val="bg1"/>
                </a:solidFill>
              </a:rPr>
              <a:t> the bar </a:t>
            </a:r>
            <a:r>
              <a:rPr lang="sv-SE" dirty="0" err="1">
                <a:solidFill>
                  <a:schemeClr val="bg1"/>
                </a:solidFill>
              </a:rPr>
              <a:t>clients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are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ethnically</a:t>
            </a:r>
            <a:r>
              <a:rPr lang="sv-SE" dirty="0">
                <a:solidFill>
                  <a:schemeClr val="bg1"/>
                </a:solidFill>
              </a:rPr>
              <a:t> diverse, </a:t>
            </a:r>
            <a:r>
              <a:rPr lang="sv-SE" dirty="0" err="1">
                <a:solidFill>
                  <a:schemeClr val="bg1"/>
                </a:solidFill>
              </a:rPr>
              <a:t>this</a:t>
            </a:r>
            <a:r>
              <a:rPr lang="sv-SE" dirty="0">
                <a:solidFill>
                  <a:schemeClr val="bg1"/>
                </a:solidFill>
              </a:rPr>
              <a:t> action </a:t>
            </a:r>
            <a:r>
              <a:rPr lang="sv-SE" dirty="0" err="1">
                <a:solidFill>
                  <a:schemeClr val="bg1"/>
                </a:solidFill>
              </a:rPr>
              <a:t>could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contribute</a:t>
            </a:r>
            <a:r>
              <a:rPr lang="sv-SE" dirty="0">
                <a:solidFill>
                  <a:schemeClr val="bg1"/>
                </a:solidFill>
              </a:rPr>
              <a:t> to </a:t>
            </a:r>
            <a:r>
              <a:rPr lang="sv-SE" dirty="0" err="1">
                <a:solidFill>
                  <a:schemeClr val="bg1"/>
                </a:solidFill>
              </a:rPr>
              <a:t>making</a:t>
            </a:r>
            <a:r>
              <a:rPr lang="sv-SE" dirty="0">
                <a:solidFill>
                  <a:schemeClr val="bg1"/>
                </a:solidFill>
              </a:rPr>
              <a:t> a </a:t>
            </a:r>
            <a:r>
              <a:rPr lang="sv-SE" dirty="0" err="1">
                <a:solidFill>
                  <a:schemeClr val="bg1"/>
                </a:solidFill>
              </a:rPr>
              <a:t>more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integrated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society</a:t>
            </a:r>
            <a:r>
              <a:rPr lang="sv-SE" dirty="0">
                <a:solidFill>
                  <a:schemeClr val="bg1"/>
                </a:solidFill>
              </a:rPr>
              <a:t> (non-X = segregation/integration).</a:t>
            </a:r>
          </a:p>
          <a:p>
            <a:endParaRPr lang="sv-SE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non-X = if Schelling have to take his car to go to the bar, this action could contribute to polluting the city (non-X = air pollution)</a:t>
            </a:r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979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2039773" y="2877060"/>
                <a:ext cx="1925648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Choosing</a:t>
                </a:r>
                <a:r>
                  <a:rPr lang="sv-SE" dirty="0"/>
                  <a:t> a Bar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38971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1: Bar 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220799" y="1121895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For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reason</a:t>
            </a:r>
            <a:r>
              <a:rPr lang="sv-SE" dirty="0"/>
              <a:t>, </a:t>
            </a:r>
            <a:r>
              <a:rPr lang="sv-SE" dirty="0" err="1"/>
              <a:t>Schelling</a:t>
            </a:r>
            <a:r>
              <a:rPr lang="sv-SE" dirty="0"/>
              <a:t> </a:t>
            </a:r>
            <a:r>
              <a:rPr lang="sv-SE" dirty="0" err="1"/>
              <a:t>chooses</a:t>
            </a:r>
            <a:r>
              <a:rPr lang="sv-SE" dirty="0"/>
              <a:t> to go to the bar 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/>
              <a:t>X = maybe, because of social influence, this decision make more likely that other people go to the bar as well.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65325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/>
              <a:t>non-X = </a:t>
            </a:r>
            <a:r>
              <a:rPr lang="sv-SE" dirty="0" err="1"/>
              <a:t>if</a:t>
            </a:r>
            <a:r>
              <a:rPr lang="sv-SE" dirty="0"/>
              <a:t> the bar </a:t>
            </a:r>
            <a:r>
              <a:rPr lang="sv-SE" dirty="0" err="1"/>
              <a:t>clients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ethnically</a:t>
            </a:r>
            <a:r>
              <a:rPr lang="sv-SE" dirty="0"/>
              <a:t> diverse, </a:t>
            </a:r>
            <a:r>
              <a:rPr lang="sv-SE" dirty="0" err="1"/>
              <a:t>this</a:t>
            </a:r>
            <a:r>
              <a:rPr lang="sv-SE" dirty="0"/>
              <a:t> action 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contribute</a:t>
            </a:r>
            <a:r>
              <a:rPr lang="sv-SE" dirty="0"/>
              <a:t> to </a:t>
            </a:r>
            <a:r>
              <a:rPr lang="sv-SE" dirty="0" err="1"/>
              <a:t>making</a:t>
            </a:r>
            <a:r>
              <a:rPr lang="sv-SE" dirty="0"/>
              <a:t> a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integrated</a:t>
            </a:r>
            <a:r>
              <a:rPr lang="sv-SE" dirty="0"/>
              <a:t> </a:t>
            </a:r>
            <a:r>
              <a:rPr lang="sv-SE" dirty="0" err="1"/>
              <a:t>society</a:t>
            </a:r>
            <a:r>
              <a:rPr lang="sv-SE" dirty="0"/>
              <a:t> (non-X = segregation/integration).</a:t>
            </a:r>
          </a:p>
          <a:p>
            <a:endParaRPr lang="sv-SE" dirty="0"/>
          </a:p>
          <a:p>
            <a:r>
              <a:rPr lang="en-US" dirty="0">
                <a:solidFill>
                  <a:schemeClr val="bg1"/>
                </a:solidFill>
              </a:rPr>
              <a:t>non-X = if Schelling have to take his car to go to the bar, this action could contribute to polluting the city (non-X = air pollution)</a:t>
            </a:r>
            <a:endParaRPr lang="sv-S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724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2039773" y="2877060"/>
                <a:ext cx="1925648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Choosing</a:t>
                </a:r>
                <a:r>
                  <a:rPr lang="sv-SE" dirty="0"/>
                  <a:t> a Bar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38971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1: Bar attendance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220799" y="1121895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For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reason</a:t>
            </a:r>
            <a:r>
              <a:rPr lang="sv-SE" dirty="0"/>
              <a:t>, </a:t>
            </a:r>
            <a:r>
              <a:rPr lang="sv-SE" dirty="0" err="1"/>
              <a:t>Schelling</a:t>
            </a:r>
            <a:r>
              <a:rPr lang="sv-SE" dirty="0"/>
              <a:t> </a:t>
            </a:r>
            <a:r>
              <a:rPr lang="sv-SE" dirty="0" err="1"/>
              <a:t>chooses</a:t>
            </a:r>
            <a:r>
              <a:rPr lang="sv-SE" dirty="0"/>
              <a:t> to go to the bar 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/>
              <a:t>X = maybe, because of social influence, this decision make more likely that other people go to the bar as well.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65325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/>
              <a:t>non-X = </a:t>
            </a:r>
            <a:r>
              <a:rPr lang="sv-SE" dirty="0" err="1"/>
              <a:t>if</a:t>
            </a:r>
            <a:r>
              <a:rPr lang="sv-SE" dirty="0"/>
              <a:t> the bar </a:t>
            </a:r>
            <a:r>
              <a:rPr lang="sv-SE" dirty="0" err="1"/>
              <a:t>clients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ethnically</a:t>
            </a:r>
            <a:r>
              <a:rPr lang="sv-SE" dirty="0"/>
              <a:t> diverse, </a:t>
            </a:r>
            <a:r>
              <a:rPr lang="sv-SE" dirty="0" err="1"/>
              <a:t>this</a:t>
            </a:r>
            <a:r>
              <a:rPr lang="sv-SE" dirty="0"/>
              <a:t> action 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contribute</a:t>
            </a:r>
            <a:r>
              <a:rPr lang="sv-SE" dirty="0"/>
              <a:t> to </a:t>
            </a:r>
            <a:r>
              <a:rPr lang="sv-SE" dirty="0" err="1"/>
              <a:t>making</a:t>
            </a:r>
            <a:r>
              <a:rPr lang="sv-SE" dirty="0"/>
              <a:t> a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integrated</a:t>
            </a:r>
            <a:r>
              <a:rPr lang="sv-SE" dirty="0"/>
              <a:t> </a:t>
            </a:r>
            <a:r>
              <a:rPr lang="sv-SE" dirty="0" err="1"/>
              <a:t>society</a:t>
            </a:r>
            <a:r>
              <a:rPr lang="sv-SE" dirty="0"/>
              <a:t> (non-X = segregation/integration).</a:t>
            </a:r>
          </a:p>
          <a:p>
            <a:endParaRPr lang="sv-SE" dirty="0"/>
          </a:p>
          <a:p>
            <a:r>
              <a:rPr lang="en-US" dirty="0"/>
              <a:t>non-X = if Schelling have to take his car to go to the bar, this action could contribute to polluting the city (non-X = air pollution)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23330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09" cy="3026257"/>
            <a:chOff x="1016000" y="2160236"/>
            <a:chExt cx="4200809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7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1942868" y="2877060"/>
                <a:ext cx="2119465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Rumor diffusion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48666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>
                <a:highlight>
                  <a:srgbClr val="FFFF00"/>
                </a:highlight>
              </a:rPr>
              <a:t>Example 2: Rumor diffusion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12157" y="1035916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some reason, Schelling chooses to spread the rumor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maybe, because of the availability heuristic, this decision could make more credible to rumors to others. Ergo, more likely that others spread it.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non-X = If more people believe the rumor, it is going to be more likely that they act on it (non-X = toilet paper shortage).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D97B19-6FAE-4B29-8A94-C93B645B3655}"/>
              </a:ext>
            </a:extLst>
          </p:cNvPr>
          <p:cNvSpPr/>
          <p:nvPr/>
        </p:nvSpPr>
        <p:spPr>
          <a:xfrm>
            <a:off x="5268686" y="36375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>
                <a:solidFill>
                  <a:schemeClr val="bg1"/>
                </a:solidFill>
              </a:rPr>
              <a:t>non-X = If the rumor is </a:t>
            </a:r>
            <a:r>
              <a:rPr lang="sv-SE" dirty="0" err="1">
                <a:solidFill>
                  <a:schemeClr val="bg1"/>
                </a:solidFill>
              </a:rPr>
              <a:t>related</a:t>
            </a:r>
            <a:r>
              <a:rPr lang="sv-SE" dirty="0">
                <a:solidFill>
                  <a:schemeClr val="bg1"/>
                </a:solidFill>
              </a:rPr>
              <a:t> to </a:t>
            </a:r>
            <a:r>
              <a:rPr lang="sv-SE" dirty="0" err="1">
                <a:solidFill>
                  <a:schemeClr val="bg1"/>
                </a:solidFill>
              </a:rPr>
              <a:t>financial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issues</a:t>
            </a:r>
            <a:r>
              <a:rPr lang="sv-SE" dirty="0">
                <a:solidFill>
                  <a:schemeClr val="bg1"/>
                </a:solidFill>
              </a:rPr>
              <a:t>, it </a:t>
            </a:r>
            <a:r>
              <a:rPr lang="sv-SE" dirty="0" err="1">
                <a:solidFill>
                  <a:schemeClr val="bg1"/>
                </a:solidFill>
              </a:rPr>
              <a:t>could</a:t>
            </a:r>
            <a:r>
              <a:rPr lang="sv-SE" dirty="0">
                <a:solidFill>
                  <a:schemeClr val="bg1"/>
                </a:solidFill>
              </a:rPr>
              <a:t> cause </a:t>
            </a:r>
            <a:r>
              <a:rPr lang="sv-SE" dirty="0" err="1">
                <a:solidFill>
                  <a:schemeClr val="bg1"/>
                </a:solidFill>
              </a:rPr>
              <a:t>economic</a:t>
            </a:r>
            <a:r>
              <a:rPr lang="sv-SE" dirty="0">
                <a:solidFill>
                  <a:schemeClr val="bg1"/>
                </a:solidFill>
              </a:rPr>
              <a:t> problems (non-X = </a:t>
            </a:r>
            <a:r>
              <a:rPr lang="sv-SE" dirty="0" err="1">
                <a:solidFill>
                  <a:schemeClr val="bg1"/>
                </a:solidFill>
              </a:rPr>
              <a:t>economic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issues</a:t>
            </a:r>
            <a:r>
              <a:rPr lang="sv-SE" dirty="0">
                <a:solidFill>
                  <a:schemeClr val="bg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183900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1983042" y="2877060"/>
                <a:ext cx="2039110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Rumor diffusion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48666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2: Rumor diffusion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12157" y="1035916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some reason, Schelling chooses to spread the rumor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maybe, because of the availability heuristic, this decision could make more credible to rumors to others. Ergo, more likely that others spread it.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non-X = If more people believe the rumor, it is going to be more likely that they act on it (non-X = toilet paper shortage).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D97B19-6FAE-4B29-8A94-C93B645B3655}"/>
              </a:ext>
            </a:extLst>
          </p:cNvPr>
          <p:cNvSpPr/>
          <p:nvPr/>
        </p:nvSpPr>
        <p:spPr>
          <a:xfrm>
            <a:off x="5268686" y="36375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>
                <a:solidFill>
                  <a:schemeClr val="bg1"/>
                </a:solidFill>
              </a:rPr>
              <a:t>non-X = If the rumor is </a:t>
            </a:r>
            <a:r>
              <a:rPr lang="sv-SE" dirty="0" err="1">
                <a:solidFill>
                  <a:schemeClr val="bg1"/>
                </a:solidFill>
              </a:rPr>
              <a:t>related</a:t>
            </a:r>
            <a:r>
              <a:rPr lang="sv-SE" dirty="0">
                <a:solidFill>
                  <a:schemeClr val="bg1"/>
                </a:solidFill>
              </a:rPr>
              <a:t> to </a:t>
            </a:r>
            <a:r>
              <a:rPr lang="sv-SE" dirty="0" err="1">
                <a:solidFill>
                  <a:schemeClr val="bg1"/>
                </a:solidFill>
              </a:rPr>
              <a:t>financial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issues</a:t>
            </a:r>
            <a:r>
              <a:rPr lang="sv-SE" dirty="0">
                <a:solidFill>
                  <a:schemeClr val="bg1"/>
                </a:solidFill>
              </a:rPr>
              <a:t>, it </a:t>
            </a:r>
            <a:r>
              <a:rPr lang="sv-SE" dirty="0" err="1">
                <a:solidFill>
                  <a:schemeClr val="bg1"/>
                </a:solidFill>
              </a:rPr>
              <a:t>could</a:t>
            </a:r>
            <a:r>
              <a:rPr lang="sv-SE" dirty="0">
                <a:solidFill>
                  <a:schemeClr val="bg1"/>
                </a:solidFill>
              </a:rPr>
              <a:t> cause </a:t>
            </a:r>
            <a:r>
              <a:rPr lang="sv-SE" dirty="0" err="1">
                <a:solidFill>
                  <a:schemeClr val="bg1"/>
                </a:solidFill>
              </a:rPr>
              <a:t>economic</a:t>
            </a:r>
            <a:r>
              <a:rPr lang="sv-SE" dirty="0">
                <a:solidFill>
                  <a:schemeClr val="bg1"/>
                </a:solidFill>
              </a:rPr>
              <a:t> problems (non-X = </a:t>
            </a:r>
            <a:r>
              <a:rPr lang="sv-SE" dirty="0" err="1">
                <a:solidFill>
                  <a:schemeClr val="bg1"/>
                </a:solidFill>
              </a:rPr>
              <a:t>economic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issues</a:t>
            </a:r>
            <a:r>
              <a:rPr lang="sv-SE" dirty="0">
                <a:solidFill>
                  <a:schemeClr val="bg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722764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00810" cy="3026257"/>
            <a:chOff x="1016000" y="2160236"/>
            <a:chExt cx="4200810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843308" y="2265182"/>
              <a:ext cx="2373502" cy="2921311"/>
              <a:chOff x="1812793" y="520293"/>
              <a:chExt cx="237959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1983042" y="2877060"/>
                <a:ext cx="2039110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Rumor diffusion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3486660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2: Rumor diffusion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12157" y="1035916"/>
            <a:ext cx="36995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some reason, Schelling chooses to spread the rumor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maybe, because of the availability heuristic, this decision could make more credible the rumors to others. Ergo, more likely that others spread it.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non-X = If more people believe the rumor, it is going to be more likely that they act on it (non-X = toilet paper shortage).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D97B19-6FAE-4B29-8A94-C93B645B3655}"/>
              </a:ext>
            </a:extLst>
          </p:cNvPr>
          <p:cNvSpPr/>
          <p:nvPr/>
        </p:nvSpPr>
        <p:spPr>
          <a:xfrm>
            <a:off x="5268686" y="36375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/>
              <a:t>non-X = If the rumor is </a:t>
            </a:r>
            <a:r>
              <a:rPr lang="sv-SE" dirty="0" err="1"/>
              <a:t>related</a:t>
            </a:r>
            <a:r>
              <a:rPr lang="sv-SE" dirty="0"/>
              <a:t> to </a:t>
            </a:r>
            <a:r>
              <a:rPr lang="sv-SE" dirty="0" err="1"/>
              <a:t>financial</a:t>
            </a:r>
            <a:r>
              <a:rPr lang="sv-SE" dirty="0"/>
              <a:t> </a:t>
            </a:r>
            <a:r>
              <a:rPr lang="sv-SE" dirty="0" err="1"/>
              <a:t>issues</a:t>
            </a:r>
            <a:r>
              <a:rPr lang="sv-SE" dirty="0"/>
              <a:t>, it </a:t>
            </a:r>
            <a:r>
              <a:rPr lang="sv-SE" dirty="0" err="1"/>
              <a:t>could</a:t>
            </a:r>
            <a:r>
              <a:rPr lang="sv-SE" dirty="0"/>
              <a:t> cause </a:t>
            </a:r>
            <a:r>
              <a:rPr lang="sv-SE" dirty="0" err="1"/>
              <a:t>economic</a:t>
            </a:r>
            <a:r>
              <a:rPr lang="sv-SE" dirty="0"/>
              <a:t> problems (non-X = </a:t>
            </a:r>
            <a:r>
              <a:rPr lang="sv-SE" dirty="0" err="1"/>
              <a:t>economic</a:t>
            </a:r>
            <a:r>
              <a:rPr lang="sv-SE" dirty="0"/>
              <a:t> </a:t>
            </a:r>
            <a:r>
              <a:rPr lang="sv-SE" dirty="0" err="1"/>
              <a:t>issues</a:t>
            </a:r>
            <a:r>
              <a:rPr lang="sv-SE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62682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87015" cy="3026257"/>
            <a:chOff x="1016000" y="2160236"/>
            <a:chExt cx="4287015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757125" y="2265182"/>
              <a:ext cx="2545890" cy="2921311"/>
              <a:chOff x="1726388" y="520293"/>
              <a:chExt cx="255242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1726388" y="2877060"/>
                <a:ext cx="2552423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4140364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>
                <a:highlight>
                  <a:srgbClr val="FFFF00"/>
                </a:highlight>
              </a:rPr>
              <a:t>Example 3: Neighborhood choice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94078" y="882505"/>
            <a:ext cx="3699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some reason, Schelling, who is a non-native, chooses </a:t>
            </a:r>
            <a:r>
              <a:rPr lang="sv-SE" dirty="0" err="1"/>
              <a:t>neighborhood</a:t>
            </a:r>
            <a:r>
              <a:rPr lang="en-US" dirty="0"/>
              <a:t> A which is native-dominated.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Make the neighborhood more integrated and, according to segregation theories, make another </a:t>
            </a:r>
            <a:r>
              <a:rPr lang="en-US" dirty="0" err="1"/>
              <a:t>Schellings</a:t>
            </a:r>
            <a:r>
              <a:rPr lang="en-US" dirty="0"/>
              <a:t> more likely to move in A.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non-X = Since Schelling has kids, his choice makes schools at NBH A more integrated (on-X = school choice).</a:t>
            </a:r>
          </a:p>
        </p:txBody>
      </p:sp>
    </p:spTree>
    <p:extLst>
      <p:ext uri="{BB962C8B-B14F-4D97-AF65-F5344CB8AC3E}">
        <p14:creationId xmlns:p14="http://schemas.microsoft.com/office/powerpoint/2010/main" val="3731613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2878A6-FA94-409C-A5BD-ACFA6EECEC7E}"/>
              </a:ext>
            </a:extLst>
          </p:cNvPr>
          <p:cNvGrpSpPr/>
          <p:nvPr/>
        </p:nvGrpSpPr>
        <p:grpSpPr>
          <a:xfrm>
            <a:off x="173651" y="2149496"/>
            <a:ext cx="4287014" cy="3026257"/>
            <a:chOff x="1016000" y="2160236"/>
            <a:chExt cx="4287014" cy="3026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E8082A-016A-49F6-BB75-9BBD30008A5E}"/>
                </a:ext>
              </a:extLst>
            </p:cNvPr>
            <p:cNvGrpSpPr/>
            <p:nvPr/>
          </p:nvGrpSpPr>
          <p:grpSpPr>
            <a:xfrm>
              <a:off x="2757124" y="2265182"/>
              <a:ext cx="2545890" cy="2921311"/>
              <a:chOff x="1726388" y="520293"/>
              <a:chExt cx="2552423" cy="316114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EACF6-9C7C-4B54-8F5D-55B097F234A6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09B63-58FF-464C-B6CB-05190799A3B0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C72A2C4-9E90-42C5-8779-947E6BE75CAA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6" name="Graphic 5" descr="Schelling">
                <a:extLst>
                  <a:ext uri="{FF2B5EF4-FFF2-40B4-BE49-F238E27FC236}">
                    <a16:creationId xmlns:a16="http://schemas.microsoft.com/office/drawing/2014/main" id="{855F9B39-A245-4B83-B21A-CC4365CE3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0B42863-D8C7-43F3-BDCD-11DE7ABD41F9}"/>
                  </a:ext>
                </a:extLst>
              </p:cNvPr>
              <p:cNvSpPr/>
              <p:nvPr/>
            </p:nvSpPr>
            <p:spPr>
              <a:xfrm>
                <a:off x="1726388" y="2877060"/>
                <a:ext cx="2552423" cy="39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8" name="Right Brace 7">
                <a:extLst>
                  <a:ext uri="{FF2B5EF4-FFF2-40B4-BE49-F238E27FC236}">
                    <a16:creationId xmlns:a16="http://schemas.microsoft.com/office/drawing/2014/main" id="{C580EA4E-6942-4AB8-A194-2462691573B8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C8DC20E-B87B-4F04-8639-96DDF97F0D5C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19C1F3-22FB-430A-8EE8-7A26778C2042}"/>
                </a:ext>
              </a:extLst>
            </p:cNvPr>
            <p:cNvSpPr/>
            <p:nvPr/>
          </p:nvSpPr>
          <p:spPr>
            <a:xfrm>
              <a:off x="1425148" y="2160236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740C3-8565-4ECD-A4F5-CCA23F1FB0A5}"/>
              </a:ext>
            </a:extLst>
          </p:cNvPr>
          <p:cNvSpPr/>
          <p:nvPr/>
        </p:nvSpPr>
        <p:spPr>
          <a:xfrm>
            <a:off x="173651" y="255016"/>
            <a:ext cx="4140364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300" dirty="0"/>
              <a:t>Example 3: Neighborhood choice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2FFAF-AFE6-4EA2-ACFF-5EB68371607E}"/>
              </a:ext>
            </a:extLst>
          </p:cNvPr>
          <p:cNvSpPr/>
          <p:nvPr/>
        </p:nvSpPr>
        <p:spPr>
          <a:xfrm>
            <a:off x="394078" y="882505"/>
            <a:ext cx="3699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some reason, Schelling, who is a non-native, chooses NBH A which is native-dominated.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A51D-4F83-430D-982A-03D27CEEE7C0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EAC91C-7D42-4D96-AA6C-48610CEA0C09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D783C-DB4B-4EF4-A4FE-FF36D46A8567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Make the neighborhood more integrated and, according to segregation theories, make another </a:t>
            </a:r>
            <a:r>
              <a:rPr lang="en-US" dirty="0" err="1"/>
              <a:t>Schellings</a:t>
            </a:r>
            <a:r>
              <a:rPr lang="en-US" dirty="0"/>
              <a:t> more likely to move in A.</a:t>
            </a:r>
            <a:endParaRPr lang="sv-S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7E95B-9FBE-4C66-84D6-3248B7891D53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non-X = Since Schelling has kids, his choice makes schools at n</a:t>
            </a:r>
            <a:r>
              <a:rPr lang="sv-SE" dirty="0" err="1"/>
              <a:t>eighborhood</a:t>
            </a:r>
            <a:r>
              <a:rPr lang="en-US" dirty="0"/>
              <a:t> A more integrated (non-X = school choice).</a:t>
            </a:r>
          </a:p>
        </p:txBody>
      </p:sp>
    </p:spTree>
    <p:extLst>
      <p:ext uri="{BB962C8B-B14F-4D97-AF65-F5344CB8AC3E}">
        <p14:creationId xmlns:p14="http://schemas.microsoft.com/office/powerpoint/2010/main" val="1691713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D8FC8-7409-4DB7-81D5-C762BD938ACA}"/>
              </a:ext>
            </a:extLst>
          </p:cNvPr>
          <p:cNvSpPr/>
          <p:nvPr/>
        </p:nvSpPr>
        <p:spPr>
          <a:xfrm>
            <a:off x="291893" y="451245"/>
            <a:ext cx="79354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Now, let's play with both sides of the decision context to see how actions and interactions affect each other.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830DC1-1A26-7556-C82A-2E924609A081}"/>
              </a:ext>
            </a:extLst>
          </p:cNvPr>
          <p:cNvGrpSpPr/>
          <p:nvPr/>
        </p:nvGrpSpPr>
        <p:grpSpPr>
          <a:xfrm>
            <a:off x="1965210" y="2162754"/>
            <a:ext cx="7927625" cy="3652017"/>
            <a:chOff x="1105057" y="2311830"/>
            <a:chExt cx="9183302" cy="43696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F673565-9EA4-EA47-ACAD-94F43C694A50}"/>
                </a:ext>
              </a:extLst>
            </p:cNvPr>
            <p:cNvGrpSpPr/>
            <p:nvPr/>
          </p:nvGrpSpPr>
          <p:grpSpPr>
            <a:xfrm>
              <a:off x="4492704" y="3760153"/>
              <a:ext cx="2058784" cy="2921311"/>
              <a:chOff x="1894857" y="520293"/>
              <a:chExt cx="2064068" cy="3161148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E5F190-2B60-6214-17EC-CC34541C558D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64DA85-73FC-2497-57F2-290415ECD79D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0EFAD-52BF-4554-6D45-F39AC5C36FDB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9" name="Graphic 18" descr="Schelling">
                <a:extLst>
                  <a:ext uri="{FF2B5EF4-FFF2-40B4-BE49-F238E27FC236}">
                    <a16:creationId xmlns:a16="http://schemas.microsoft.com/office/drawing/2014/main" id="{7741B8C8-29E7-A56F-BB30-939421A01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35298" y="1231143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0F07D392-5D2B-50CC-E66F-89FEBF5DA3EF}"/>
                </a:ext>
              </a:extLst>
            </p:cNvPr>
            <p:cNvSpPr/>
            <p:nvPr/>
          </p:nvSpPr>
          <p:spPr>
            <a:xfrm>
              <a:off x="149004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5CAF6D-83A3-A03E-4FE0-687A6B8C8183}"/>
                </a:ext>
              </a:extLst>
            </p:cNvPr>
            <p:cNvSpPr/>
            <p:nvPr/>
          </p:nvSpPr>
          <p:spPr>
            <a:xfrm>
              <a:off x="1721610" y="368960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A719842E-E75E-1A3F-CC40-DFBE735CB0EC}"/>
                </a:ext>
              </a:extLst>
            </p:cNvPr>
            <p:cNvSpPr/>
            <p:nvPr/>
          </p:nvSpPr>
          <p:spPr>
            <a:xfrm>
              <a:off x="8713196" y="4669732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8B2468-EB40-BED5-1905-E571586DDDFA}"/>
                </a:ext>
              </a:extLst>
            </p:cNvPr>
            <p:cNvSpPr/>
            <p:nvPr/>
          </p:nvSpPr>
          <p:spPr>
            <a:xfrm>
              <a:off x="9076141" y="3678374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3EB34C-C92B-CD80-1B05-FAC9022C6B64}"/>
                </a:ext>
              </a:extLst>
            </p:cNvPr>
            <p:cNvSpPr txBox="1"/>
            <p:nvPr/>
          </p:nvSpPr>
          <p:spPr>
            <a:xfrm>
              <a:off x="4093421" y="2311830"/>
              <a:ext cx="3194359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sz="2400" dirty="0"/>
                <a:t>Decision </a:t>
              </a:r>
              <a:r>
                <a:rPr lang="sv-SE" sz="2400" b="1" dirty="0" err="1"/>
                <a:t>context</a:t>
              </a:r>
              <a:r>
                <a:rPr lang="sv-SE" sz="2400" dirty="0"/>
                <a:t> on X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6401C2-09EC-3BC1-1C20-3417503D8CE7}"/>
                </a:ext>
              </a:extLst>
            </p:cNvPr>
            <p:cNvSpPr txBox="1"/>
            <p:nvPr/>
          </p:nvSpPr>
          <p:spPr>
            <a:xfrm>
              <a:off x="110505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dirty="0" err="1">
                  <a:solidFill>
                    <a:srgbClr val="0D0D0D"/>
                  </a:solidFill>
                  <a:latin typeface="Söhne"/>
                </a:rPr>
                <a:t>L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eft</a:t>
              </a:r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330A11-137E-F1EA-911E-730886810B1E}"/>
                </a:ext>
              </a:extLst>
            </p:cNvPr>
            <p:cNvSpPr txBox="1"/>
            <p:nvPr/>
          </p:nvSpPr>
          <p:spPr>
            <a:xfrm>
              <a:off x="8328207" y="2964152"/>
              <a:ext cx="196015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sv-SE" b="0" i="0" dirty="0">
                  <a:solidFill>
                    <a:srgbClr val="0D0D0D"/>
                  </a:solidFill>
                  <a:effectLst/>
                  <a:latin typeface="Söhne"/>
                </a:rPr>
                <a:t>Right  </a:t>
              </a:r>
              <a:r>
                <a:rPr lang="sv-SE" b="0" i="0" dirty="0" err="1">
                  <a:solidFill>
                    <a:srgbClr val="0D0D0D"/>
                  </a:solidFill>
                  <a:effectLst/>
                  <a:latin typeface="Söhne"/>
                </a:rPr>
                <a:t>side</a:t>
              </a:r>
              <a:endParaRPr lang="sv-SE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F82B93-D323-F97B-9ACC-5EEA95156273}"/>
                </a:ext>
              </a:extLst>
            </p:cNvPr>
            <p:cNvCxnSpPr>
              <a:stCxn id="9" idx="1"/>
            </p:cNvCxnSpPr>
            <p:nvPr/>
          </p:nvCxnSpPr>
          <p:spPr>
            <a:xfrm flipH="1" flipV="1">
              <a:off x="208513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0AE3135-F282-4865-1CFC-4EE6186E9AF7}"/>
                </a:ext>
              </a:extLst>
            </p:cNvPr>
            <p:cNvCxnSpPr/>
            <p:nvPr/>
          </p:nvCxnSpPr>
          <p:spPr>
            <a:xfrm flipH="1" flipV="1">
              <a:off x="7324063" y="2542662"/>
              <a:ext cx="2008288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A334173-C520-4FA2-B797-79014CC4E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2351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A128E1-E3EC-979C-01C8-0175F0D30B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5133" y="2542662"/>
              <a:ext cx="0" cy="42149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7179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D8FC8-7409-4DB7-81D5-C762BD938ACA}"/>
              </a:ext>
            </a:extLst>
          </p:cNvPr>
          <p:cNvSpPr/>
          <p:nvPr/>
        </p:nvSpPr>
        <p:spPr>
          <a:xfrm>
            <a:off x="291893" y="451245"/>
            <a:ext cx="79354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Now, let's play with both sides of the decision context to see how actions and interactions affect each other.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75AA1C-4FB4-45AE-A99C-588F8C0C106A}"/>
              </a:ext>
            </a:extLst>
          </p:cNvPr>
          <p:cNvGrpSpPr/>
          <p:nvPr/>
        </p:nvGrpSpPr>
        <p:grpSpPr>
          <a:xfrm>
            <a:off x="197017" y="1655242"/>
            <a:ext cx="4287014" cy="2378961"/>
            <a:chOff x="1016000" y="2160236"/>
            <a:chExt cx="4287014" cy="30262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00FE8B-49F7-43E1-9D8B-A395E3D80718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2863809"/>
              <a:chOff x="1726388" y="582516"/>
              <a:chExt cx="2552423" cy="309892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1DD8F-97A6-4E2C-A2FD-7919DE031584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DF930-6BBA-4325-8277-4EB9692FF1AA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00EB41-EC7C-4A25-8672-0410AD3017FB}"/>
                  </a:ext>
                </a:extLst>
              </p:cNvPr>
              <p:cNvSpPr/>
              <p:nvPr/>
            </p:nvSpPr>
            <p:spPr>
              <a:xfrm>
                <a:off x="3325879" y="602220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0" name="Graphic 9" descr="Schelling">
                <a:extLst>
                  <a:ext uri="{FF2B5EF4-FFF2-40B4-BE49-F238E27FC236}">
                    <a16:creationId xmlns:a16="http://schemas.microsoft.com/office/drawing/2014/main" id="{B472CAB2-0F83-4447-91DC-F8BA3CD66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17AD730-AD2B-43C4-93B6-5DF8983857AC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678855EF-F416-4C1C-A52A-B45922258E7A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D734B4F5-6D10-4807-B165-2AA65B90BC70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21CF9F-C3E0-474F-99EC-0B813C511DB3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5DCC2-7446-4CC8-8BD7-D2D56346CE9B}"/>
              </a:ext>
            </a:extLst>
          </p:cNvPr>
          <p:cNvSpPr/>
          <p:nvPr/>
        </p:nvSpPr>
        <p:spPr>
          <a:xfrm>
            <a:off x="31852" y="1547764"/>
            <a:ext cx="184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highlight>
                  <a:srgbClr val="FFFF00"/>
                </a:highlight>
              </a:rPr>
              <a:t>No </a:t>
            </a:r>
            <a:r>
              <a:rPr lang="sv-SE" dirty="0" err="1">
                <a:highlight>
                  <a:srgbClr val="FFFF00"/>
                </a:highlight>
              </a:rPr>
              <a:t>discrimination</a:t>
            </a:r>
            <a:endParaRPr lang="sv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6742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D8FC8-7409-4DB7-81D5-C762BD938ACA}"/>
              </a:ext>
            </a:extLst>
          </p:cNvPr>
          <p:cNvSpPr/>
          <p:nvPr/>
        </p:nvSpPr>
        <p:spPr>
          <a:xfrm>
            <a:off x="291893" y="451245"/>
            <a:ext cx="79354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Now, let's play with both sides of the decision context to see how actions and interactions affect each other.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75AA1C-4FB4-45AE-A99C-588F8C0C106A}"/>
              </a:ext>
            </a:extLst>
          </p:cNvPr>
          <p:cNvGrpSpPr/>
          <p:nvPr/>
        </p:nvGrpSpPr>
        <p:grpSpPr>
          <a:xfrm>
            <a:off x="197017" y="1655242"/>
            <a:ext cx="4287014" cy="2378961"/>
            <a:chOff x="1016000" y="2160236"/>
            <a:chExt cx="4287014" cy="30262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00FE8B-49F7-43E1-9D8B-A395E3D80718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2863809"/>
              <a:chOff x="1726388" y="582516"/>
              <a:chExt cx="2552423" cy="309892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1DD8F-97A6-4E2C-A2FD-7919DE031584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DF930-6BBA-4325-8277-4EB9692FF1AA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00EB41-EC7C-4A25-8672-0410AD3017FB}"/>
                  </a:ext>
                </a:extLst>
              </p:cNvPr>
              <p:cNvSpPr/>
              <p:nvPr/>
            </p:nvSpPr>
            <p:spPr>
              <a:xfrm>
                <a:off x="3325879" y="602220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0" name="Graphic 9" descr="Schelling">
                <a:extLst>
                  <a:ext uri="{FF2B5EF4-FFF2-40B4-BE49-F238E27FC236}">
                    <a16:creationId xmlns:a16="http://schemas.microsoft.com/office/drawing/2014/main" id="{B472CAB2-0F83-4447-91DC-F8BA3CD66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17AD730-AD2B-43C4-93B6-5DF8983857AC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678855EF-F416-4C1C-A52A-B45922258E7A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D734B4F5-6D10-4807-B165-2AA65B90BC70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21CF9F-C3E0-474F-99EC-0B813C511DB3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5DCC2-7446-4CC8-8BD7-D2D56346CE9B}"/>
              </a:ext>
            </a:extLst>
          </p:cNvPr>
          <p:cNvSpPr/>
          <p:nvPr/>
        </p:nvSpPr>
        <p:spPr>
          <a:xfrm>
            <a:off x="31852" y="1547764"/>
            <a:ext cx="184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highlight>
                  <a:srgbClr val="FFFF00"/>
                </a:highlight>
              </a:rPr>
              <a:t>No </a:t>
            </a:r>
            <a:r>
              <a:rPr lang="sv-SE" dirty="0" err="1">
                <a:highlight>
                  <a:srgbClr val="FFFF00"/>
                </a:highlight>
              </a:rPr>
              <a:t>discrimination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E8B397-E7FE-7494-261D-768FE7E9D343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Make the neighborhood more integrated and, according to segregation theories, make another </a:t>
            </a:r>
            <a:r>
              <a:rPr lang="en-US" dirty="0" err="1"/>
              <a:t>Schellings</a:t>
            </a:r>
            <a:r>
              <a:rPr lang="en-US" dirty="0"/>
              <a:t> more likely to move in A.</a:t>
            </a:r>
            <a:endParaRPr lang="sv-S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F1EDB-2E1B-DC4E-001C-4C5318344E90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non-X = Since Schelling has kids, his choice makes schools at NBH A more integrated (non-X = </a:t>
            </a:r>
            <a:r>
              <a:rPr lang="en-US" dirty="0">
                <a:highlight>
                  <a:srgbClr val="FFFF00"/>
                </a:highlight>
              </a:rPr>
              <a:t>school choice).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F60455-EBA0-32C1-01D5-7B817AAFC60E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FC3CF5-1B65-22A1-B983-2C6BA04E90F8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374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D8FC8-7409-4DB7-81D5-C762BD938ACA}"/>
              </a:ext>
            </a:extLst>
          </p:cNvPr>
          <p:cNvSpPr/>
          <p:nvPr/>
        </p:nvSpPr>
        <p:spPr>
          <a:xfrm>
            <a:off x="291893" y="451245"/>
            <a:ext cx="79354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Now, let's play with both sides of the decision context to see how actions and interactions affect each other.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75AA1C-4FB4-45AE-A99C-588F8C0C106A}"/>
              </a:ext>
            </a:extLst>
          </p:cNvPr>
          <p:cNvGrpSpPr/>
          <p:nvPr/>
        </p:nvGrpSpPr>
        <p:grpSpPr>
          <a:xfrm>
            <a:off x="197017" y="1655242"/>
            <a:ext cx="4287014" cy="2991192"/>
            <a:chOff x="1016000" y="2160236"/>
            <a:chExt cx="4287014" cy="3805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00FE8B-49F7-43E1-9D8B-A395E3D80718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3642623"/>
              <a:chOff x="1726388" y="582516"/>
              <a:chExt cx="2552423" cy="394167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1DD8F-97A6-4E2C-A2FD-7919DE031584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4052" cy="508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>
                    <a:solidFill>
                      <a:schemeClr val="bg1">
                        <a:lumMod val="65000"/>
                      </a:schemeClr>
                    </a:solidFill>
                  </a:rPr>
                  <a:t>Schelling</a:t>
                </a:r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 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DF930-6BBA-4325-8277-4EB9692FF1AA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9400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>
                    <a:solidFill>
                      <a:schemeClr val="bg1">
                        <a:lumMod val="65000"/>
                      </a:schemeClr>
                    </a:solidFill>
                  </a:rPr>
                  <a:t>A</a:t>
                </a: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r>
                  <a:rPr lang="sv-SE" sz="2500" dirty="0">
                    <a:solidFill>
                      <a:schemeClr val="bg1">
                        <a:lumMod val="65000"/>
                      </a:schemeClr>
                    </a:solidFill>
                  </a:rPr>
                  <a:t>B</a:t>
                </a: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3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00EB41-EC7C-4A25-8672-0410AD3017FB}"/>
                  </a:ext>
                </a:extLst>
              </p:cNvPr>
              <p:cNvSpPr/>
              <p:nvPr/>
            </p:nvSpPr>
            <p:spPr>
              <a:xfrm>
                <a:off x="3325879" y="602220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10" name="Graphic 9" descr="Schelling">
                <a:extLst>
                  <a:ext uri="{FF2B5EF4-FFF2-40B4-BE49-F238E27FC236}">
                    <a16:creationId xmlns:a16="http://schemas.microsoft.com/office/drawing/2014/main" id="{B472CAB2-0F83-4447-91DC-F8BA3CD66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17AD730-AD2B-43C4-93B6-5DF8983857AC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X = </a:t>
                </a:r>
                <a:r>
                  <a:rPr lang="sv-SE" dirty="0" err="1">
                    <a:solidFill>
                      <a:schemeClr val="bg1">
                        <a:lumMod val="65000"/>
                      </a:schemeClr>
                    </a:solidFill>
                  </a:rPr>
                  <a:t>Neighborhood</a:t>
                </a:r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 choice</a:t>
                </a:r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678855EF-F416-4C1C-A52A-B45922258E7A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D734B4F5-6D10-4807-B165-2AA65B90BC70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21CF9F-C3E0-474F-99EC-0B813C511DB3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7A7B5B-3946-4854-A57B-D02657334024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8D3E1D-C098-438F-844B-DBB63B36B74F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D99925-DF91-46EE-B783-713609B0261A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X = Make the neighborhood more integrated and, according to segregation theories, make another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Schellings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more likely to move in A.</a:t>
            </a:r>
            <a:endParaRPr lang="sv-S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356EC-354F-484A-BA7F-4DD5230FF50E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non-X = Since Schelling has kids, his choice makes schools at NBH A more integrated (non-X = school choice).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5DCC2-7446-4CC8-8BD7-D2D56346CE9B}"/>
              </a:ext>
            </a:extLst>
          </p:cNvPr>
          <p:cNvSpPr/>
          <p:nvPr/>
        </p:nvSpPr>
        <p:spPr>
          <a:xfrm>
            <a:off x="31852" y="1905155"/>
            <a:ext cx="184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No </a:t>
            </a:r>
            <a:r>
              <a:rPr lang="sv-SE" dirty="0" err="1">
                <a:solidFill>
                  <a:schemeClr val="bg1">
                    <a:lumMod val="65000"/>
                  </a:schemeClr>
                </a:solidFill>
              </a:rPr>
              <a:t>discrimination</a:t>
            </a:r>
            <a:endParaRPr lang="sv-SE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CC0064-B1ED-49BA-A5B4-EAC3D0E85B69}"/>
              </a:ext>
            </a:extLst>
          </p:cNvPr>
          <p:cNvGrpSpPr/>
          <p:nvPr/>
        </p:nvGrpSpPr>
        <p:grpSpPr>
          <a:xfrm>
            <a:off x="164126" y="4075783"/>
            <a:ext cx="4287014" cy="2378961"/>
            <a:chOff x="1016000" y="2160236"/>
            <a:chExt cx="4287014" cy="302625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CEEA20D-365B-4598-8B9A-A5D9A404D9A5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2863809"/>
              <a:chOff x="1726388" y="582516"/>
              <a:chExt cx="2552423" cy="309892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83AF08-3EC0-44ED-9CED-AB2BD3521AE5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CEAD4E-9AE9-40B3-A972-D40A36175ED2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78A172F-7E5E-4F8B-A88E-A9C1F6AC389D}"/>
                  </a:ext>
                </a:extLst>
              </p:cNvPr>
              <p:cNvSpPr/>
              <p:nvPr/>
            </p:nvSpPr>
            <p:spPr>
              <a:xfrm>
                <a:off x="3326354" y="166538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25" name="Graphic 24" descr="Schelling">
                <a:extLst>
                  <a:ext uri="{FF2B5EF4-FFF2-40B4-BE49-F238E27FC236}">
                    <a16:creationId xmlns:a16="http://schemas.microsoft.com/office/drawing/2014/main" id="{DA4B79B8-20BA-4C67-9B00-07703277F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E9D155E-B987-4656-882F-B73411712EAA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A5224107-145C-400B-A6A6-9BDE7A4FD8F4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1D7601A-77B2-440F-AD2B-57EC6E83AC44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211935-43AE-499A-A51F-828D67908B2B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AA633B20-7DCF-4B13-B1C3-8B4D70AE9424}"/>
              </a:ext>
            </a:extLst>
          </p:cNvPr>
          <p:cNvSpPr/>
          <p:nvPr/>
        </p:nvSpPr>
        <p:spPr>
          <a:xfrm>
            <a:off x="-18103" y="4275301"/>
            <a:ext cx="1541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Discrimination</a:t>
            </a:r>
            <a:endParaRPr lang="sv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17658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D8FC8-7409-4DB7-81D5-C762BD938ACA}"/>
              </a:ext>
            </a:extLst>
          </p:cNvPr>
          <p:cNvSpPr/>
          <p:nvPr/>
        </p:nvSpPr>
        <p:spPr>
          <a:xfrm>
            <a:off x="291893" y="451245"/>
            <a:ext cx="793545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Now, let's play with both sides of the decision context to see how actions and interactions affect each other.</a:t>
            </a:r>
            <a:endParaRPr lang="sv-SE" sz="25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75AA1C-4FB4-45AE-A99C-588F8C0C106A}"/>
              </a:ext>
            </a:extLst>
          </p:cNvPr>
          <p:cNvGrpSpPr/>
          <p:nvPr/>
        </p:nvGrpSpPr>
        <p:grpSpPr>
          <a:xfrm>
            <a:off x="197017" y="1655242"/>
            <a:ext cx="4287014" cy="2991192"/>
            <a:chOff x="1016000" y="2160236"/>
            <a:chExt cx="4287014" cy="3805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00FE8B-49F7-43E1-9D8B-A395E3D80718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3642623"/>
              <a:chOff x="1726388" y="582516"/>
              <a:chExt cx="2552423" cy="394167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1DD8F-97A6-4E2C-A2FD-7919DE031584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4052" cy="508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>
                    <a:solidFill>
                      <a:schemeClr val="bg1">
                        <a:lumMod val="65000"/>
                      </a:schemeClr>
                    </a:solidFill>
                  </a:rPr>
                  <a:t>Schelling</a:t>
                </a:r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 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FDF930-6BBA-4325-8277-4EB9692FF1AA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9400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>
                    <a:solidFill>
                      <a:schemeClr val="bg1">
                        <a:lumMod val="65000"/>
                      </a:schemeClr>
                    </a:solidFill>
                  </a:rPr>
                  <a:t>A</a:t>
                </a: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r>
                  <a:rPr lang="sv-SE" sz="2500" dirty="0">
                    <a:solidFill>
                      <a:schemeClr val="bg1">
                        <a:lumMod val="65000"/>
                      </a:schemeClr>
                    </a:solidFill>
                  </a:rPr>
                  <a:t>B</a:t>
                </a: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2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sv-SE" sz="3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00EB41-EC7C-4A25-8672-0410AD3017FB}"/>
                  </a:ext>
                </a:extLst>
              </p:cNvPr>
              <p:cNvSpPr/>
              <p:nvPr/>
            </p:nvSpPr>
            <p:spPr>
              <a:xfrm>
                <a:off x="3325879" y="602220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pic>
            <p:nvPicPr>
              <p:cNvPr id="10" name="Graphic 9" descr="Schelling">
                <a:extLst>
                  <a:ext uri="{FF2B5EF4-FFF2-40B4-BE49-F238E27FC236}">
                    <a16:creationId xmlns:a16="http://schemas.microsoft.com/office/drawing/2014/main" id="{B472CAB2-0F83-4447-91DC-F8BA3CD66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17AD730-AD2B-43C4-93B6-5DF8983857AC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X = </a:t>
                </a:r>
                <a:r>
                  <a:rPr lang="sv-SE" dirty="0" err="1">
                    <a:solidFill>
                      <a:schemeClr val="bg1">
                        <a:lumMod val="65000"/>
                      </a:schemeClr>
                    </a:solidFill>
                  </a:rPr>
                  <a:t>Neighborhood</a:t>
                </a:r>
                <a:r>
                  <a:rPr lang="sv-SE" dirty="0">
                    <a:solidFill>
                      <a:schemeClr val="bg1">
                        <a:lumMod val="65000"/>
                      </a:schemeClr>
                    </a:solidFill>
                  </a:rPr>
                  <a:t> choice</a:t>
                </a:r>
              </a:p>
            </p:txBody>
          </p:sp>
          <p:sp>
            <p:nvSpPr>
              <p:cNvPr id="12" name="Right Brace 11">
                <a:extLst>
                  <a:ext uri="{FF2B5EF4-FFF2-40B4-BE49-F238E27FC236}">
                    <a16:creationId xmlns:a16="http://schemas.microsoft.com/office/drawing/2014/main" id="{678855EF-F416-4C1C-A52A-B45922258E7A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D734B4F5-6D10-4807-B165-2AA65B90BC70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21CF9F-C3E0-474F-99EC-0B813C511DB3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7A7B5B-3946-4854-A57B-D02657334024}"/>
              </a:ext>
            </a:extLst>
          </p:cNvPr>
          <p:cNvCxnSpPr>
            <a:cxnSpLocks/>
          </p:cNvCxnSpPr>
          <p:nvPr/>
        </p:nvCxnSpPr>
        <p:spPr>
          <a:xfrm flipV="1">
            <a:off x="4470399" y="1973943"/>
            <a:ext cx="653143" cy="500300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8D3E1D-C098-438F-844B-DBB63B36B74F}"/>
              </a:ext>
            </a:extLst>
          </p:cNvPr>
          <p:cNvCxnSpPr>
            <a:cxnSpLocks/>
          </p:cNvCxnSpPr>
          <p:nvPr/>
        </p:nvCxnSpPr>
        <p:spPr>
          <a:xfrm>
            <a:off x="4470399" y="2579087"/>
            <a:ext cx="653143" cy="400831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D99925-DF91-46EE-B783-713609B0261A}"/>
              </a:ext>
            </a:extLst>
          </p:cNvPr>
          <p:cNvSpPr/>
          <p:nvPr/>
        </p:nvSpPr>
        <p:spPr>
          <a:xfrm>
            <a:off x="5268686" y="165077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X = Make the neighborhood more integrated and, according to segregation theories, make another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Schellings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more likely to move in A.</a:t>
            </a:r>
            <a:endParaRPr lang="sv-S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356EC-354F-484A-BA7F-4DD5230FF50E}"/>
              </a:ext>
            </a:extLst>
          </p:cNvPr>
          <p:cNvSpPr/>
          <p:nvPr/>
        </p:nvSpPr>
        <p:spPr>
          <a:xfrm>
            <a:off x="5268686" y="284472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non-X = Since Schelling has kids, his choice makes schools at NBH A more integrated (non-X = school choice).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15DCC2-7446-4CC8-8BD7-D2D56346CE9B}"/>
              </a:ext>
            </a:extLst>
          </p:cNvPr>
          <p:cNvSpPr/>
          <p:nvPr/>
        </p:nvSpPr>
        <p:spPr>
          <a:xfrm>
            <a:off x="31852" y="1905155"/>
            <a:ext cx="184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No </a:t>
            </a:r>
            <a:r>
              <a:rPr lang="sv-SE" dirty="0" err="1">
                <a:solidFill>
                  <a:schemeClr val="bg1">
                    <a:lumMod val="65000"/>
                  </a:schemeClr>
                </a:solidFill>
              </a:rPr>
              <a:t>discrimination</a:t>
            </a:r>
            <a:endParaRPr lang="sv-SE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CC0064-B1ED-49BA-A5B4-EAC3D0E85B69}"/>
              </a:ext>
            </a:extLst>
          </p:cNvPr>
          <p:cNvGrpSpPr/>
          <p:nvPr/>
        </p:nvGrpSpPr>
        <p:grpSpPr>
          <a:xfrm>
            <a:off x="164126" y="4075783"/>
            <a:ext cx="4287014" cy="2378961"/>
            <a:chOff x="1016000" y="2160236"/>
            <a:chExt cx="4287014" cy="302625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CEEA20D-365B-4598-8B9A-A5D9A404D9A5}"/>
                </a:ext>
              </a:extLst>
            </p:cNvPr>
            <p:cNvGrpSpPr/>
            <p:nvPr/>
          </p:nvGrpSpPr>
          <p:grpSpPr>
            <a:xfrm>
              <a:off x="2757124" y="2322684"/>
              <a:ext cx="2545890" cy="2863809"/>
              <a:chOff x="1726388" y="582516"/>
              <a:chExt cx="2552423" cy="309892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83AF08-3EC0-44ED-9CED-AB2BD3521AE5}"/>
                  </a:ext>
                </a:extLst>
              </p:cNvPr>
              <p:cNvSpPr txBox="1"/>
              <p:nvPr/>
            </p:nvSpPr>
            <p:spPr>
              <a:xfrm>
                <a:off x="1894857" y="582516"/>
                <a:ext cx="1200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CEAD4E-9AE9-40B3-A972-D40A36175ED2}"/>
                  </a:ext>
                </a:extLst>
              </p:cNvPr>
              <p:cNvSpPr txBox="1"/>
              <p:nvPr/>
            </p:nvSpPr>
            <p:spPr>
              <a:xfrm>
                <a:off x="3457095" y="584125"/>
                <a:ext cx="371565" cy="3097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78A172F-7E5E-4F8B-A88E-A9C1F6AC389D}"/>
                  </a:ext>
                </a:extLst>
              </p:cNvPr>
              <p:cNvSpPr/>
              <p:nvPr/>
            </p:nvSpPr>
            <p:spPr>
              <a:xfrm>
                <a:off x="3326354" y="166538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25" name="Graphic 24" descr="Schelling">
                <a:extLst>
                  <a:ext uri="{FF2B5EF4-FFF2-40B4-BE49-F238E27FC236}">
                    <a16:creationId xmlns:a16="http://schemas.microsoft.com/office/drawing/2014/main" id="{DA4B79B8-20BA-4C67-9B00-07703277F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82567" y="914625"/>
                <a:ext cx="1015021" cy="1701181"/>
              </a:xfrm>
              <a:prstGeom prst="rect">
                <a:avLst/>
              </a:prstGeom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E9D155E-B987-4656-882F-B73411712EAA}"/>
                  </a:ext>
                </a:extLst>
              </p:cNvPr>
              <p:cNvSpPr/>
              <p:nvPr/>
            </p:nvSpPr>
            <p:spPr>
              <a:xfrm>
                <a:off x="1726388" y="2877059"/>
                <a:ext cx="2552423" cy="508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sv-SE" dirty="0"/>
                  <a:t>X = </a:t>
                </a:r>
                <a:r>
                  <a:rPr lang="sv-SE" dirty="0" err="1"/>
                  <a:t>Neighborhood</a:t>
                </a:r>
                <a:r>
                  <a:rPr lang="sv-SE" dirty="0"/>
                  <a:t> choice</a:t>
                </a:r>
              </a:p>
            </p:txBody>
          </p:sp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A5224107-145C-400B-A6A6-9BDE7A4FD8F4}"/>
                  </a:ext>
                </a:extLst>
              </p:cNvPr>
              <p:cNvSpPr/>
              <p:nvPr/>
            </p:nvSpPr>
            <p:spPr>
              <a:xfrm rot="5400000">
                <a:off x="2855147" y="1519158"/>
                <a:ext cx="294886" cy="237959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1D7601A-77B2-440F-AD2B-57EC6E83AC44}"/>
                </a:ext>
              </a:extLst>
            </p:cNvPr>
            <p:cNvSpPr/>
            <p:nvPr/>
          </p:nvSpPr>
          <p:spPr>
            <a:xfrm>
              <a:off x="1016000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211935-43AE-499A-A51F-828D67908B2B}"/>
                </a:ext>
              </a:extLst>
            </p:cNvPr>
            <p:cNvSpPr/>
            <p:nvPr/>
          </p:nvSpPr>
          <p:spPr>
            <a:xfrm>
              <a:off x="1425148" y="2160236"/>
              <a:ext cx="184731" cy="11941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sv-SE" sz="5500" dirty="0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D15830-787D-407A-B44F-D7C51543982C}"/>
              </a:ext>
            </a:extLst>
          </p:cNvPr>
          <p:cNvCxnSpPr>
            <a:cxnSpLocks/>
          </p:cNvCxnSpPr>
          <p:nvPr/>
        </p:nvCxnSpPr>
        <p:spPr>
          <a:xfrm flipV="1">
            <a:off x="4437508" y="4394484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735874-8056-4DA6-AFB8-C3479934261D}"/>
              </a:ext>
            </a:extLst>
          </p:cNvPr>
          <p:cNvCxnSpPr>
            <a:cxnSpLocks/>
          </p:cNvCxnSpPr>
          <p:nvPr/>
        </p:nvCxnSpPr>
        <p:spPr>
          <a:xfrm>
            <a:off x="4437508" y="4999628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E1C3AE1-D546-4A65-8B3C-21A3FB976046}"/>
              </a:ext>
            </a:extLst>
          </p:cNvPr>
          <p:cNvSpPr/>
          <p:nvPr/>
        </p:nvSpPr>
        <p:spPr>
          <a:xfrm>
            <a:off x="5235795" y="407131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X = Make the neighborhood more segregated and, according to segregation theories, make another </a:t>
            </a:r>
            <a:r>
              <a:rPr lang="en-US" dirty="0" err="1"/>
              <a:t>Schellings</a:t>
            </a:r>
            <a:r>
              <a:rPr lang="en-US" dirty="0"/>
              <a:t> more likely to move in B, generating even more segregation.</a:t>
            </a:r>
            <a:endParaRPr lang="sv-SE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722085-45BE-4D7A-9645-5896136E0848}"/>
              </a:ext>
            </a:extLst>
          </p:cNvPr>
          <p:cNvSpPr/>
          <p:nvPr/>
        </p:nvSpPr>
        <p:spPr>
          <a:xfrm>
            <a:off x="5235795" y="52652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non-X = Since Schelling has kids, his choice makes schools at NBH B more segregated (non-X = school choice).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633B20-7DCF-4B13-B1C3-8B4D70AE9424}"/>
              </a:ext>
            </a:extLst>
          </p:cNvPr>
          <p:cNvSpPr/>
          <p:nvPr/>
        </p:nvSpPr>
        <p:spPr>
          <a:xfrm>
            <a:off x="-18103" y="4275301"/>
            <a:ext cx="1541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Discrimination</a:t>
            </a:r>
            <a:endParaRPr lang="sv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2990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5768893-C001-4E2D-88E9-ECAC273DF098}"/>
              </a:ext>
            </a:extLst>
          </p:cNvPr>
          <p:cNvSpPr/>
          <p:nvPr/>
        </p:nvSpPr>
        <p:spPr>
          <a:xfrm>
            <a:off x="333828" y="760742"/>
            <a:ext cx="11176002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From this type of analysis, we can conclude: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There are factors that influence individual actions, which in turn influence other actions in many contexts.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This unit of analysis is one of several realizations that brings about macro-sociological patterns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concatenation of these actions has two properties: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they generate some effects over time (e.g., feedback effect, exponential growth, etc.)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they are time depending, what happens before determine what happens later.</a:t>
            </a:r>
            <a:endParaRPr lang="sv-SE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124617-9D95-47A4-8C7D-ADE8CA0039AC}"/>
              </a:ext>
            </a:extLst>
          </p:cNvPr>
          <p:cNvSpPr/>
          <p:nvPr/>
        </p:nvSpPr>
        <p:spPr>
          <a:xfrm>
            <a:off x="507999" y="4518844"/>
            <a:ext cx="110018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That is why we cannot just extrapolate isolated individual actions to account for collective patterns.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								graphically it looks like this:</a:t>
            </a:r>
            <a:endParaRPr lang="sv-SE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0138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28564C6-E403-4751-8FEB-CA2B31786A0E}"/>
              </a:ext>
            </a:extLst>
          </p:cNvPr>
          <p:cNvSpPr/>
          <p:nvPr/>
        </p:nvSpPr>
        <p:spPr>
          <a:xfrm>
            <a:off x="236503" y="4957901"/>
            <a:ext cx="4138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Take</a:t>
            </a:r>
            <a:r>
              <a:rPr lang="sv-SE" b="1" dirty="0"/>
              <a:t> a decision   -&gt;   new decision </a:t>
            </a:r>
            <a:r>
              <a:rPr lang="sv-SE" b="1" dirty="0" err="1"/>
              <a:t>context</a:t>
            </a: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3501783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D3B7C34-D4F1-4CCE-A684-7DE3F9AFBE32}"/>
              </a:ext>
            </a:extLst>
          </p:cNvPr>
          <p:cNvSpPr/>
          <p:nvPr/>
        </p:nvSpPr>
        <p:spPr>
          <a:xfrm>
            <a:off x="2002690" y="5245094"/>
            <a:ext cx="4138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Take</a:t>
            </a:r>
            <a:r>
              <a:rPr lang="sv-SE" b="1" dirty="0"/>
              <a:t> a decision   -&gt;   new decision </a:t>
            </a:r>
            <a:r>
              <a:rPr lang="sv-SE" b="1" dirty="0" err="1"/>
              <a:t>context</a:t>
            </a: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3382949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F14C09-0442-4C28-BEAC-D44846931166}"/>
              </a:ext>
            </a:extLst>
          </p:cNvPr>
          <p:cNvGrpSpPr/>
          <p:nvPr/>
        </p:nvGrpSpPr>
        <p:grpSpPr>
          <a:xfrm>
            <a:off x="6096000" y="271536"/>
            <a:ext cx="1590107" cy="1246495"/>
            <a:chOff x="1721472" y="780808"/>
            <a:chExt cx="1594187" cy="171583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8E8258-2848-4349-9B81-2206B624895F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5B4843-6BA7-43AF-BC57-149F386C8B4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28273A-5AE8-4B4E-83B3-E1EC264F4E4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1" name="Graphic 40" descr="Schelling">
              <a:extLst>
                <a:ext uri="{FF2B5EF4-FFF2-40B4-BE49-F238E27FC236}">
                  <a16:creationId xmlns:a16="http://schemas.microsoft.com/office/drawing/2014/main" id="{CC20A463-3348-43FE-B35C-4A349678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60660E-8D98-4D0F-8082-6B180D27C217}"/>
              </a:ext>
            </a:extLst>
          </p:cNvPr>
          <p:cNvGrpSpPr/>
          <p:nvPr/>
        </p:nvGrpSpPr>
        <p:grpSpPr>
          <a:xfrm>
            <a:off x="6098548" y="1806412"/>
            <a:ext cx="1590107" cy="1246495"/>
            <a:chOff x="1721472" y="780808"/>
            <a:chExt cx="1594187" cy="17158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53AF68-08CD-4851-BD1C-E4D814BE9530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BEEA94-D93D-4BB6-AFE2-ED14EC7986A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88A57C6-CCAB-4B87-835C-1FAB146095FD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6" name="Graphic 45" descr="Schelling">
              <a:extLst>
                <a:ext uri="{FF2B5EF4-FFF2-40B4-BE49-F238E27FC236}">
                  <a16:creationId xmlns:a16="http://schemas.microsoft.com/office/drawing/2014/main" id="{D4C387F9-42DE-4B8A-862F-095D2A7C9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65A7EC-536C-4B45-9EC8-661875BC4957}"/>
              </a:ext>
            </a:extLst>
          </p:cNvPr>
          <p:cNvGrpSpPr/>
          <p:nvPr/>
        </p:nvGrpSpPr>
        <p:grpSpPr>
          <a:xfrm>
            <a:off x="6092509" y="3749054"/>
            <a:ext cx="1590107" cy="1246495"/>
            <a:chOff x="1721472" y="780808"/>
            <a:chExt cx="1594187" cy="171583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0FA607-3A12-40BF-8F16-8C48AA27CBF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9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4C6426-E0B7-4015-93B9-6DDA4270ACE2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C5B9A3-D151-4ECB-8971-9903864F6DA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51" name="Graphic 50" descr="Schelling">
              <a:extLst>
                <a:ext uri="{FF2B5EF4-FFF2-40B4-BE49-F238E27FC236}">
                  <a16:creationId xmlns:a16="http://schemas.microsoft.com/office/drawing/2014/main" id="{1ED229D3-D3CA-42EB-B77B-C225FEBD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472162FA-4719-40C9-BBDF-0EDBB5553B7D}"/>
              </a:ext>
            </a:extLst>
          </p:cNvPr>
          <p:cNvSpPr/>
          <p:nvPr/>
        </p:nvSpPr>
        <p:spPr>
          <a:xfrm>
            <a:off x="5944473" y="1810660"/>
            <a:ext cx="269270" cy="33854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F2C0B57D-C64E-442F-8C75-35FA32702E07}"/>
              </a:ext>
            </a:extLst>
          </p:cNvPr>
          <p:cNvSpPr/>
          <p:nvPr/>
        </p:nvSpPr>
        <p:spPr>
          <a:xfrm>
            <a:off x="5973442" y="84240"/>
            <a:ext cx="238134" cy="14289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9639974-911B-456B-9E18-565D4C88CD7D}"/>
              </a:ext>
            </a:extLst>
          </p:cNvPr>
          <p:cNvSpPr/>
          <p:nvPr/>
        </p:nvSpPr>
        <p:spPr>
          <a:xfrm>
            <a:off x="4184004" y="5418749"/>
            <a:ext cx="4138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Take</a:t>
            </a:r>
            <a:r>
              <a:rPr lang="sv-SE" b="1" dirty="0"/>
              <a:t> a decision   -&gt;   new decision </a:t>
            </a:r>
            <a:r>
              <a:rPr lang="sv-SE" b="1" dirty="0" err="1"/>
              <a:t>context</a:t>
            </a: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1043187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F14C09-0442-4C28-BEAC-D44846931166}"/>
              </a:ext>
            </a:extLst>
          </p:cNvPr>
          <p:cNvGrpSpPr/>
          <p:nvPr/>
        </p:nvGrpSpPr>
        <p:grpSpPr>
          <a:xfrm>
            <a:off x="6096000" y="271536"/>
            <a:ext cx="1590107" cy="1246495"/>
            <a:chOff x="1721472" y="780808"/>
            <a:chExt cx="1594187" cy="171583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8E8258-2848-4349-9B81-2206B624895F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5B4843-6BA7-43AF-BC57-149F386C8B4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28273A-5AE8-4B4E-83B3-E1EC264F4E4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1" name="Graphic 40" descr="Schelling">
              <a:extLst>
                <a:ext uri="{FF2B5EF4-FFF2-40B4-BE49-F238E27FC236}">
                  <a16:creationId xmlns:a16="http://schemas.microsoft.com/office/drawing/2014/main" id="{CC20A463-3348-43FE-B35C-4A349678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60660E-8D98-4D0F-8082-6B180D27C217}"/>
              </a:ext>
            </a:extLst>
          </p:cNvPr>
          <p:cNvGrpSpPr/>
          <p:nvPr/>
        </p:nvGrpSpPr>
        <p:grpSpPr>
          <a:xfrm>
            <a:off x="6098548" y="1806412"/>
            <a:ext cx="1590107" cy="1246495"/>
            <a:chOff x="1721472" y="780808"/>
            <a:chExt cx="1594187" cy="17158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53AF68-08CD-4851-BD1C-E4D814BE9530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BEEA94-D93D-4BB6-AFE2-ED14EC7986A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88A57C6-CCAB-4B87-835C-1FAB146095FD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6" name="Graphic 45" descr="Schelling">
              <a:extLst>
                <a:ext uri="{FF2B5EF4-FFF2-40B4-BE49-F238E27FC236}">
                  <a16:creationId xmlns:a16="http://schemas.microsoft.com/office/drawing/2014/main" id="{D4C387F9-42DE-4B8A-862F-095D2A7C9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65A7EC-536C-4B45-9EC8-661875BC4957}"/>
              </a:ext>
            </a:extLst>
          </p:cNvPr>
          <p:cNvGrpSpPr/>
          <p:nvPr/>
        </p:nvGrpSpPr>
        <p:grpSpPr>
          <a:xfrm>
            <a:off x="6092509" y="3749054"/>
            <a:ext cx="1590107" cy="1246495"/>
            <a:chOff x="1721472" y="780808"/>
            <a:chExt cx="1594187" cy="171583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0FA607-3A12-40BF-8F16-8C48AA27CBF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9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4C6426-E0B7-4015-93B9-6DDA4270ACE2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C5B9A3-D151-4ECB-8971-9903864F6DA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51" name="Graphic 50" descr="Schelling">
              <a:extLst>
                <a:ext uri="{FF2B5EF4-FFF2-40B4-BE49-F238E27FC236}">
                  <a16:creationId xmlns:a16="http://schemas.microsoft.com/office/drawing/2014/main" id="{1ED229D3-D3CA-42EB-B77B-C225FEBD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A0385A-5ADF-4176-ABAE-DA380B7AADD0}"/>
              </a:ext>
            </a:extLst>
          </p:cNvPr>
          <p:cNvGrpSpPr/>
          <p:nvPr/>
        </p:nvGrpSpPr>
        <p:grpSpPr>
          <a:xfrm>
            <a:off x="8028297" y="1806412"/>
            <a:ext cx="1590107" cy="1246495"/>
            <a:chOff x="1721472" y="780808"/>
            <a:chExt cx="1594187" cy="171583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87183D-62DE-4F76-8451-96AE4A1B61EC}"/>
                </a:ext>
              </a:extLst>
            </p:cNvPr>
            <p:cNvSpPr txBox="1"/>
            <p:nvPr/>
          </p:nvSpPr>
          <p:spPr>
            <a:xfrm>
              <a:off x="1721472" y="1821069"/>
              <a:ext cx="111347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60FEC3-95C4-44AF-B775-A9D590D4804C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219643A-83A0-4FAA-AACE-8ED61B9E9832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56" name="Graphic 55" descr="Schelling">
              <a:extLst>
                <a:ext uri="{FF2B5EF4-FFF2-40B4-BE49-F238E27FC236}">
                  <a16:creationId xmlns:a16="http://schemas.microsoft.com/office/drawing/2014/main" id="{5C87407B-0F73-4DDE-8F55-B04FC4853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E6C621-4AD6-47B0-B1CA-9CD04E8F4DE8}"/>
              </a:ext>
            </a:extLst>
          </p:cNvPr>
          <p:cNvGrpSpPr/>
          <p:nvPr/>
        </p:nvGrpSpPr>
        <p:grpSpPr>
          <a:xfrm>
            <a:off x="8032677" y="3633193"/>
            <a:ext cx="1590107" cy="1246495"/>
            <a:chOff x="1721472" y="780808"/>
            <a:chExt cx="1594187" cy="171583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72718E-4DC2-4969-B59E-7AAFD7311431}"/>
                </a:ext>
              </a:extLst>
            </p:cNvPr>
            <p:cNvSpPr txBox="1"/>
            <p:nvPr/>
          </p:nvSpPr>
          <p:spPr>
            <a:xfrm>
              <a:off x="1721472" y="1821069"/>
              <a:ext cx="111347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F81503A-AFB0-4734-BCD8-CB1315C8CE1C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563C3CC-CFFD-4F33-A9DC-D599C199EE4D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61" name="Graphic 60" descr="Schelling">
              <a:extLst>
                <a:ext uri="{FF2B5EF4-FFF2-40B4-BE49-F238E27FC236}">
                  <a16:creationId xmlns:a16="http://schemas.microsoft.com/office/drawing/2014/main" id="{E41BC5C6-D5EE-498B-8363-3B5812F6D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472162FA-4719-40C9-BBDF-0EDBB5553B7D}"/>
              </a:ext>
            </a:extLst>
          </p:cNvPr>
          <p:cNvSpPr/>
          <p:nvPr/>
        </p:nvSpPr>
        <p:spPr>
          <a:xfrm>
            <a:off x="5944473" y="1810660"/>
            <a:ext cx="269270" cy="33854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97294AC1-8C67-461C-8093-1CABB0EC2460}"/>
              </a:ext>
            </a:extLst>
          </p:cNvPr>
          <p:cNvSpPr/>
          <p:nvPr/>
        </p:nvSpPr>
        <p:spPr>
          <a:xfrm>
            <a:off x="7963510" y="1810660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F2C0B57D-C64E-442F-8C75-35FA32702E07}"/>
              </a:ext>
            </a:extLst>
          </p:cNvPr>
          <p:cNvSpPr/>
          <p:nvPr/>
        </p:nvSpPr>
        <p:spPr>
          <a:xfrm>
            <a:off x="5973442" y="84240"/>
            <a:ext cx="238134" cy="14289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3E1709-9542-4A27-9DD0-FBCFF4ABA35F}"/>
              </a:ext>
            </a:extLst>
          </p:cNvPr>
          <p:cNvSpPr/>
          <p:nvPr/>
        </p:nvSpPr>
        <p:spPr>
          <a:xfrm>
            <a:off x="6079108" y="5461419"/>
            <a:ext cx="4138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Take</a:t>
            </a:r>
            <a:r>
              <a:rPr lang="sv-SE" b="1" dirty="0"/>
              <a:t> a decision   -&gt;   new decision </a:t>
            </a:r>
            <a:r>
              <a:rPr lang="sv-SE" b="1" dirty="0" err="1"/>
              <a:t>context</a:t>
            </a: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3611308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225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61723" y="1342089"/>
            <a:ext cx="4635841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 dirty="0"/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623D37-D866-491A-833D-C3FBF22AF63F}"/>
              </a:ext>
            </a:extLst>
          </p:cNvPr>
          <p:cNvSpPr/>
          <p:nvPr/>
        </p:nvSpPr>
        <p:spPr>
          <a:xfrm>
            <a:off x="961723" y="2625082"/>
            <a:ext cx="732971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800" b="1" dirty="0" err="1"/>
              <a:t>Granovetter's</a:t>
            </a:r>
            <a:r>
              <a:rPr lang="sv-SE" sz="2800" b="1" dirty="0"/>
              <a:t> </a:t>
            </a:r>
            <a:r>
              <a:rPr lang="sv-SE" sz="2800" b="1" dirty="0" err="1"/>
              <a:t>threshold</a:t>
            </a:r>
            <a:r>
              <a:rPr lang="sv-SE" sz="2800" b="1" dirty="0"/>
              <a:t> </a:t>
            </a:r>
            <a:r>
              <a:rPr lang="sv-SE" sz="2800" b="1" dirty="0" err="1"/>
              <a:t>model</a:t>
            </a:r>
            <a:endParaRPr lang="sv-SE" sz="2800" b="1" dirty="0"/>
          </a:p>
          <a:p>
            <a:endParaRPr lang="sv-SE" sz="2800" dirty="0"/>
          </a:p>
          <a:p>
            <a:r>
              <a:rPr lang="sv-SE" sz="2800" dirty="0" err="1"/>
              <a:t>There</a:t>
            </a:r>
            <a:r>
              <a:rPr lang="sv-SE" sz="2800" dirty="0"/>
              <a:t> is a population </a:t>
            </a:r>
            <a:r>
              <a:rPr lang="sv-SE" sz="2800" dirty="0" err="1"/>
              <a:t>of</a:t>
            </a:r>
            <a:r>
              <a:rPr lang="sv-SE" sz="2800" dirty="0"/>
              <a:t> agents </a:t>
            </a:r>
            <a:r>
              <a:rPr lang="sv-SE" sz="2800" dirty="0" err="1"/>
              <a:t>who</a:t>
            </a:r>
            <a:r>
              <a:rPr lang="sv-SE" sz="2800" dirty="0"/>
              <a:t> </a:t>
            </a:r>
            <a:r>
              <a:rPr lang="sv-SE" sz="2800" dirty="0" err="1"/>
              <a:t>will</a:t>
            </a:r>
            <a:r>
              <a:rPr lang="sv-SE" sz="2800" dirty="0"/>
              <a:t> </a:t>
            </a:r>
            <a:r>
              <a:rPr lang="sv-SE" sz="2800" dirty="0" err="1"/>
              <a:t>participate</a:t>
            </a:r>
            <a:r>
              <a:rPr lang="sv-SE" sz="2800" dirty="0"/>
              <a:t> in a </a:t>
            </a:r>
            <a:r>
              <a:rPr lang="sv-SE" sz="2800" dirty="0" err="1"/>
              <a:t>riot</a:t>
            </a:r>
            <a:r>
              <a:rPr lang="sv-SE" sz="2800" dirty="0"/>
              <a:t> as long as a </a:t>
            </a:r>
            <a:r>
              <a:rPr lang="sv-SE" sz="2800" dirty="0" err="1"/>
              <a:t>number</a:t>
            </a:r>
            <a:r>
              <a:rPr lang="sv-SE" sz="2800" dirty="0"/>
              <a:t> </a:t>
            </a:r>
            <a:r>
              <a:rPr lang="sv-SE" sz="2800" dirty="0" err="1"/>
              <a:t>of</a:t>
            </a:r>
            <a:r>
              <a:rPr lang="sv-SE" sz="2800" dirty="0"/>
              <a:t> "</a:t>
            </a:r>
            <a:r>
              <a:rPr lang="sv-SE" sz="2800" dirty="0" err="1"/>
              <a:t>other</a:t>
            </a:r>
            <a:r>
              <a:rPr lang="sv-SE" sz="2800" dirty="0"/>
              <a:t> agents" </a:t>
            </a:r>
            <a:r>
              <a:rPr lang="sv-SE" sz="2800" dirty="0" err="1"/>
              <a:t>have</a:t>
            </a:r>
            <a:r>
              <a:rPr lang="sv-SE" sz="2800" dirty="0"/>
              <a:t> </a:t>
            </a:r>
            <a:r>
              <a:rPr lang="sv-SE" sz="2800" dirty="0" err="1"/>
              <a:t>previously</a:t>
            </a:r>
            <a:r>
              <a:rPr lang="sv-SE" sz="2800" dirty="0"/>
              <a:t> get </a:t>
            </a:r>
            <a:r>
              <a:rPr lang="sv-SE" sz="2800" dirty="0" err="1"/>
              <a:t>involved</a:t>
            </a:r>
            <a:r>
              <a:rPr lang="sv-SE" sz="2800" dirty="0"/>
              <a:t>. The </a:t>
            </a:r>
            <a:r>
              <a:rPr lang="sv-SE" sz="2800" dirty="0" err="1"/>
              <a:t>number</a:t>
            </a:r>
            <a:r>
              <a:rPr lang="sv-SE" sz="2800" dirty="0"/>
              <a:t> </a:t>
            </a:r>
            <a:r>
              <a:rPr lang="sv-SE" sz="2800" dirty="0" err="1"/>
              <a:t>of</a:t>
            </a:r>
            <a:r>
              <a:rPr lang="sv-SE" sz="2800" dirty="0"/>
              <a:t> "</a:t>
            </a:r>
            <a:r>
              <a:rPr lang="sv-SE" sz="2800" dirty="0" err="1"/>
              <a:t>other</a:t>
            </a:r>
            <a:r>
              <a:rPr lang="sv-SE" sz="2800" dirty="0"/>
              <a:t> agents" is an agent </a:t>
            </a:r>
            <a:r>
              <a:rPr lang="sv-SE" sz="2800" dirty="0" err="1"/>
              <a:t>characteristic</a:t>
            </a:r>
            <a:r>
              <a:rPr lang="sv-SE" sz="2800" dirty="0"/>
              <a:t> </a:t>
            </a:r>
            <a:r>
              <a:rPr lang="sv-SE" sz="2800" dirty="0" err="1"/>
              <a:t>called</a:t>
            </a:r>
            <a:r>
              <a:rPr lang="sv-SE" sz="2800" dirty="0"/>
              <a:t> "</a:t>
            </a:r>
            <a:r>
              <a:rPr lang="sv-SE" sz="2800" dirty="0" err="1"/>
              <a:t>threshold</a:t>
            </a:r>
            <a:r>
              <a:rPr lang="sv-SE" sz="2800" dirty="0"/>
              <a:t>" and it is </a:t>
            </a:r>
            <a:r>
              <a:rPr lang="sv-SE" sz="2800" dirty="0" err="1"/>
              <a:t>randomly</a:t>
            </a:r>
            <a:r>
              <a:rPr lang="sv-SE" sz="2800" dirty="0"/>
              <a:t> </a:t>
            </a:r>
            <a:r>
              <a:rPr lang="sv-SE" sz="2800" dirty="0" err="1"/>
              <a:t>distributed</a:t>
            </a:r>
            <a:r>
              <a:rPr lang="sv-SE" sz="2800" dirty="0"/>
              <a:t> </a:t>
            </a:r>
            <a:r>
              <a:rPr lang="sv-SE" sz="2800" dirty="0" err="1"/>
              <a:t>across</a:t>
            </a:r>
            <a:r>
              <a:rPr lang="sv-SE" sz="2800" dirty="0"/>
              <a:t> the population. </a:t>
            </a:r>
          </a:p>
        </p:txBody>
      </p:sp>
      <p:pic>
        <p:nvPicPr>
          <p:cNvPr id="4" name="Picture 3" descr="A person wearing glasses&#10;&#10;Description automatically generated">
            <a:extLst>
              <a:ext uri="{FF2B5EF4-FFF2-40B4-BE49-F238E27FC236}">
                <a16:creationId xmlns:a16="http://schemas.microsoft.com/office/drawing/2014/main" id="{A911CB12-76DE-4406-ABA3-33B7E23F1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306" y="2795503"/>
            <a:ext cx="2817465" cy="28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71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>
                <a:highlight>
                  <a:srgbClr val="FFFF00"/>
                </a:highlight>
              </a:rPr>
              <a:t>(</a:t>
            </a:r>
            <a:r>
              <a:rPr lang="sv-SE" b="1" dirty="0" err="1">
                <a:highlight>
                  <a:srgbClr val="FFFF00"/>
                </a:highlight>
              </a:rPr>
              <a:t>Threshold</a:t>
            </a:r>
            <a:r>
              <a:rPr lang="sv-SE" b="1" dirty="0">
                <a:highlight>
                  <a:srgbClr val="FFFF00"/>
                </a:highlight>
              </a:rPr>
              <a:t> = 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7A5B8-776F-D747-FE9A-4A56696E44D7}"/>
              </a:ext>
            </a:extLst>
          </p:cNvPr>
          <p:cNvSpPr txBox="1"/>
          <p:nvPr/>
        </p:nvSpPr>
        <p:spPr>
          <a:xfrm>
            <a:off x="351181" y="1059101"/>
            <a:ext cx="1263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dirty="0">
                <a:solidFill>
                  <a:srgbClr val="FF0000"/>
                </a:solidFill>
              </a:rPr>
              <a:t>A = </a:t>
            </a:r>
            <a:r>
              <a:rPr lang="sv-SE" sz="1800" dirty="0" err="1">
                <a:solidFill>
                  <a:srgbClr val="FF0000"/>
                </a:solidFill>
              </a:rPr>
              <a:t>riot</a:t>
            </a:r>
            <a:endParaRPr lang="sv-SE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30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Threshold</a:t>
            </a:r>
            <a:r>
              <a:rPr lang="sv-SE" b="1" dirty="0">
                <a:highlight>
                  <a:srgbClr val="FFFF00"/>
                </a:highlight>
              </a:rPr>
              <a:t> =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439618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08DF43-1136-45FC-87EA-3583EE014B62}"/>
              </a:ext>
            </a:extLst>
          </p:cNvPr>
          <p:cNvSpPr/>
          <p:nvPr/>
        </p:nvSpPr>
        <p:spPr>
          <a:xfrm>
            <a:off x="4369055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Threshold</a:t>
            </a:r>
            <a:r>
              <a:rPr lang="sv-SE" b="1" dirty="0">
                <a:highlight>
                  <a:srgbClr val="FFFF00"/>
                </a:highlight>
              </a:rPr>
              <a:t> =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749360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F14C09-0442-4C28-BEAC-D44846931166}"/>
              </a:ext>
            </a:extLst>
          </p:cNvPr>
          <p:cNvGrpSpPr/>
          <p:nvPr/>
        </p:nvGrpSpPr>
        <p:grpSpPr>
          <a:xfrm>
            <a:off x="6096000" y="271536"/>
            <a:ext cx="1590107" cy="1246495"/>
            <a:chOff x="1721472" y="780808"/>
            <a:chExt cx="1594187" cy="171583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8E8258-2848-4349-9B81-2206B624895F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5B4843-6BA7-43AF-BC57-149F386C8B4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28273A-5AE8-4B4E-83B3-E1EC264F4E4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1" name="Graphic 40" descr="Schelling">
              <a:extLst>
                <a:ext uri="{FF2B5EF4-FFF2-40B4-BE49-F238E27FC236}">
                  <a16:creationId xmlns:a16="http://schemas.microsoft.com/office/drawing/2014/main" id="{CC20A463-3348-43FE-B35C-4A349678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60660E-8D98-4D0F-8082-6B180D27C217}"/>
              </a:ext>
            </a:extLst>
          </p:cNvPr>
          <p:cNvGrpSpPr/>
          <p:nvPr/>
        </p:nvGrpSpPr>
        <p:grpSpPr>
          <a:xfrm>
            <a:off x="6098548" y="1806412"/>
            <a:ext cx="1590107" cy="1246495"/>
            <a:chOff x="1721472" y="780808"/>
            <a:chExt cx="1594187" cy="17158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53AF68-08CD-4851-BD1C-E4D814BE9530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BEEA94-D93D-4BB6-AFE2-ED14EC7986A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88A57C6-CCAB-4B87-835C-1FAB146095FD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6" name="Graphic 45" descr="Schelling">
              <a:extLst>
                <a:ext uri="{FF2B5EF4-FFF2-40B4-BE49-F238E27FC236}">
                  <a16:creationId xmlns:a16="http://schemas.microsoft.com/office/drawing/2014/main" id="{D4C387F9-42DE-4B8A-862F-095D2A7C9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65A7EC-536C-4B45-9EC8-661875BC4957}"/>
              </a:ext>
            </a:extLst>
          </p:cNvPr>
          <p:cNvGrpSpPr/>
          <p:nvPr/>
        </p:nvGrpSpPr>
        <p:grpSpPr>
          <a:xfrm>
            <a:off x="6092509" y="3749054"/>
            <a:ext cx="1590107" cy="1246495"/>
            <a:chOff x="1721472" y="780808"/>
            <a:chExt cx="1594187" cy="171583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0FA607-3A12-40BF-8F16-8C48AA27CBF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9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4C6426-E0B7-4015-93B9-6DDA4270ACE2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C5B9A3-D151-4ECB-8971-9903864F6DA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51" name="Graphic 50" descr="Schelling">
              <a:extLst>
                <a:ext uri="{FF2B5EF4-FFF2-40B4-BE49-F238E27FC236}">
                  <a16:creationId xmlns:a16="http://schemas.microsoft.com/office/drawing/2014/main" id="{1ED229D3-D3CA-42EB-B77B-C225FEBD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472162FA-4719-40C9-BBDF-0EDBB5553B7D}"/>
              </a:ext>
            </a:extLst>
          </p:cNvPr>
          <p:cNvSpPr/>
          <p:nvPr/>
        </p:nvSpPr>
        <p:spPr>
          <a:xfrm>
            <a:off x="5944473" y="1810660"/>
            <a:ext cx="269270" cy="33854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F2C0B57D-C64E-442F-8C75-35FA32702E07}"/>
              </a:ext>
            </a:extLst>
          </p:cNvPr>
          <p:cNvSpPr/>
          <p:nvPr/>
        </p:nvSpPr>
        <p:spPr>
          <a:xfrm>
            <a:off x="5973442" y="84240"/>
            <a:ext cx="238134" cy="14289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08DF43-1136-45FC-87EA-3583EE014B62}"/>
              </a:ext>
            </a:extLst>
          </p:cNvPr>
          <p:cNvSpPr/>
          <p:nvPr/>
        </p:nvSpPr>
        <p:spPr>
          <a:xfrm>
            <a:off x="4369055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88E1476-FE8B-4D02-A808-2B2D40ECB0F9}"/>
              </a:ext>
            </a:extLst>
          </p:cNvPr>
          <p:cNvSpPr/>
          <p:nvPr/>
        </p:nvSpPr>
        <p:spPr>
          <a:xfrm>
            <a:off x="6367624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Threshold</a:t>
            </a:r>
            <a:r>
              <a:rPr lang="sv-SE" b="1" dirty="0">
                <a:highlight>
                  <a:srgbClr val="FFFF00"/>
                </a:highlight>
              </a:rPr>
              <a:t> =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1</a:t>
            </a:r>
          </a:p>
        </p:txBody>
      </p:sp>
      <p:pic>
        <p:nvPicPr>
          <p:cNvPr id="11" name="Picture 10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CC19156F-227F-4001-A2A8-A475238FAF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52054" r="9467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727"/>
          <a:stretch/>
        </p:blipFill>
        <p:spPr>
          <a:xfrm>
            <a:off x="8343475" y="719488"/>
            <a:ext cx="3489804" cy="465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7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Threshold</a:t>
            </a:r>
            <a:r>
              <a:rPr lang="sv-SE" b="1" dirty="0">
                <a:highlight>
                  <a:srgbClr val="FFFF00"/>
                </a:highlight>
              </a:rPr>
              <a:t> =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2</a:t>
            </a: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90C0EB68-0ECB-40FB-B63C-95BFF1A435AE}"/>
              </a:ext>
            </a:extLst>
          </p:cNvPr>
          <p:cNvSpPr/>
          <p:nvPr/>
        </p:nvSpPr>
        <p:spPr>
          <a:xfrm>
            <a:off x="1876084" y="802818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9D948C1C-B651-45FA-A2F4-79A865240D95}"/>
              </a:ext>
            </a:extLst>
          </p:cNvPr>
          <p:cNvSpPr/>
          <p:nvPr/>
        </p:nvSpPr>
        <p:spPr>
          <a:xfrm>
            <a:off x="1883470" y="2681112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32087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08DF43-1136-45FC-87EA-3583EE014B62}"/>
              </a:ext>
            </a:extLst>
          </p:cNvPr>
          <p:cNvSpPr/>
          <p:nvPr/>
        </p:nvSpPr>
        <p:spPr>
          <a:xfrm>
            <a:off x="4369055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2</a:t>
            </a:r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7EE35E78-3279-4C74-85B4-703AB8FA9CBE}"/>
              </a:ext>
            </a:extLst>
          </p:cNvPr>
          <p:cNvSpPr/>
          <p:nvPr/>
        </p:nvSpPr>
        <p:spPr>
          <a:xfrm>
            <a:off x="1876084" y="802818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B94840D3-A300-4EE3-96CB-0610AD01D535}"/>
              </a:ext>
            </a:extLst>
          </p:cNvPr>
          <p:cNvSpPr/>
          <p:nvPr/>
        </p:nvSpPr>
        <p:spPr>
          <a:xfrm>
            <a:off x="1824593" y="2628358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0" name="Multiplication Sign 59">
            <a:extLst>
              <a:ext uri="{FF2B5EF4-FFF2-40B4-BE49-F238E27FC236}">
                <a16:creationId xmlns:a16="http://schemas.microsoft.com/office/drawing/2014/main" id="{8A2D0243-7BC2-4A5E-9B1B-79960410EFA9}"/>
              </a:ext>
            </a:extLst>
          </p:cNvPr>
          <p:cNvSpPr/>
          <p:nvPr/>
        </p:nvSpPr>
        <p:spPr>
          <a:xfrm>
            <a:off x="3987686" y="-191772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AC28FC48-B284-404A-BC90-A48223346F24}"/>
              </a:ext>
            </a:extLst>
          </p:cNvPr>
          <p:cNvSpPr/>
          <p:nvPr/>
        </p:nvSpPr>
        <p:spPr>
          <a:xfrm>
            <a:off x="3995684" y="1503056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1C8CD82D-3AC7-4F0C-BD0D-270C84AE551A}"/>
              </a:ext>
            </a:extLst>
          </p:cNvPr>
          <p:cNvSpPr/>
          <p:nvPr/>
        </p:nvSpPr>
        <p:spPr>
          <a:xfrm>
            <a:off x="3994571" y="3330094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549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25AEC1-4F70-4CAF-A0DF-5512F4674A8F}"/>
              </a:ext>
            </a:extLst>
          </p:cNvPr>
          <p:cNvGrpSpPr/>
          <p:nvPr/>
        </p:nvGrpSpPr>
        <p:grpSpPr>
          <a:xfrm>
            <a:off x="351181" y="2551110"/>
            <a:ext cx="1590107" cy="1246495"/>
            <a:chOff x="1721472" y="780808"/>
            <a:chExt cx="1594187" cy="17158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694DA-E85B-483C-A29A-5095D80D801F}"/>
                </a:ext>
              </a:extLst>
            </p:cNvPr>
            <p:cNvSpPr txBox="1"/>
            <p:nvPr/>
          </p:nvSpPr>
          <p:spPr>
            <a:xfrm>
              <a:off x="1721472" y="1821069"/>
              <a:ext cx="996155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9B7EA-341A-4942-8C0B-C8EFCBD03977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2384F3-9E59-4689-AF38-C6BA109949B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683A3158-011B-41E5-B53D-D7F65C113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18519-F51D-43F9-9940-825B7A746543}"/>
              </a:ext>
            </a:extLst>
          </p:cNvPr>
          <p:cNvGrpSpPr/>
          <p:nvPr/>
        </p:nvGrpSpPr>
        <p:grpSpPr>
          <a:xfrm>
            <a:off x="2259029" y="1304615"/>
            <a:ext cx="1590107" cy="1246495"/>
            <a:chOff x="1721472" y="780808"/>
            <a:chExt cx="1594187" cy="171583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E8DF01-5A19-4F8A-A95E-7FE6955E34CD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817BA-98C7-4AD4-93B7-50A5ECD16889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6BCF7B-D98A-4C52-A776-D7755B9CF996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16" name="Graphic 15" descr="Schelling">
              <a:extLst>
                <a:ext uri="{FF2B5EF4-FFF2-40B4-BE49-F238E27FC236}">
                  <a16:creationId xmlns:a16="http://schemas.microsoft.com/office/drawing/2014/main" id="{4A9E32B5-DE00-40A8-82A4-2C322727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797E8-2850-446C-9136-FCB636E55CA2}"/>
              </a:ext>
            </a:extLst>
          </p:cNvPr>
          <p:cNvGrpSpPr/>
          <p:nvPr/>
        </p:nvGrpSpPr>
        <p:grpSpPr>
          <a:xfrm>
            <a:off x="2222464" y="3052907"/>
            <a:ext cx="1590107" cy="1246495"/>
            <a:chOff x="1721472" y="780808"/>
            <a:chExt cx="1594187" cy="17158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F5889-C6F6-4164-A152-A38D5A2AAC4A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8B04C-B298-4B26-88F2-1F26DD68B5A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493228-DD45-4566-BE7A-A23EE04CB987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1" name="Graphic 20" descr="Schelling">
              <a:extLst>
                <a:ext uri="{FF2B5EF4-FFF2-40B4-BE49-F238E27FC236}">
                  <a16:creationId xmlns:a16="http://schemas.microsoft.com/office/drawing/2014/main" id="{82B060CA-57CE-494E-B79D-7E59DA24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E1C04-1A22-4617-AE93-F6B286734AE2}"/>
              </a:ext>
            </a:extLst>
          </p:cNvPr>
          <p:cNvGrpSpPr/>
          <p:nvPr/>
        </p:nvGrpSpPr>
        <p:grpSpPr>
          <a:xfrm>
            <a:off x="4170503" y="271537"/>
            <a:ext cx="1590107" cy="1246495"/>
            <a:chOff x="1721472" y="780808"/>
            <a:chExt cx="1594187" cy="171583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24244-605A-4914-B26B-0B2A28EE7749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7EC8A3-BE11-44EC-900B-2DE73E77B361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559E247-6D29-4F93-9A8E-FEC54A54D89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26" name="Graphic 25" descr="Schelling">
              <a:extLst>
                <a:ext uri="{FF2B5EF4-FFF2-40B4-BE49-F238E27FC236}">
                  <a16:creationId xmlns:a16="http://schemas.microsoft.com/office/drawing/2014/main" id="{940DB794-F837-448C-B75F-C32B090E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5C7C8D-41B1-4F26-878A-438154DAC767}"/>
              </a:ext>
            </a:extLst>
          </p:cNvPr>
          <p:cNvGrpSpPr/>
          <p:nvPr/>
        </p:nvGrpSpPr>
        <p:grpSpPr>
          <a:xfrm>
            <a:off x="4208371" y="1891335"/>
            <a:ext cx="1590107" cy="1246495"/>
            <a:chOff x="1721472" y="780808"/>
            <a:chExt cx="1594187" cy="17158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C8998-1917-45F2-B7BF-59FB8789CCE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1E200E-9029-4DE4-B91F-4CDD73483DD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439656-B613-4B1E-89F0-860B2287E9D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1" name="Graphic 30" descr="Schelling">
              <a:extLst>
                <a:ext uri="{FF2B5EF4-FFF2-40B4-BE49-F238E27FC236}">
                  <a16:creationId xmlns:a16="http://schemas.microsoft.com/office/drawing/2014/main" id="{E8CBA85A-91CE-4AEE-8485-CD4434F01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88B7D-1202-46C4-BA9B-114B482A2E1C}"/>
              </a:ext>
            </a:extLst>
          </p:cNvPr>
          <p:cNvGrpSpPr/>
          <p:nvPr/>
        </p:nvGrpSpPr>
        <p:grpSpPr>
          <a:xfrm>
            <a:off x="4246239" y="3633194"/>
            <a:ext cx="1590107" cy="1246495"/>
            <a:chOff x="1721472" y="780808"/>
            <a:chExt cx="1594187" cy="17158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0D1338-E9C0-4B93-96DF-736B2BEBB194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BB05F5-A173-42E2-9C90-934588CDD26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31C0E19-7AE6-4BE3-8FA6-8E293FFC76A1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36" name="Graphic 35" descr="Schelling">
              <a:extLst>
                <a:ext uri="{FF2B5EF4-FFF2-40B4-BE49-F238E27FC236}">
                  <a16:creationId xmlns:a16="http://schemas.microsoft.com/office/drawing/2014/main" id="{2C40AD77-CBA0-4C02-A5ED-03BC783A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F14C09-0442-4C28-BEAC-D44846931166}"/>
              </a:ext>
            </a:extLst>
          </p:cNvPr>
          <p:cNvGrpSpPr/>
          <p:nvPr/>
        </p:nvGrpSpPr>
        <p:grpSpPr>
          <a:xfrm>
            <a:off x="6096000" y="271536"/>
            <a:ext cx="1590107" cy="1246495"/>
            <a:chOff x="1721472" y="780808"/>
            <a:chExt cx="1594187" cy="171583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8E8258-2848-4349-9B81-2206B624895F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5B4843-6BA7-43AF-BC57-149F386C8B4B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28273A-5AE8-4B4E-83B3-E1EC264F4E4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1" name="Graphic 40" descr="Schelling">
              <a:extLst>
                <a:ext uri="{FF2B5EF4-FFF2-40B4-BE49-F238E27FC236}">
                  <a16:creationId xmlns:a16="http://schemas.microsoft.com/office/drawing/2014/main" id="{CC20A463-3348-43FE-B35C-4A349678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60660E-8D98-4D0F-8082-6B180D27C217}"/>
              </a:ext>
            </a:extLst>
          </p:cNvPr>
          <p:cNvGrpSpPr/>
          <p:nvPr/>
        </p:nvGrpSpPr>
        <p:grpSpPr>
          <a:xfrm>
            <a:off x="6098548" y="1806412"/>
            <a:ext cx="1590107" cy="1246495"/>
            <a:chOff x="1721472" y="780808"/>
            <a:chExt cx="1594187" cy="17158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53AF68-08CD-4851-BD1C-E4D814BE9530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BEEA94-D93D-4BB6-AFE2-ED14EC7986A5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88A57C6-CCAB-4B87-835C-1FAB146095FD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46" name="Graphic 45" descr="Schelling">
              <a:extLst>
                <a:ext uri="{FF2B5EF4-FFF2-40B4-BE49-F238E27FC236}">
                  <a16:creationId xmlns:a16="http://schemas.microsoft.com/office/drawing/2014/main" id="{D4C387F9-42DE-4B8A-862F-095D2A7C9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65A7EC-536C-4B45-9EC8-661875BC4957}"/>
              </a:ext>
            </a:extLst>
          </p:cNvPr>
          <p:cNvGrpSpPr/>
          <p:nvPr/>
        </p:nvGrpSpPr>
        <p:grpSpPr>
          <a:xfrm>
            <a:off x="6092509" y="3749054"/>
            <a:ext cx="1590107" cy="1246495"/>
            <a:chOff x="1721472" y="780808"/>
            <a:chExt cx="1594187" cy="171583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0FA607-3A12-40BF-8F16-8C48AA27CBF6}"/>
                </a:ext>
              </a:extLst>
            </p:cNvPr>
            <p:cNvSpPr txBox="1"/>
            <p:nvPr/>
          </p:nvSpPr>
          <p:spPr>
            <a:xfrm>
              <a:off x="1721472" y="1821069"/>
              <a:ext cx="996154" cy="508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/>
                <a:t>Person 9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4C6426-E0B7-4015-93B9-6DDA4270ACE2}"/>
                </a:ext>
              </a:extLst>
            </p:cNvPr>
            <p:cNvSpPr txBox="1"/>
            <p:nvPr/>
          </p:nvSpPr>
          <p:spPr>
            <a:xfrm>
              <a:off x="2878723" y="780808"/>
              <a:ext cx="371565" cy="1715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C5B9A3-D151-4ECB-8971-9903864F6DA8}"/>
                </a:ext>
              </a:extLst>
            </p:cNvPr>
            <p:cNvSpPr/>
            <p:nvPr/>
          </p:nvSpPr>
          <p:spPr>
            <a:xfrm>
              <a:off x="2813352" y="780808"/>
              <a:ext cx="502307" cy="58755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51" name="Graphic 50" descr="Schelling">
              <a:extLst>
                <a:ext uri="{FF2B5EF4-FFF2-40B4-BE49-F238E27FC236}">
                  <a16:creationId xmlns:a16="http://schemas.microsoft.com/office/drawing/2014/main" id="{1ED229D3-D3CA-42EB-B77B-C225FEBD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2568" y="914626"/>
              <a:ext cx="673963" cy="1129566"/>
            </a:xfrm>
            <a:prstGeom prst="rect">
              <a:avLst/>
            </a:prstGeom>
          </p:spPr>
        </p:pic>
      </p:grpSp>
      <p:sp>
        <p:nvSpPr>
          <p:cNvPr id="62" name="Left Brace 61">
            <a:extLst>
              <a:ext uri="{FF2B5EF4-FFF2-40B4-BE49-F238E27FC236}">
                <a16:creationId xmlns:a16="http://schemas.microsoft.com/office/drawing/2014/main" id="{F64874B0-92D3-4DC5-A0E8-7481C1C78B7E}"/>
              </a:ext>
            </a:extLst>
          </p:cNvPr>
          <p:cNvSpPr/>
          <p:nvPr/>
        </p:nvSpPr>
        <p:spPr>
          <a:xfrm>
            <a:off x="2061780" y="1396581"/>
            <a:ext cx="197249" cy="29923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CE410FE9-5AE2-40C4-BC22-AFB457897EFA}"/>
              </a:ext>
            </a:extLst>
          </p:cNvPr>
          <p:cNvSpPr/>
          <p:nvPr/>
        </p:nvSpPr>
        <p:spPr>
          <a:xfrm>
            <a:off x="4071879" y="295515"/>
            <a:ext cx="182104" cy="27208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9BB08E05-9997-4115-B679-A6622C7C71CF}"/>
              </a:ext>
            </a:extLst>
          </p:cNvPr>
          <p:cNvSpPr/>
          <p:nvPr/>
        </p:nvSpPr>
        <p:spPr>
          <a:xfrm>
            <a:off x="4056734" y="3377936"/>
            <a:ext cx="237888" cy="161761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472162FA-4719-40C9-BBDF-0EDBB5553B7D}"/>
              </a:ext>
            </a:extLst>
          </p:cNvPr>
          <p:cNvSpPr/>
          <p:nvPr/>
        </p:nvSpPr>
        <p:spPr>
          <a:xfrm>
            <a:off x="5944473" y="1810660"/>
            <a:ext cx="269270" cy="338545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F2C0B57D-C64E-442F-8C75-35FA32702E07}"/>
              </a:ext>
            </a:extLst>
          </p:cNvPr>
          <p:cNvSpPr/>
          <p:nvPr/>
        </p:nvSpPr>
        <p:spPr>
          <a:xfrm>
            <a:off x="5973442" y="84240"/>
            <a:ext cx="238134" cy="14289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31A3F-5159-4A43-87B3-354CE3F519AF}"/>
              </a:ext>
            </a:extLst>
          </p:cNvPr>
          <p:cNvSpPr/>
          <p:nvPr/>
        </p:nvSpPr>
        <p:spPr>
          <a:xfrm>
            <a:off x="73988" y="5537591"/>
            <a:ext cx="1616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b="1" dirty="0"/>
              <a:t>Initiator </a:t>
            </a:r>
          </a:p>
          <a:p>
            <a:pPr algn="ctr"/>
            <a:r>
              <a:rPr lang="sv-SE" b="1" dirty="0"/>
              <a:t>(</a:t>
            </a:r>
            <a:r>
              <a:rPr lang="sv-SE" b="1" dirty="0" err="1"/>
              <a:t>Threshold</a:t>
            </a:r>
            <a:r>
              <a:rPr lang="sv-SE" b="1" dirty="0"/>
              <a:t> = 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2F06-2A64-4C75-A4DA-C2AF7C53B581}"/>
              </a:ext>
            </a:extLst>
          </p:cNvPr>
          <p:cNvSpPr/>
          <p:nvPr/>
        </p:nvSpPr>
        <p:spPr>
          <a:xfrm>
            <a:off x="2284287" y="5537591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08DF43-1136-45FC-87EA-3583EE014B62}"/>
              </a:ext>
            </a:extLst>
          </p:cNvPr>
          <p:cNvSpPr/>
          <p:nvPr/>
        </p:nvSpPr>
        <p:spPr>
          <a:xfrm>
            <a:off x="4369055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88E1476-FE8B-4D02-A808-2B2D40ECB0F9}"/>
              </a:ext>
            </a:extLst>
          </p:cNvPr>
          <p:cNvSpPr/>
          <p:nvPr/>
        </p:nvSpPr>
        <p:spPr>
          <a:xfrm>
            <a:off x="6367624" y="5491424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/>
              <a:t>Threshold</a:t>
            </a:r>
            <a:r>
              <a:rPr lang="sv-SE" b="1" dirty="0"/>
              <a:t> =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B449C-4F13-4886-B290-AAAC94F12858}"/>
              </a:ext>
            </a:extLst>
          </p:cNvPr>
          <p:cNvSpPr/>
          <p:nvPr/>
        </p:nvSpPr>
        <p:spPr>
          <a:xfrm>
            <a:off x="313862" y="343820"/>
            <a:ext cx="18695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 err="1">
                <a:highlight>
                  <a:srgbClr val="FFFF00"/>
                </a:highlight>
              </a:rPr>
              <a:t>Execution</a:t>
            </a:r>
            <a:r>
              <a:rPr lang="sv-SE" sz="2800" dirty="0">
                <a:highlight>
                  <a:srgbClr val="FFFF00"/>
                </a:highlight>
              </a:rPr>
              <a:t> 2</a:t>
            </a:r>
          </a:p>
        </p:txBody>
      </p:sp>
      <p:sp>
        <p:nvSpPr>
          <p:cNvPr id="58" name="Multiplication Sign 57">
            <a:extLst>
              <a:ext uri="{FF2B5EF4-FFF2-40B4-BE49-F238E27FC236}">
                <a16:creationId xmlns:a16="http://schemas.microsoft.com/office/drawing/2014/main" id="{7EE35E78-3279-4C74-85B4-703AB8FA9CBE}"/>
              </a:ext>
            </a:extLst>
          </p:cNvPr>
          <p:cNvSpPr/>
          <p:nvPr/>
        </p:nvSpPr>
        <p:spPr>
          <a:xfrm>
            <a:off x="1876084" y="802818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Multiplication Sign 58">
            <a:extLst>
              <a:ext uri="{FF2B5EF4-FFF2-40B4-BE49-F238E27FC236}">
                <a16:creationId xmlns:a16="http://schemas.microsoft.com/office/drawing/2014/main" id="{B94840D3-A300-4EE3-96CB-0610AD01D535}"/>
              </a:ext>
            </a:extLst>
          </p:cNvPr>
          <p:cNvSpPr/>
          <p:nvPr/>
        </p:nvSpPr>
        <p:spPr>
          <a:xfrm>
            <a:off x="1824593" y="2628358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0" name="Multiplication Sign 59">
            <a:extLst>
              <a:ext uri="{FF2B5EF4-FFF2-40B4-BE49-F238E27FC236}">
                <a16:creationId xmlns:a16="http://schemas.microsoft.com/office/drawing/2014/main" id="{8A2D0243-7BC2-4A5E-9B1B-79960410EFA9}"/>
              </a:ext>
            </a:extLst>
          </p:cNvPr>
          <p:cNvSpPr/>
          <p:nvPr/>
        </p:nvSpPr>
        <p:spPr>
          <a:xfrm>
            <a:off x="3987686" y="-191772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AC28FC48-B284-404A-BC90-A48223346F24}"/>
              </a:ext>
            </a:extLst>
          </p:cNvPr>
          <p:cNvSpPr/>
          <p:nvPr/>
        </p:nvSpPr>
        <p:spPr>
          <a:xfrm>
            <a:off x="3995684" y="1503056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6" name="Multiplication Sign 65">
            <a:extLst>
              <a:ext uri="{FF2B5EF4-FFF2-40B4-BE49-F238E27FC236}">
                <a16:creationId xmlns:a16="http://schemas.microsoft.com/office/drawing/2014/main" id="{1C8CD82D-3AC7-4F0C-BD0D-270C84AE551A}"/>
              </a:ext>
            </a:extLst>
          </p:cNvPr>
          <p:cNvSpPr/>
          <p:nvPr/>
        </p:nvSpPr>
        <p:spPr>
          <a:xfrm>
            <a:off x="3994571" y="3330094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Multiplication Sign 68">
            <a:extLst>
              <a:ext uri="{FF2B5EF4-FFF2-40B4-BE49-F238E27FC236}">
                <a16:creationId xmlns:a16="http://schemas.microsoft.com/office/drawing/2014/main" id="{03AA00A4-C05A-47A4-BFD3-D9B50B375518}"/>
              </a:ext>
            </a:extLst>
          </p:cNvPr>
          <p:cNvSpPr/>
          <p:nvPr/>
        </p:nvSpPr>
        <p:spPr>
          <a:xfrm>
            <a:off x="5836346" y="-270886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1" name="Multiplication Sign 70">
            <a:extLst>
              <a:ext uri="{FF2B5EF4-FFF2-40B4-BE49-F238E27FC236}">
                <a16:creationId xmlns:a16="http://schemas.microsoft.com/office/drawing/2014/main" id="{992D7795-7163-45B8-A76D-336BF263B8F6}"/>
              </a:ext>
            </a:extLst>
          </p:cNvPr>
          <p:cNvSpPr/>
          <p:nvPr/>
        </p:nvSpPr>
        <p:spPr>
          <a:xfrm>
            <a:off x="5843231" y="1446063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2" name="Multiplication Sign 71">
            <a:extLst>
              <a:ext uri="{FF2B5EF4-FFF2-40B4-BE49-F238E27FC236}">
                <a16:creationId xmlns:a16="http://schemas.microsoft.com/office/drawing/2014/main" id="{7EE8310C-B711-4A43-9E40-D08B400EFD4C}"/>
              </a:ext>
            </a:extLst>
          </p:cNvPr>
          <p:cNvSpPr/>
          <p:nvPr/>
        </p:nvSpPr>
        <p:spPr>
          <a:xfrm>
            <a:off x="5800488" y="3366552"/>
            <a:ext cx="2061029" cy="2117624"/>
          </a:xfrm>
          <a:prstGeom prst="mathMultiply">
            <a:avLst>
              <a:gd name="adj1" fmla="val 38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73" name="Picture 72" descr="A picture containing drawing&#10;&#10;Description automatically generated">
            <a:extLst>
              <a:ext uri="{FF2B5EF4-FFF2-40B4-BE49-F238E27FC236}">
                <a16:creationId xmlns:a16="http://schemas.microsoft.com/office/drawing/2014/main" id="{AD6857A9-D03F-4072-8A52-C9F7F1EE8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671" y="1304615"/>
            <a:ext cx="2688621" cy="3512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B14383-8728-A45F-0AAC-FFF20A4C5CBF}"/>
              </a:ext>
            </a:extLst>
          </p:cNvPr>
          <p:cNvSpPr txBox="1"/>
          <p:nvPr/>
        </p:nvSpPr>
        <p:spPr>
          <a:xfrm>
            <a:off x="10130220" y="4227092"/>
            <a:ext cx="993605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sv-SE" b="0" i="0" dirty="0">
                <a:solidFill>
                  <a:srgbClr val="0D0D0D"/>
                </a:solidFill>
                <a:effectLst/>
                <a:latin typeface="Söhne"/>
              </a:rPr>
              <a:t>Initiator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359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EB6AA-449B-67D5-35A8-67F8F5B2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02C7F9-179C-76D1-339A-80187F408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786531"/>
            <a:ext cx="4045549" cy="5284937"/>
          </a:xfrm>
          <a:prstGeom prst="rect">
            <a:avLst/>
          </a:prstGeom>
        </p:spPr>
      </p:pic>
      <p:pic>
        <p:nvPicPr>
          <p:cNvPr id="10" name="Picture 9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6EBEFC8-68BD-8FE3-6097-8248351D83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52054" r="9467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727"/>
          <a:stretch/>
        </p:blipFill>
        <p:spPr>
          <a:xfrm>
            <a:off x="1235104" y="273174"/>
            <a:ext cx="4566981" cy="609467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CCB633B1-EB2E-0EF0-CFEB-66F53E7AA569}"/>
              </a:ext>
            </a:extLst>
          </p:cNvPr>
          <p:cNvSpPr/>
          <p:nvPr/>
        </p:nvSpPr>
        <p:spPr>
          <a:xfrm>
            <a:off x="302977" y="273174"/>
            <a:ext cx="1338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>
                <a:highlight>
                  <a:srgbClr val="FFFF00"/>
                </a:highlight>
              </a:rPr>
              <a:t>World 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EA9C4F9-D582-9502-E713-A38381DDE53E}"/>
              </a:ext>
            </a:extLst>
          </p:cNvPr>
          <p:cNvSpPr/>
          <p:nvPr/>
        </p:nvSpPr>
        <p:spPr>
          <a:xfrm>
            <a:off x="7171862" y="263311"/>
            <a:ext cx="1338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800" dirty="0">
                <a:highlight>
                  <a:srgbClr val="FFFF00"/>
                </a:highlight>
              </a:rPr>
              <a:t>World 2</a:t>
            </a:r>
          </a:p>
        </p:txBody>
      </p:sp>
    </p:spTree>
    <p:extLst>
      <p:ext uri="{BB962C8B-B14F-4D97-AF65-F5344CB8AC3E}">
        <p14:creationId xmlns:p14="http://schemas.microsoft.com/office/powerpoint/2010/main" val="1690831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DB70F6-799D-4A8D-80B1-9BB78259D1D8}"/>
              </a:ext>
            </a:extLst>
          </p:cNvPr>
          <p:cNvSpPr txBox="1"/>
          <p:nvPr/>
        </p:nvSpPr>
        <p:spPr>
          <a:xfrm>
            <a:off x="8139639" y="195688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8DF6A-81BD-4DA3-B7E2-CF8F1686CD01}"/>
              </a:ext>
            </a:extLst>
          </p:cNvPr>
          <p:cNvSpPr txBox="1"/>
          <p:nvPr/>
        </p:nvSpPr>
        <p:spPr>
          <a:xfrm>
            <a:off x="951018" y="776735"/>
            <a:ext cx="912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Rule: </a:t>
            </a:r>
            <a:r>
              <a:rPr lang="en-US" dirty="0"/>
              <a:t>If any of X’s neighbors is yellow, X will become yellow.  But, if both of them are yellow or both of them are black,  X won’t.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541D6D5-2FC5-4B27-8749-377A0160E258}"/>
              </a:ext>
            </a:extLst>
          </p:cNvPr>
          <p:cNvGraphicFramePr>
            <a:graphicFrameLocks noGrp="1"/>
          </p:cNvGraphicFramePr>
          <p:nvPr/>
        </p:nvGraphicFramePr>
        <p:xfrm>
          <a:off x="1257001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935B5D5-2741-4479-8144-5D8CB4F64272}"/>
              </a:ext>
            </a:extLst>
          </p:cNvPr>
          <p:cNvGraphicFramePr>
            <a:graphicFrameLocks noGrp="1"/>
          </p:cNvGraphicFramePr>
          <p:nvPr/>
        </p:nvGraphicFramePr>
        <p:xfrm>
          <a:off x="1972285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AB34D33-27EF-40BC-A2CA-0E1B8317C649}"/>
              </a:ext>
            </a:extLst>
          </p:cNvPr>
          <p:cNvGraphicFramePr>
            <a:graphicFrameLocks noGrp="1"/>
          </p:cNvGraphicFramePr>
          <p:nvPr/>
        </p:nvGraphicFramePr>
        <p:xfrm>
          <a:off x="2682778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E24536-FA82-4C12-9C60-1034F13A141F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0873286-487F-4FA8-84FD-A970106BF834}"/>
              </a:ext>
            </a:extLst>
          </p:cNvPr>
          <p:cNvGraphicFramePr>
            <a:graphicFrameLocks noGrp="1"/>
          </p:cNvGraphicFramePr>
          <p:nvPr/>
        </p:nvGraphicFramePr>
        <p:xfrm>
          <a:off x="412060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50FF8F8-86AC-4B79-8B5E-5B11ECC49BC2}"/>
              </a:ext>
            </a:extLst>
          </p:cNvPr>
          <p:cNvGraphicFramePr>
            <a:graphicFrameLocks noGrp="1"/>
          </p:cNvGraphicFramePr>
          <p:nvPr/>
        </p:nvGraphicFramePr>
        <p:xfrm>
          <a:off x="483109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A4CFAD9-07D8-41CA-8B66-66A50DC2460C}"/>
              </a:ext>
            </a:extLst>
          </p:cNvPr>
          <p:cNvGraphicFramePr>
            <a:graphicFrameLocks noGrp="1"/>
          </p:cNvGraphicFramePr>
          <p:nvPr/>
        </p:nvGraphicFramePr>
        <p:xfrm>
          <a:off x="553558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E34F225-3F58-4EFB-9392-0EE4C04BEDE6}"/>
              </a:ext>
            </a:extLst>
          </p:cNvPr>
          <p:cNvGraphicFramePr>
            <a:graphicFrameLocks noGrp="1"/>
          </p:cNvGraphicFramePr>
          <p:nvPr/>
        </p:nvGraphicFramePr>
        <p:xfrm>
          <a:off x="625086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2D33729-11FA-4984-9579-D64D37329845}"/>
              </a:ext>
            </a:extLst>
          </p:cNvPr>
          <p:cNvGraphicFramePr>
            <a:graphicFrameLocks noGrp="1"/>
          </p:cNvGraphicFramePr>
          <p:nvPr/>
        </p:nvGraphicFramePr>
        <p:xfrm>
          <a:off x="696135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4AC192D-8535-4728-AEEB-45752EFA2076}"/>
              </a:ext>
            </a:extLst>
          </p:cNvPr>
          <p:cNvSpPr txBox="1"/>
          <p:nvPr/>
        </p:nvSpPr>
        <p:spPr>
          <a:xfrm>
            <a:off x="437546" y="242912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Example</a:t>
            </a:r>
            <a:endParaRPr lang="sv-SE" b="1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0E367-7756-0854-C789-00304865A89E}"/>
              </a:ext>
            </a:extLst>
          </p:cNvPr>
          <p:cNvSpPr txBox="1"/>
          <p:nvPr/>
        </p:nvSpPr>
        <p:spPr>
          <a:xfrm>
            <a:off x="326933" y="140492"/>
            <a:ext cx="3944232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0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9292545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DB70F6-799D-4A8D-80B1-9BB78259D1D8}"/>
              </a:ext>
            </a:extLst>
          </p:cNvPr>
          <p:cNvSpPr txBox="1"/>
          <p:nvPr/>
        </p:nvSpPr>
        <p:spPr>
          <a:xfrm>
            <a:off x="8139639" y="195688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8DF6A-81BD-4DA3-B7E2-CF8F1686CD01}"/>
              </a:ext>
            </a:extLst>
          </p:cNvPr>
          <p:cNvSpPr txBox="1"/>
          <p:nvPr/>
        </p:nvSpPr>
        <p:spPr>
          <a:xfrm>
            <a:off x="951018" y="776735"/>
            <a:ext cx="912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Rule: </a:t>
            </a:r>
            <a:r>
              <a:rPr lang="en-US" dirty="0"/>
              <a:t>If any of X’s neighbors is yellow, X will become yellow.  But, if both of them are yellow or both of them are black,  X won’t.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541D6D5-2FC5-4B27-8749-377A0160E258}"/>
              </a:ext>
            </a:extLst>
          </p:cNvPr>
          <p:cNvGraphicFramePr>
            <a:graphicFrameLocks noGrp="1"/>
          </p:cNvGraphicFramePr>
          <p:nvPr/>
        </p:nvGraphicFramePr>
        <p:xfrm>
          <a:off x="1257001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935B5D5-2741-4479-8144-5D8CB4F64272}"/>
              </a:ext>
            </a:extLst>
          </p:cNvPr>
          <p:cNvGraphicFramePr>
            <a:graphicFrameLocks noGrp="1"/>
          </p:cNvGraphicFramePr>
          <p:nvPr/>
        </p:nvGraphicFramePr>
        <p:xfrm>
          <a:off x="1972285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AB34D33-27EF-40BC-A2CA-0E1B8317C649}"/>
              </a:ext>
            </a:extLst>
          </p:cNvPr>
          <p:cNvGraphicFramePr>
            <a:graphicFrameLocks noGrp="1"/>
          </p:cNvGraphicFramePr>
          <p:nvPr/>
        </p:nvGraphicFramePr>
        <p:xfrm>
          <a:off x="2682778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E24536-FA82-4C12-9C60-1034F13A141F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0873286-487F-4FA8-84FD-A970106BF834}"/>
              </a:ext>
            </a:extLst>
          </p:cNvPr>
          <p:cNvGraphicFramePr>
            <a:graphicFrameLocks noGrp="1"/>
          </p:cNvGraphicFramePr>
          <p:nvPr/>
        </p:nvGraphicFramePr>
        <p:xfrm>
          <a:off x="412060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50FF8F8-86AC-4B79-8B5E-5B11ECC49BC2}"/>
              </a:ext>
            </a:extLst>
          </p:cNvPr>
          <p:cNvGraphicFramePr>
            <a:graphicFrameLocks noGrp="1"/>
          </p:cNvGraphicFramePr>
          <p:nvPr/>
        </p:nvGraphicFramePr>
        <p:xfrm>
          <a:off x="483109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A4CFAD9-07D8-41CA-8B66-66A50DC2460C}"/>
              </a:ext>
            </a:extLst>
          </p:cNvPr>
          <p:cNvGraphicFramePr>
            <a:graphicFrameLocks noGrp="1"/>
          </p:cNvGraphicFramePr>
          <p:nvPr/>
        </p:nvGraphicFramePr>
        <p:xfrm>
          <a:off x="553558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E34F225-3F58-4EFB-9392-0EE4C04BEDE6}"/>
              </a:ext>
            </a:extLst>
          </p:cNvPr>
          <p:cNvGraphicFramePr>
            <a:graphicFrameLocks noGrp="1"/>
          </p:cNvGraphicFramePr>
          <p:nvPr/>
        </p:nvGraphicFramePr>
        <p:xfrm>
          <a:off x="625086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2D33729-11FA-4984-9579-D64D37329845}"/>
              </a:ext>
            </a:extLst>
          </p:cNvPr>
          <p:cNvGraphicFramePr>
            <a:graphicFrameLocks noGrp="1"/>
          </p:cNvGraphicFramePr>
          <p:nvPr/>
        </p:nvGraphicFramePr>
        <p:xfrm>
          <a:off x="696135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4AC192D-8535-4728-AEEB-45752EFA2076}"/>
              </a:ext>
            </a:extLst>
          </p:cNvPr>
          <p:cNvSpPr txBox="1"/>
          <p:nvPr/>
        </p:nvSpPr>
        <p:spPr>
          <a:xfrm>
            <a:off x="437546" y="242912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Example</a:t>
            </a:r>
            <a:endParaRPr lang="sv-SE" b="1"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C297DE-4782-AA05-FB55-1159D9E9FB98}"/>
              </a:ext>
            </a:extLst>
          </p:cNvPr>
          <p:cNvGraphicFramePr>
            <a:graphicFrameLocks noGrp="1"/>
          </p:cNvGraphicFramePr>
          <p:nvPr/>
        </p:nvGraphicFramePr>
        <p:xfrm>
          <a:off x="1257001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194F90-A419-F2D4-1701-2A8D75664CB0}"/>
              </a:ext>
            </a:extLst>
          </p:cNvPr>
          <p:cNvGraphicFramePr>
            <a:graphicFrameLocks noGrp="1"/>
          </p:cNvGraphicFramePr>
          <p:nvPr/>
        </p:nvGraphicFramePr>
        <p:xfrm>
          <a:off x="1972285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D93EE-27DC-7B49-2ECC-0EB30617002B}"/>
              </a:ext>
            </a:extLst>
          </p:cNvPr>
          <p:cNvGraphicFramePr>
            <a:graphicFrameLocks noGrp="1"/>
          </p:cNvGraphicFramePr>
          <p:nvPr/>
        </p:nvGraphicFramePr>
        <p:xfrm>
          <a:off x="2682778" y="2489827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C3403A-474F-46ED-2AE0-50AA643D834E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DEF14B-0553-62E7-CE96-417FB86AA77F}"/>
              </a:ext>
            </a:extLst>
          </p:cNvPr>
          <p:cNvGraphicFramePr>
            <a:graphicFrameLocks noGrp="1"/>
          </p:cNvGraphicFramePr>
          <p:nvPr/>
        </p:nvGraphicFramePr>
        <p:xfrm>
          <a:off x="4120606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4937E3-7219-BF99-D49B-5E8D1A8D1C4D}"/>
              </a:ext>
            </a:extLst>
          </p:cNvPr>
          <p:cNvGraphicFramePr>
            <a:graphicFrameLocks noGrp="1"/>
          </p:cNvGraphicFramePr>
          <p:nvPr/>
        </p:nvGraphicFramePr>
        <p:xfrm>
          <a:off x="4831099" y="2489827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58CD0E-28E8-0F79-B80A-E390DC976A7B}"/>
              </a:ext>
            </a:extLst>
          </p:cNvPr>
          <p:cNvGraphicFramePr>
            <a:graphicFrameLocks noGrp="1"/>
          </p:cNvGraphicFramePr>
          <p:nvPr/>
        </p:nvGraphicFramePr>
        <p:xfrm>
          <a:off x="5535582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9CE7FE-7A3B-DF4D-173B-AF1E959AC478}"/>
              </a:ext>
            </a:extLst>
          </p:cNvPr>
          <p:cNvGraphicFramePr>
            <a:graphicFrameLocks noGrp="1"/>
          </p:cNvGraphicFramePr>
          <p:nvPr/>
        </p:nvGraphicFramePr>
        <p:xfrm>
          <a:off x="6250866" y="250416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1650B1F-A57A-9951-F364-EA04352BF2B8}"/>
              </a:ext>
            </a:extLst>
          </p:cNvPr>
          <p:cNvGraphicFramePr>
            <a:graphicFrameLocks noGrp="1"/>
          </p:cNvGraphicFramePr>
          <p:nvPr/>
        </p:nvGraphicFramePr>
        <p:xfrm>
          <a:off x="6961359" y="2489827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430226-039D-FC3D-F918-99AFFC026E8C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2489827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AA208D0-5610-F36A-4496-3A72F1C7D6D0}"/>
              </a:ext>
            </a:extLst>
          </p:cNvPr>
          <p:cNvGraphicFramePr>
            <a:graphicFrameLocks noGrp="1"/>
          </p:cNvGraphicFramePr>
          <p:nvPr/>
        </p:nvGraphicFramePr>
        <p:xfrm>
          <a:off x="4835890" y="2489827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40F8B4F-C4BC-4CDD-A349-F29D22A40252}"/>
              </a:ext>
            </a:extLst>
          </p:cNvPr>
          <p:cNvGraphicFramePr>
            <a:graphicFrameLocks noGrp="1"/>
          </p:cNvGraphicFramePr>
          <p:nvPr/>
        </p:nvGraphicFramePr>
        <p:xfrm>
          <a:off x="1257001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F8F98F4-E705-27CF-259B-BCF9B45B2EE4}"/>
              </a:ext>
            </a:extLst>
          </p:cNvPr>
          <p:cNvGraphicFramePr>
            <a:graphicFrameLocks noGrp="1"/>
          </p:cNvGraphicFramePr>
          <p:nvPr/>
        </p:nvGraphicFramePr>
        <p:xfrm>
          <a:off x="1972285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94C9D6A-0144-BC08-7726-DF2DCA59777A}"/>
              </a:ext>
            </a:extLst>
          </p:cNvPr>
          <p:cNvGraphicFramePr>
            <a:graphicFrameLocks noGrp="1"/>
          </p:cNvGraphicFramePr>
          <p:nvPr/>
        </p:nvGraphicFramePr>
        <p:xfrm>
          <a:off x="2682778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883EDAD-02C3-0481-0208-41BAA554A020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F133CBE-E395-ED87-DBA8-52EAC24C8E92}"/>
              </a:ext>
            </a:extLst>
          </p:cNvPr>
          <p:cNvGraphicFramePr>
            <a:graphicFrameLocks noGrp="1"/>
          </p:cNvGraphicFramePr>
          <p:nvPr/>
        </p:nvGraphicFramePr>
        <p:xfrm>
          <a:off x="4120606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56592A1-378A-84F7-F205-CE83A97CDB40}"/>
              </a:ext>
            </a:extLst>
          </p:cNvPr>
          <p:cNvGraphicFramePr>
            <a:graphicFrameLocks noGrp="1"/>
          </p:cNvGraphicFramePr>
          <p:nvPr/>
        </p:nvGraphicFramePr>
        <p:xfrm>
          <a:off x="4831099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7D31D4E-F879-79DB-5BAB-BD0AD0FB9CD4}"/>
              </a:ext>
            </a:extLst>
          </p:cNvPr>
          <p:cNvGraphicFramePr>
            <a:graphicFrameLocks noGrp="1"/>
          </p:cNvGraphicFramePr>
          <p:nvPr/>
        </p:nvGraphicFramePr>
        <p:xfrm>
          <a:off x="5535582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76E9B18-C338-AD20-95ED-664F625187E6}"/>
              </a:ext>
            </a:extLst>
          </p:cNvPr>
          <p:cNvGraphicFramePr>
            <a:graphicFrameLocks noGrp="1"/>
          </p:cNvGraphicFramePr>
          <p:nvPr/>
        </p:nvGraphicFramePr>
        <p:xfrm>
          <a:off x="6250866" y="3120874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DAA9022-C118-7DF1-9229-9799A54AE846}"/>
              </a:ext>
            </a:extLst>
          </p:cNvPr>
          <p:cNvGraphicFramePr>
            <a:graphicFrameLocks noGrp="1"/>
          </p:cNvGraphicFramePr>
          <p:nvPr/>
        </p:nvGraphicFramePr>
        <p:xfrm>
          <a:off x="6961359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4C5F0F4-D536-4C10-D083-ED6817D78536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9F10B16-759C-7A7C-5BBF-057544B42482}"/>
              </a:ext>
            </a:extLst>
          </p:cNvPr>
          <p:cNvGraphicFramePr>
            <a:graphicFrameLocks noGrp="1"/>
          </p:cNvGraphicFramePr>
          <p:nvPr/>
        </p:nvGraphicFramePr>
        <p:xfrm>
          <a:off x="4835890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739B73D-234B-51B2-8F98-A9B95ADF0729}"/>
              </a:ext>
            </a:extLst>
          </p:cNvPr>
          <p:cNvGraphicFramePr>
            <a:graphicFrameLocks noGrp="1"/>
          </p:cNvGraphicFramePr>
          <p:nvPr/>
        </p:nvGraphicFramePr>
        <p:xfrm>
          <a:off x="4105014" y="310654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A6C4EFE-5FB9-12AC-1DB1-ECFE9B73CEF5}"/>
              </a:ext>
            </a:extLst>
          </p:cNvPr>
          <p:cNvGraphicFramePr>
            <a:graphicFrameLocks noGrp="1"/>
          </p:cNvGraphicFramePr>
          <p:nvPr/>
        </p:nvGraphicFramePr>
        <p:xfrm>
          <a:off x="2676768" y="310225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3593601-E8D3-D1ED-089F-9A5B0CDCCBD9}"/>
              </a:ext>
            </a:extLst>
          </p:cNvPr>
          <p:cNvGraphicFramePr>
            <a:graphicFrameLocks noGrp="1"/>
          </p:cNvGraphicFramePr>
          <p:nvPr/>
        </p:nvGraphicFramePr>
        <p:xfrm>
          <a:off x="5546383" y="3102251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663CE0E-890C-F253-8B1C-7DFF1F93A328}"/>
              </a:ext>
            </a:extLst>
          </p:cNvPr>
          <p:cNvSpPr txBox="1"/>
          <p:nvPr/>
        </p:nvSpPr>
        <p:spPr>
          <a:xfrm>
            <a:off x="8139639" y="2592335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B5B2BA-D8A7-8BFA-C9B0-CAE6989F273D}"/>
              </a:ext>
            </a:extLst>
          </p:cNvPr>
          <p:cNvSpPr txBox="1"/>
          <p:nvPr/>
        </p:nvSpPr>
        <p:spPr>
          <a:xfrm>
            <a:off x="8139638" y="320475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6C1FB-7745-CC5D-A861-88D64760FF89}"/>
              </a:ext>
            </a:extLst>
          </p:cNvPr>
          <p:cNvSpPr txBox="1"/>
          <p:nvPr/>
        </p:nvSpPr>
        <p:spPr>
          <a:xfrm>
            <a:off x="326933" y="140492"/>
            <a:ext cx="3944232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0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787154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DB70F6-799D-4A8D-80B1-9BB78259D1D8}"/>
              </a:ext>
            </a:extLst>
          </p:cNvPr>
          <p:cNvSpPr txBox="1"/>
          <p:nvPr/>
        </p:nvSpPr>
        <p:spPr>
          <a:xfrm>
            <a:off x="8139639" y="195688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8DF6A-81BD-4DA3-B7E2-CF8F1686CD01}"/>
              </a:ext>
            </a:extLst>
          </p:cNvPr>
          <p:cNvSpPr txBox="1"/>
          <p:nvPr/>
        </p:nvSpPr>
        <p:spPr>
          <a:xfrm>
            <a:off x="951018" y="776735"/>
            <a:ext cx="912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Rule: </a:t>
            </a:r>
            <a:r>
              <a:rPr lang="en-US" dirty="0"/>
              <a:t>If any of X’s neighbors is yellow, X will become yellow.  But, if both of them are yellow or both of them are black,  X won’t.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CA7B2CB-FE63-4DBB-A6EB-611B91717154}"/>
              </a:ext>
            </a:extLst>
          </p:cNvPr>
          <p:cNvSpPr/>
          <p:nvPr/>
        </p:nvSpPr>
        <p:spPr>
          <a:xfrm>
            <a:off x="4537319" y="3380637"/>
            <a:ext cx="447869" cy="18027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D4C3A9-213A-4F3E-BE90-8D2D2B85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93" y="4674212"/>
            <a:ext cx="2852530" cy="14321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09AB19-B2BE-468F-B629-853E032E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998" y="4674212"/>
            <a:ext cx="2852530" cy="14321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567C76-C3CC-478F-82B7-C37EB8A3F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260" y="4674212"/>
            <a:ext cx="2852530" cy="14321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A5998C-0074-45BF-9DAE-2A4DC1200137}"/>
              </a:ext>
            </a:extLst>
          </p:cNvPr>
          <p:cNvSpPr txBox="1"/>
          <p:nvPr/>
        </p:nvSpPr>
        <p:spPr>
          <a:xfrm>
            <a:off x="2496617" y="422126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29D6F-74E3-4251-BDF1-05BD2A67B5B4}"/>
              </a:ext>
            </a:extLst>
          </p:cNvPr>
          <p:cNvSpPr txBox="1"/>
          <p:nvPr/>
        </p:nvSpPr>
        <p:spPr>
          <a:xfrm>
            <a:off x="5643689" y="424440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66109-AF0D-4F7E-8871-6DF0B48567BF}"/>
              </a:ext>
            </a:extLst>
          </p:cNvPr>
          <p:cNvSpPr txBox="1"/>
          <p:nvPr/>
        </p:nvSpPr>
        <p:spPr>
          <a:xfrm>
            <a:off x="8959094" y="42444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(c)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C9F58-BD9F-4155-9E6B-C510EC1A02D6}"/>
              </a:ext>
            </a:extLst>
          </p:cNvPr>
          <p:cNvSpPr/>
          <p:nvPr/>
        </p:nvSpPr>
        <p:spPr>
          <a:xfrm>
            <a:off x="1128127" y="3627853"/>
            <a:ext cx="7841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After having repeat this rule 100 times, w</a:t>
            </a:r>
            <a:r>
              <a:rPr lang="sv-SE" dirty="0" err="1"/>
              <a:t>hich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these</a:t>
            </a:r>
            <a:r>
              <a:rPr lang="sv-SE" dirty="0"/>
              <a:t> </a:t>
            </a:r>
            <a:r>
              <a:rPr lang="sv-SE" dirty="0" err="1"/>
              <a:t>patterns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produced</a:t>
            </a:r>
            <a:r>
              <a:rPr lang="sv-SE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AE2B9-4A92-4E59-9602-FC23FDD6FCF5}"/>
              </a:ext>
            </a:extLst>
          </p:cNvPr>
          <p:cNvSpPr txBox="1"/>
          <p:nvPr/>
        </p:nvSpPr>
        <p:spPr>
          <a:xfrm>
            <a:off x="8022619" y="308021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Time</a:t>
            </a:r>
            <a:r>
              <a:rPr lang="sv-SE" dirty="0"/>
              <a:t> 100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774EC45-C6C7-4440-8930-72B42D6A9D93}"/>
              </a:ext>
            </a:extLst>
          </p:cNvPr>
          <p:cNvSpPr/>
          <p:nvPr/>
        </p:nvSpPr>
        <p:spPr>
          <a:xfrm>
            <a:off x="8390397" y="2462544"/>
            <a:ext cx="317938" cy="44777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541D6D5-2FC5-4B27-8749-377A0160E258}"/>
              </a:ext>
            </a:extLst>
          </p:cNvPr>
          <p:cNvGraphicFramePr>
            <a:graphicFrameLocks noGrp="1"/>
          </p:cNvGraphicFramePr>
          <p:nvPr/>
        </p:nvGraphicFramePr>
        <p:xfrm>
          <a:off x="1257001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935B5D5-2741-4479-8144-5D8CB4F64272}"/>
              </a:ext>
            </a:extLst>
          </p:cNvPr>
          <p:cNvGraphicFramePr>
            <a:graphicFrameLocks noGrp="1"/>
          </p:cNvGraphicFramePr>
          <p:nvPr/>
        </p:nvGraphicFramePr>
        <p:xfrm>
          <a:off x="1972285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AB34D33-27EF-40BC-A2CA-0E1B8317C649}"/>
              </a:ext>
            </a:extLst>
          </p:cNvPr>
          <p:cNvGraphicFramePr>
            <a:graphicFrameLocks noGrp="1"/>
          </p:cNvGraphicFramePr>
          <p:nvPr/>
        </p:nvGraphicFramePr>
        <p:xfrm>
          <a:off x="2682778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E24536-FA82-4C12-9C60-1034F13A141F}"/>
              </a:ext>
            </a:extLst>
          </p:cNvPr>
          <p:cNvGraphicFramePr>
            <a:graphicFrameLocks noGrp="1"/>
          </p:cNvGraphicFramePr>
          <p:nvPr/>
        </p:nvGraphicFramePr>
        <p:xfrm>
          <a:off x="340532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0873286-487F-4FA8-84FD-A970106BF834}"/>
              </a:ext>
            </a:extLst>
          </p:cNvPr>
          <p:cNvGraphicFramePr>
            <a:graphicFrameLocks noGrp="1"/>
          </p:cNvGraphicFramePr>
          <p:nvPr/>
        </p:nvGraphicFramePr>
        <p:xfrm>
          <a:off x="412060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50FF8F8-86AC-4B79-8B5E-5B11ECC49BC2}"/>
              </a:ext>
            </a:extLst>
          </p:cNvPr>
          <p:cNvGraphicFramePr>
            <a:graphicFrameLocks noGrp="1"/>
          </p:cNvGraphicFramePr>
          <p:nvPr/>
        </p:nvGraphicFramePr>
        <p:xfrm>
          <a:off x="483109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pPr algn="ctr"/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A4CFAD9-07D8-41CA-8B66-66A50DC2460C}"/>
              </a:ext>
            </a:extLst>
          </p:cNvPr>
          <p:cNvGraphicFramePr>
            <a:graphicFrameLocks noGrp="1"/>
          </p:cNvGraphicFramePr>
          <p:nvPr/>
        </p:nvGraphicFramePr>
        <p:xfrm>
          <a:off x="5535582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E34F225-3F58-4EFB-9392-0EE4C04BEDE6}"/>
              </a:ext>
            </a:extLst>
          </p:cNvPr>
          <p:cNvGraphicFramePr>
            <a:graphicFrameLocks noGrp="1"/>
          </p:cNvGraphicFramePr>
          <p:nvPr/>
        </p:nvGraphicFramePr>
        <p:xfrm>
          <a:off x="6250866" y="1858780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2D33729-11FA-4984-9579-D64D37329845}"/>
              </a:ext>
            </a:extLst>
          </p:cNvPr>
          <p:cNvGraphicFramePr>
            <a:graphicFrameLocks noGrp="1"/>
          </p:cNvGraphicFramePr>
          <p:nvPr/>
        </p:nvGraphicFramePr>
        <p:xfrm>
          <a:off x="6961359" y="1844446"/>
          <a:ext cx="653528" cy="5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528">
                  <a:extLst>
                    <a:ext uri="{9D8B030D-6E8A-4147-A177-3AD203B41FA5}">
                      <a16:colId xmlns:a16="http://schemas.microsoft.com/office/drawing/2014/main" val="1006574451"/>
                    </a:ext>
                  </a:extLst>
                </a:gridCol>
              </a:tblGrid>
              <a:tr h="574348">
                <a:tc>
                  <a:txBody>
                    <a:bodyPr/>
                    <a:lstStyle/>
                    <a:p>
                      <a:r>
                        <a:rPr lang="sv-SE" sz="2500" dirty="0"/>
                        <a:t>X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2414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EF1EEF1-55E9-49FF-ADA4-00B9EB5DF299}"/>
              </a:ext>
            </a:extLst>
          </p:cNvPr>
          <p:cNvSpPr txBox="1"/>
          <p:nvPr/>
        </p:nvSpPr>
        <p:spPr>
          <a:xfrm>
            <a:off x="437546" y="242912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err="1">
                <a:highlight>
                  <a:srgbClr val="FFFF00"/>
                </a:highlight>
              </a:rPr>
              <a:t>Example</a:t>
            </a:r>
            <a:endParaRPr lang="sv-SE" b="1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36198-0DD9-8654-9F55-0C2E3951A297}"/>
              </a:ext>
            </a:extLst>
          </p:cNvPr>
          <p:cNvSpPr txBox="1"/>
          <p:nvPr/>
        </p:nvSpPr>
        <p:spPr>
          <a:xfrm>
            <a:off x="326933" y="140492"/>
            <a:ext cx="3944232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0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308385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ule90%202">
            <a:hlinkClick r:id="" action="ppaction://media"/>
            <a:extLst>
              <a:ext uri="{FF2B5EF4-FFF2-40B4-BE49-F238E27FC236}">
                <a16:creationId xmlns:a16="http://schemas.microsoft.com/office/drawing/2014/main" id="{5FB85177-4EB5-4D54-AFE5-A0B0B50F34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11166" y="1316421"/>
            <a:ext cx="8033204" cy="40166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1CD5F2-AF36-4A18-9AB2-78FDC65E63CA}"/>
              </a:ext>
            </a:extLst>
          </p:cNvPr>
          <p:cNvSpPr/>
          <p:nvPr/>
        </p:nvSpPr>
        <p:spPr>
          <a:xfrm>
            <a:off x="450998" y="524581"/>
            <a:ext cx="318606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500" dirty="0"/>
              <a:t>An the </a:t>
            </a:r>
            <a:r>
              <a:rPr lang="sv-SE" sz="2500" dirty="0" err="1"/>
              <a:t>award</a:t>
            </a:r>
            <a:r>
              <a:rPr lang="sv-SE" sz="2500" dirty="0"/>
              <a:t> goes to…</a:t>
            </a:r>
          </a:p>
        </p:txBody>
      </p:sp>
    </p:spTree>
    <p:extLst>
      <p:ext uri="{BB962C8B-B14F-4D97-AF65-F5344CB8AC3E}">
        <p14:creationId xmlns:p14="http://schemas.microsoft.com/office/powerpoint/2010/main" val="42604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0B7983-EEB6-4734-85CB-059A12CE81B8}"/>
              </a:ext>
            </a:extLst>
          </p:cNvPr>
          <p:cNvSpPr/>
          <p:nvPr/>
        </p:nvSpPr>
        <p:spPr>
          <a:xfrm>
            <a:off x="567237" y="436573"/>
            <a:ext cx="327324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 err="1">
                <a:highlight>
                  <a:srgbClr val="FFFF00"/>
                </a:highlight>
              </a:rPr>
              <a:t>Key</a:t>
            </a:r>
            <a:r>
              <a:rPr lang="sv-SE" sz="3300" dirty="0">
                <a:highlight>
                  <a:srgbClr val="FFFF00"/>
                </a:highlight>
              </a:rPr>
              <a:t> </a:t>
            </a:r>
            <a:r>
              <a:rPr lang="sv-SE" sz="3300" dirty="0" err="1">
                <a:highlight>
                  <a:srgbClr val="FFFF00"/>
                </a:highlight>
              </a:rPr>
              <a:t>takeaway</a:t>
            </a:r>
            <a:endParaRPr lang="sv-SE" sz="33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9090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0B7983-EEB6-4734-85CB-059A12CE81B8}"/>
              </a:ext>
            </a:extLst>
          </p:cNvPr>
          <p:cNvSpPr/>
          <p:nvPr/>
        </p:nvSpPr>
        <p:spPr>
          <a:xfrm>
            <a:off x="567237" y="436573"/>
            <a:ext cx="327324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 err="1">
                <a:highlight>
                  <a:srgbClr val="FFFF00"/>
                </a:highlight>
              </a:rPr>
              <a:t>Key</a:t>
            </a:r>
            <a:r>
              <a:rPr lang="sv-SE" sz="3300" dirty="0">
                <a:highlight>
                  <a:srgbClr val="FFFF00"/>
                </a:highlight>
              </a:rPr>
              <a:t> </a:t>
            </a:r>
            <a:r>
              <a:rPr lang="sv-SE" sz="3300" dirty="0" err="1">
                <a:highlight>
                  <a:srgbClr val="FFFF00"/>
                </a:highlight>
              </a:rPr>
              <a:t>takeaway</a:t>
            </a:r>
            <a:endParaRPr lang="sv-SE" sz="3300" dirty="0">
              <a:highlight>
                <a:srgbClr val="FFFF00"/>
              </a:highlight>
            </a:endParaRPr>
          </a:p>
        </p:txBody>
      </p:sp>
      <p:pic>
        <p:nvPicPr>
          <p:cNvPr id="33" name="Picture 32" descr="A picture containing table, sitting, water, food&#10;&#10;Description automatically generated">
            <a:extLst>
              <a:ext uri="{FF2B5EF4-FFF2-40B4-BE49-F238E27FC236}">
                <a16:creationId xmlns:a16="http://schemas.microsoft.com/office/drawing/2014/main" id="{58C4F431-84AF-48AA-818B-B7FC1EE4A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03" y="1621637"/>
            <a:ext cx="6469345" cy="44855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875A1F-D918-4AEA-AF39-20E08F41897D}"/>
              </a:ext>
            </a:extLst>
          </p:cNvPr>
          <p:cNvSpPr/>
          <p:nvPr/>
        </p:nvSpPr>
        <p:spPr>
          <a:xfrm>
            <a:off x="2271588" y="6052095"/>
            <a:ext cx="2220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Social </a:t>
            </a:r>
            <a:r>
              <a:rPr lang="sv-SE" dirty="0" err="1"/>
              <a:t>phenomenon</a:t>
            </a:r>
            <a:r>
              <a:rPr lang="sv-SE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144023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picture containing table, sitting, water, food&#10;&#10;Description automatically generated">
            <a:extLst>
              <a:ext uri="{FF2B5EF4-FFF2-40B4-BE49-F238E27FC236}">
                <a16:creationId xmlns:a16="http://schemas.microsoft.com/office/drawing/2014/main" id="{58C4F431-84AF-48AA-818B-B7FC1EE4A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03" y="1621637"/>
            <a:ext cx="6469345" cy="44855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875A1F-D918-4AEA-AF39-20E08F41897D}"/>
              </a:ext>
            </a:extLst>
          </p:cNvPr>
          <p:cNvSpPr/>
          <p:nvPr/>
        </p:nvSpPr>
        <p:spPr>
          <a:xfrm>
            <a:off x="2271588" y="6052095"/>
            <a:ext cx="2220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Social </a:t>
            </a:r>
            <a:r>
              <a:rPr lang="sv-SE" dirty="0" err="1"/>
              <a:t>phenomenon</a:t>
            </a:r>
            <a:r>
              <a:rPr lang="sv-SE" dirty="0"/>
              <a:t> 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91EEF9-F5A9-45FB-BB9C-139D4E2F0ECD}"/>
              </a:ext>
            </a:extLst>
          </p:cNvPr>
          <p:cNvSpPr/>
          <p:nvPr/>
        </p:nvSpPr>
        <p:spPr>
          <a:xfrm>
            <a:off x="7609778" y="436573"/>
            <a:ext cx="4241319" cy="4449537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66EFB2-3755-42F8-B348-A7EDCABA819A}"/>
              </a:ext>
            </a:extLst>
          </p:cNvPr>
          <p:cNvGrpSpPr/>
          <p:nvPr/>
        </p:nvGrpSpPr>
        <p:grpSpPr>
          <a:xfrm>
            <a:off x="8750861" y="1648427"/>
            <a:ext cx="1519263" cy="3247043"/>
            <a:chOff x="2024557" y="584125"/>
            <a:chExt cx="2018269" cy="5637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A8371B-7593-4938-B454-6C3347C0A519}"/>
                </a:ext>
              </a:extLst>
            </p:cNvPr>
            <p:cNvSpPr txBox="1"/>
            <p:nvPr/>
          </p:nvSpPr>
          <p:spPr>
            <a:xfrm>
              <a:off x="3457095" y="584125"/>
              <a:ext cx="492343" cy="56371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356C5B-BEE2-4F6F-B69C-7E78CCE9C52A}"/>
                </a:ext>
              </a:extLst>
            </p:cNvPr>
            <p:cNvSpPr/>
            <p:nvPr/>
          </p:nvSpPr>
          <p:spPr>
            <a:xfrm>
              <a:off x="3325879" y="602220"/>
              <a:ext cx="716947" cy="71288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731A2F19-014B-4C78-B61C-A142914DA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24557" y="1331207"/>
              <a:ext cx="1015021" cy="1701181"/>
            </a:xfrm>
            <a:prstGeom prst="rect">
              <a:avLst/>
            </a:prstGeom>
          </p:spPr>
        </p:pic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5CA4389-C46A-452B-B251-0AC12A112D17}"/>
              </a:ext>
            </a:extLst>
          </p:cNvPr>
          <p:cNvSpPr/>
          <p:nvPr/>
        </p:nvSpPr>
        <p:spPr>
          <a:xfrm>
            <a:off x="7722685" y="2408036"/>
            <a:ext cx="898207" cy="253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E9BCD-C803-4211-9CC8-EC2D014C9497}"/>
              </a:ext>
            </a:extLst>
          </p:cNvPr>
          <p:cNvSpPr/>
          <p:nvPr/>
        </p:nvSpPr>
        <p:spPr>
          <a:xfrm>
            <a:off x="8020161" y="1568143"/>
            <a:ext cx="139414" cy="7442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sv-SE" sz="5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060719-4850-4DCE-AD94-F94EDA304E47}"/>
              </a:ext>
            </a:extLst>
          </p:cNvPr>
          <p:cNvCxnSpPr>
            <a:cxnSpLocks/>
          </p:cNvCxnSpPr>
          <p:nvPr/>
        </p:nvCxnSpPr>
        <p:spPr>
          <a:xfrm flipV="1">
            <a:off x="10374538" y="1428067"/>
            <a:ext cx="451386" cy="334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6E8BE0-A264-4012-AB01-73EC21DD694D}"/>
              </a:ext>
            </a:extLst>
          </p:cNvPr>
          <p:cNvCxnSpPr>
            <a:cxnSpLocks/>
          </p:cNvCxnSpPr>
          <p:nvPr/>
        </p:nvCxnSpPr>
        <p:spPr>
          <a:xfrm>
            <a:off x="10368898" y="1864161"/>
            <a:ext cx="492919" cy="317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98450-206B-4D6A-9165-6D20F0F7C766}"/>
              </a:ext>
            </a:extLst>
          </p:cNvPr>
          <p:cNvSpPr/>
          <p:nvPr/>
        </p:nvSpPr>
        <p:spPr>
          <a:xfrm>
            <a:off x="10821741" y="1192556"/>
            <a:ext cx="383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sz="2200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272059-7195-4FFC-A2C6-F3129609F1B0}"/>
              </a:ext>
            </a:extLst>
          </p:cNvPr>
          <p:cNvSpPr/>
          <p:nvPr/>
        </p:nvSpPr>
        <p:spPr>
          <a:xfrm>
            <a:off x="10821741" y="1966530"/>
            <a:ext cx="7938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Non-</a:t>
            </a:r>
            <a:r>
              <a:rPr lang="sv-SE" sz="2200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D810F2-DB54-4DA1-982D-0C70991E7028}"/>
              </a:ext>
            </a:extLst>
          </p:cNvPr>
          <p:cNvSpPr/>
          <p:nvPr/>
        </p:nvSpPr>
        <p:spPr>
          <a:xfrm>
            <a:off x="7916620" y="1658850"/>
            <a:ext cx="51167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5500" dirty="0"/>
              <a:t>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1C4A93-CB5F-469F-A01D-8F9594011E48}"/>
              </a:ext>
            </a:extLst>
          </p:cNvPr>
          <p:cNvCxnSpPr>
            <a:cxnSpLocks/>
          </p:cNvCxnSpPr>
          <p:nvPr/>
        </p:nvCxnSpPr>
        <p:spPr>
          <a:xfrm>
            <a:off x="5958993" y="2234527"/>
            <a:ext cx="1643339" cy="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8E0E13D-D15D-45B4-AC47-21F1218BBFC3}"/>
              </a:ext>
            </a:extLst>
          </p:cNvPr>
          <p:cNvSpPr/>
          <p:nvPr/>
        </p:nvSpPr>
        <p:spPr>
          <a:xfrm>
            <a:off x="8646232" y="5215738"/>
            <a:ext cx="32477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1) We start by analyzing the factors that motivate the action</a:t>
            </a:r>
          </a:p>
          <a:p>
            <a:r>
              <a:rPr lang="en-US" dirty="0"/>
              <a:t>2) Then, how actions change future decision contexts for other actions.</a:t>
            </a:r>
            <a:endParaRPr lang="sv-S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98C4ED-0E8D-0414-6392-6DA0076A16D5}"/>
              </a:ext>
            </a:extLst>
          </p:cNvPr>
          <p:cNvSpPr/>
          <p:nvPr/>
        </p:nvSpPr>
        <p:spPr>
          <a:xfrm>
            <a:off x="567237" y="436573"/>
            <a:ext cx="327324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 err="1">
                <a:highlight>
                  <a:srgbClr val="FFFF00"/>
                </a:highlight>
              </a:rPr>
              <a:t>Key</a:t>
            </a:r>
            <a:r>
              <a:rPr lang="sv-SE" sz="3300" dirty="0">
                <a:highlight>
                  <a:srgbClr val="FFFF00"/>
                </a:highlight>
              </a:rPr>
              <a:t> </a:t>
            </a:r>
            <a:r>
              <a:rPr lang="sv-SE" sz="3300" dirty="0" err="1">
                <a:highlight>
                  <a:srgbClr val="FFFF00"/>
                </a:highlight>
              </a:rPr>
              <a:t>takeaway</a:t>
            </a:r>
            <a:endParaRPr lang="sv-SE" sz="33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4579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picture containing table, sitting, water, food&#10;&#10;Description automatically generated">
            <a:extLst>
              <a:ext uri="{FF2B5EF4-FFF2-40B4-BE49-F238E27FC236}">
                <a16:creationId xmlns:a16="http://schemas.microsoft.com/office/drawing/2014/main" id="{58C4F431-84AF-48AA-818B-B7FC1EE4A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03" y="1621637"/>
            <a:ext cx="6469345" cy="44855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875A1F-D918-4AEA-AF39-20E08F41897D}"/>
              </a:ext>
            </a:extLst>
          </p:cNvPr>
          <p:cNvSpPr/>
          <p:nvPr/>
        </p:nvSpPr>
        <p:spPr>
          <a:xfrm>
            <a:off x="2271588" y="6052095"/>
            <a:ext cx="2220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Social </a:t>
            </a:r>
            <a:r>
              <a:rPr lang="sv-SE" dirty="0" err="1"/>
              <a:t>phenomenon</a:t>
            </a:r>
            <a:r>
              <a:rPr lang="sv-SE" dirty="0"/>
              <a:t> 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91EEF9-F5A9-45FB-BB9C-139D4E2F0ECD}"/>
              </a:ext>
            </a:extLst>
          </p:cNvPr>
          <p:cNvSpPr/>
          <p:nvPr/>
        </p:nvSpPr>
        <p:spPr>
          <a:xfrm>
            <a:off x="7609778" y="436573"/>
            <a:ext cx="4241319" cy="4449537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66EFB2-3755-42F8-B348-A7EDCABA819A}"/>
              </a:ext>
            </a:extLst>
          </p:cNvPr>
          <p:cNvGrpSpPr/>
          <p:nvPr/>
        </p:nvGrpSpPr>
        <p:grpSpPr>
          <a:xfrm>
            <a:off x="8750861" y="1648427"/>
            <a:ext cx="1519263" cy="3247043"/>
            <a:chOff x="2024557" y="584125"/>
            <a:chExt cx="2018269" cy="5637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A8371B-7593-4938-B454-6C3347C0A519}"/>
                </a:ext>
              </a:extLst>
            </p:cNvPr>
            <p:cNvSpPr txBox="1"/>
            <p:nvPr/>
          </p:nvSpPr>
          <p:spPr>
            <a:xfrm>
              <a:off x="3457095" y="584125"/>
              <a:ext cx="492343" cy="56371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356C5B-BEE2-4F6F-B69C-7E78CCE9C52A}"/>
                </a:ext>
              </a:extLst>
            </p:cNvPr>
            <p:cNvSpPr/>
            <p:nvPr/>
          </p:nvSpPr>
          <p:spPr>
            <a:xfrm>
              <a:off x="3325879" y="602220"/>
              <a:ext cx="716947" cy="71288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731A2F19-014B-4C78-B61C-A142914DA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24557" y="1331207"/>
              <a:ext cx="1015021" cy="1701181"/>
            </a:xfrm>
            <a:prstGeom prst="rect">
              <a:avLst/>
            </a:prstGeom>
          </p:spPr>
        </p:pic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5CA4389-C46A-452B-B251-0AC12A112D17}"/>
              </a:ext>
            </a:extLst>
          </p:cNvPr>
          <p:cNvSpPr/>
          <p:nvPr/>
        </p:nvSpPr>
        <p:spPr>
          <a:xfrm>
            <a:off x="7722685" y="2408036"/>
            <a:ext cx="898207" cy="253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E9BCD-C803-4211-9CC8-EC2D014C9497}"/>
              </a:ext>
            </a:extLst>
          </p:cNvPr>
          <p:cNvSpPr/>
          <p:nvPr/>
        </p:nvSpPr>
        <p:spPr>
          <a:xfrm>
            <a:off x="8020161" y="1568143"/>
            <a:ext cx="139414" cy="7442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sv-SE" sz="5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060719-4850-4DCE-AD94-F94EDA304E47}"/>
              </a:ext>
            </a:extLst>
          </p:cNvPr>
          <p:cNvCxnSpPr>
            <a:cxnSpLocks/>
          </p:cNvCxnSpPr>
          <p:nvPr/>
        </p:nvCxnSpPr>
        <p:spPr>
          <a:xfrm flipV="1">
            <a:off x="10374538" y="1428067"/>
            <a:ext cx="451386" cy="334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6E8BE0-A264-4012-AB01-73EC21DD694D}"/>
              </a:ext>
            </a:extLst>
          </p:cNvPr>
          <p:cNvCxnSpPr>
            <a:cxnSpLocks/>
          </p:cNvCxnSpPr>
          <p:nvPr/>
        </p:nvCxnSpPr>
        <p:spPr>
          <a:xfrm>
            <a:off x="10368898" y="1864161"/>
            <a:ext cx="492919" cy="317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98450-206B-4D6A-9165-6D20F0F7C766}"/>
              </a:ext>
            </a:extLst>
          </p:cNvPr>
          <p:cNvSpPr/>
          <p:nvPr/>
        </p:nvSpPr>
        <p:spPr>
          <a:xfrm>
            <a:off x="10821741" y="1192556"/>
            <a:ext cx="383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sz="2200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272059-7195-4FFC-A2C6-F3129609F1B0}"/>
              </a:ext>
            </a:extLst>
          </p:cNvPr>
          <p:cNvSpPr/>
          <p:nvPr/>
        </p:nvSpPr>
        <p:spPr>
          <a:xfrm>
            <a:off x="10821741" y="1966530"/>
            <a:ext cx="7938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Non-</a:t>
            </a:r>
            <a:r>
              <a:rPr lang="sv-SE" sz="2200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D810F2-DB54-4DA1-982D-0C70991E7028}"/>
              </a:ext>
            </a:extLst>
          </p:cNvPr>
          <p:cNvSpPr/>
          <p:nvPr/>
        </p:nvSpPr>
        <p:spPr>
          <a:xfrm>
            <a:off x="7916620" y="1658850"/>
            <a:ext cx="51167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5500" dirty="0"/>
              <a:t>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1C4A93-CB5F-469F-A01D-8F9594011E48}"/>
              </a:ext>
            </a:extLst>
          </p:cNvPr>
          <p:cNvCxnSpPr>
            <a:cxnSpLocks/>
          </p:cNvCxnSpPr>
          <p:nvPr/>
        </p:nvCxnSpPr>
        <p:spPr>
          <a:xfrm>
            <a:off x="5958993" y="2234527"/>
            <a:ext cx="1643339" cy="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8E0E13D-D15D-45B4-AC47-21F1218BBFC3}"/>
              </a:ext>
            </a:extLst>
          </p:cNvPr>
          <p:cNvSpPr/>
          <p:nvPr/>
        </p:nvSpPr>
        <p:spPr>
          <a:xfrm>
            <a:off x="8646232" y="5215738"/>
            <a:ext cx="32477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1) We start by analyzing the factors that motivate the action</a:t>
            </a:r>
          </a:p>
          <a:p>
            <a:r>
              <a:rPr lang="en-US" dirty="0"/>
              <a:t>2) Then, how actions change future decision contexts for other actions.</a:t>
            </a:r>
            <a:endParaRPr lang="sv-SE" dirty="0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D705B929-F293-4D28-9EF0-BCB12CA7DCC2}"/>
              </a:ext>
            </a:extLst>
          </p:cNvPr>
          <p:cNvSpPr/>
          <p:nvPr/>
        </p:nvSpPr>
        <p:spPr>
          <a:xfrm>
            <a:off x="6235093" y="4920733"/>
            <a:ext cx="1803314" cy="394387"/>
          </a:xfrm>
          <a:prstGeom prst="leftRightArrow">
            <a:avLst>
              <a:gd name="adj1" fmla="val 3527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C0F21-4101-487E-91CB-68C730ADF7C2}"/>
              </a:ext>
            </a:extLst>
          </p:cNvPr>
          <p:cNvSpPr/>
          <p:nvPr/>
        </p:nvSpPr>
        <p:spPr>
          <a:xfrm>
            <a:off x="5496705" y="5368554"/>
            <a:ext cx="27515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even though is sometimes "</a:t>
            </a:r>
            <a:r>
              <a:rPr lang="en-US" b="1" dirty="0"/>
              <a:t>common sense</a:t>
            </a:r>
            <a:r>
              <a:rPr lang="en-US" dirty="0"/>
              <a:t>", we </a:t>
            </a:r>
            <a:r>
              <a:rPr lang="en-US" b="1" dirty="0"/>
              <a:t>cannot</a:t>
            </a:r>
            <a:r>
              <a:rPr lang="en-US" dirty="0"/>
              <a:t> extrapolate micro results to macro-outcomes</a:t>
            </a:r>
            <a:endParaRPr lang="sv-S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DAB64-BCD8-FAD6-6BC2-7219409C2520}"/>
              </a:ext>
            </a:extLst>
          </p:cNvPr>
          <p:cNvSpPr/>
          <p:nvPr/>
        </p:nvSpPr>
        <p:spPr>
          <a:xfrm>
            <a:off x="567237" y="436573"/>
            <a:ext cx="327324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 err="1">
                <a:highlight>
                  <a:srgbClr val="FFFF00"/>
                </a:highlight>
              </a:rPr>
              <a:t>Key</a:t>
            </a:r>
            <a:r>
              <a:rPr lang="sv-SE" sz="3300" dirty="0">
                <a:highlight>
                  <a:srgbClr val="FFFF00"/>
                </a:highlight>
              </a:rPr>
              <a:t> </a:t>
            </a:r>
            <a:r>
              <a:rPr lang="sv-SE" sz="3300" dirty="0" err="1">
                <a:highlight>
                  <a:srgbClr val="FFFF00"/>
                </a:highlight>
              </a:rPr>
              <a:t>takeaway</a:t>
            </a:r>
            <a:endParaRPr lang="sv-SE" sz="33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4325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0B7983-EEB6-4734-85CB-059A12CE81B8}"/>
              </a:ext>
            </a:extLst>
          </p:cNvPr>
          <p:cNvSpPr/>
          <p:nvPr/>
        </p:nvSpPr>
        <p:spPr>
          <a:xfrm>
            <a:off x="567237" y="436573"/>
            <a:ext cx="236464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>
                <a:highlight>
                  <a:srgbClr val="FFFF00"/>
                </a:highlight>
              </a:rPr>
              <a:t>Main </a:t>
            </a:r>
            <a:r>
              <a:rPr lang="sv-SE" sz="3300" dirty="0" err="1">
                <a:highlight>
                  <a:srgbClr val="FFFF00"/>
                </a:highlight>
              </a:rPr>
              <a:t>lesson</a:t>
            </a:r>
            <a:endParaRPr lang="sv-SE" sz="3300" dirty="0">
              <a:highlight>
                <a:srgbClr val="FFFF00"/>
              </a:highlight>
            </a:endParaRPr>
          </a:p>
        </p:txBody>
      </p:sp>
      <p:pic>
        <p:nvPicPr>
          <p:cNvPr id="33" name="Picture 32" descr="A picture containing table, sitting, water, food&#10;&#10;Description automatically generated">
            <a:extLst>
              <a:ext uri="{FF2B5EF4-FFF2-40B4-BE49-F238E27FC236}">
                <a16:creationId xmlns:a16="http://schemas.microsoft.com/office/drawing/2014/main" id="{58C4F431-84AF-48AA-818B-B7FC1EE4A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03" y="1621637"/>
            <a:ext cx="6469345" cy="44855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875A1F-D918-4AEA-AF39-20E08F41897D}"/>
              </a:ext>
            </a:extLst>
          </p:cNvPr>
          <p:cNvSpPr/>
          <p:nvPr/>
        </p:nvSpPr>
        <p:spPr>
          <a:xfrm>
            <a:off x="2271588" y="6052095"/>
            <a:ext cx="2220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Social </a:t>
            </a:r>
            <a:r>
              <a:rPr lang="sv-SE" dirty="0" err="1"/>
              <a:t>phenomenon</a:t>
            </a:r>
            <a:r>
              <a:rPr lang="sv-SE" dirty="0"/>
              <a:t> 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91EEF9-F5A9-45FB-BB9C-139D4E2F0ECD}"/>
              </a:ext>
            </a:extLst>
          </p:cNvPr>
          <p:cNvSpPr/>
          <p:nvPr/>
        </p:nvSpPr>
        <p:spPr>
          <a:xfrm>
            <a:off x="7609778" y="436573"/>
            <a:ext cx="4241319" cy="4449537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66EFB2-3755-42F8-B348-A7EDCABA819A}"/>
              </a:ext>
            </a:extLst>
          </p:cNvPr>
          <p:cNvGrpSpPr/>
          <p:nvPr/>
        </p:nvGrpSpPr>
        <p:grpSpPr>
          <a:xfrm>
            <a:off x="8750861" y="1648427"/>
            <a:ext cx="1519263" cy="3247043"/>
            <a:chOff x="2024557" y="584125"/>
            <a:chExt cx="2018269" cy="5637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A8371B-7593-4938-B454-6C3347C0A519}"/>
                </a:ext>
              </a:extLst>
            </p:cNvPr>
            <p:cNvSpPr txBox="1"/>
            <p:nvPr/>
          </p:nvSpPr>
          <p:spPr>
            <a:xfrm>
              <a:off x="3457095" y="584125"/>
              <a:ext cx="492343" cy="56371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2500" dirty="0"/>
                <a:t>A</a:t>
              </a:r>
            </a:p>
            <a:p>
              <a:endParaRPr lang="sv-SE" sz="2500" dirty="0"/>
            </a:p>
            <a:p>
              <a:r>
                <a:rPr lang="sv-SE" sz="2500" dirty="0"/>
                <a:t>B</a:t>
              </a:r>
            </a:p>
            <a:p>
              <a:endParaRPr lang="sv-SE" sz="2500" dirty="0"/>
            </a:p>
            <a:p>
              <a:r>
                <a:rPr lang="sv-SE" sz="2500" dirty="0"/>
                <a:t>C</a:t>
              </a:r>
            </a:p>
            <a:p>
              <a:endParaRPr lang="sv-SE" sz="2500" dirty="0"/>
            </a:p>
            <a:p>
              <a:endParaRPr lang="sv-SE" sz="2500" dirty="0"/>
            </a:p>
            <a:p>
              <a:endParaRPr lang="sv-SE" sz="3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356C5B-BEE2-4F6F-B69C-7E78CCE9C52A}"/>
                </a:ext>
              </a:extLst>
            </p:cNvPr>
            <p:cNvSpPr/>
            <p:nvPr/>
          </p:nvSpPr>
          <p:spPr>
            <a:xfrm>
              <a:off x="3325879" y="602220"/>
              <a:ext cx="716947" cy="712881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pic>
          <p:nvPicPr>
            <p:cNvPr id="9" name="Graphic 8" descr="Schelling">
              <a:extLst>
                <a:ext uri="{FF2B5EF4-FFF2-40B4-BE49-F238E27FC236}">
                  <a16:creationId xmlns:a16="http://schemas.microsoft.com/office/drawing/2014/main" id="{731A2F19-014B-4C78-B61C-A142914DA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24557" y="1331207"/>
              <a:ext cx="1015021" cy="1701181"/>
            </a:xfrm>
            <a:prstGeom prst="rect">
              <a:avLst/>
            </a:prstGeom>
          </p:spPr>
        </p:pic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5CA4389-C46A-452B-B251-0AC12A112D17}"/>
              </a:ext>
            </a:extLst>
          </p:cNvPr>
          <p:cNvSpPr/>
          <p:nvPr/>
        </p:nvSpPr>
        <p:spPr>
          <a:xfrm>
            <a:off x="7722685" y="2408036"/>
            <a:ext cx="898207" cy="253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E9BCD-C803-4211-9CC8-EC2D014C9497}"/>
              </a:ext>
            </a:extLst>
          </p:cNvPr>
          <p:cNvSpPr/>
          <p:nvPr/>
        </p:nvSpPr>
        <p:spPr>
          <a:xfrm>
            <a:off x="8020161" y="1568143"/>
            <a:ext cx="139414" cy="7442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sv-SE" sz="5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060719-4850-4DCE-AD94-F94EDA304E47}"/>
              </a:ext>
            </a:extLst>
          </p:cNvPr>
          <p:cNvCxnSpPr>
            <a:cxnSpLocks/>
          </p:cNvCxnSpPr>
          <p:nvPr/>
        </p:nvCxnSpPr>
        <p:spPr>
          <a:xfrm flipV="1">
            <a:off x="10374538" y="1428067"/>
            <a:ext cx="451386" cy="334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6E8BE0-A264-4012-AB01-73EC21DD694D}"/>
              </a:ext>
            </a:extLst>
          </p:cNvPr>
          <p:cNvCxnSpPr>
            <a:cxnSpLocks/>
          </p:cNvCxnSpPr>
          <p:nvPr/>
        </p:nvCxnSpPr>
        <p:spPr>
          <a:xfrm>
            <a:off x="10368898" y="1864161"/>
            <a:ext cx="492919" cy="317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98450-206B-4D6A-9165-6D20F0F7C766}"/>
              </a:ext>
            </a:extLst>
          </p:cNvPr>
          <p:cNvSpPr/>
          <p:nvPr/>
        </p:nvSpPr>
        <p:spPr>
          <a:xfrm>
            <a:off x="10821741" y="1192556"/>
            <a:ext cx="383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sz="2200" dirty="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272059-7195-4FFC-A2C6-F3129609F1B0}"/>
              </a:ext>
            </a:extLst>
          </p:cNvPr>
          <p:cNvSpPr/>
          <p:nvPr/>
        </p:nvSpPr>
        <p:spPr>
          <a:xfrm>
            <a:off x="10821741" y="1966530"/>
            <a:ext cx="7938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Non-</a:t>
            </a:r>
            <a:r>
              <a:rPr lang="sv-SE" sz="2200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D810F2-DB54-4DA1-982D-0C70991E7028}"/>
              </a:ext>
            </a:extLst>
          </p:cNvPr>
          <p:cNvSpPr/>
          <p:nvPr/>
        </p:nvSpPr>
        <p:spPr>
          <a:xfrm>
            <a:off x="7916620" y="1658850"/>
            <a:ext cx="51167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5500" dirty="0"/>
              <a:t>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1C4A93-CB5F-469F-A01D-8F9594011E48}"/>
              </a:ext>
            </a:extLst>
          </p:cNvPr>
          <p:cNvCxnSpPr>
            <a:cxnSpLocks/>
          </p:cNvCxnSpPr>
          <p:nvPr/>
        </p:nvCxnSpPr>
        <p:spPr>
          <a:xfrm>
            <a:off x="5958993" y="2234527"/>
            <a:ext cx="1643339" cy="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8E0E13D-D15D-45B4-AC47-21F1218BBFC3}"/>
              </a:ext>
            </a:extLst>
          </p:cNvPr>
          <p:cNvSpPr/>
          <p:nvPr/>
        </p:nvSpPr>
        <p:spPr>
          <a:xfrm>
            <a:off x="8646232" y="5215738"/>
            <a:ext cx="32477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1) We start by analyzing the factors that motivate the action</a:t>
            </a:r>
          </a:p>
          <a:p>
            <a:r>
              <a:rPr lang="en-US" dirty="0"/>
              <a:t>2) Then, how actions change future decision contexts for other actions.</a:t>
            </a:r>
            <a:endParaRPr lang="sv-SE" dirty="0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D705B929-F293-4D28-9EF0-BCB12CA7DCC2}"/>
              </a:ext>
            </a:extLst>
          </p:cNvPr>
          <p:cNvSpPr/>
          <p:nvPr/>
        </p:nvSpPr>
        <p:spPr>
          <a:xfrm>
            <a:off x="6483347" y="5113769"/>
            <a:ext cx="1803314" cy="394387"/>
          </a:xfrm>
          <a:prstGeom prst="leftRightArrow">
            <a:avLst>
              <a:gd name="adj1" fmla="val 3527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C0F21-4101-487E-91CB-68C730ADF7C2}"/>
              </a:ext>
            </a:extLst>
          </p:cNvPr>
          <p:cNvSpPr/>
          <p:nvPr/>
        </p:nvSpPr>
        <p:spPr>
          <a:xfrm>
            <a:off x="5692644" y="5583169"/>
            <a:ext cx="26270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even</a:t>
            </a:r>
            <a:r>
              <a:rPr lang="sv-SE" dirty="0"/>
              <a:t> </a:t>
            </a:r>
            <a:r>
              <a:rPr lang="sv-SE" dirty="0" err="1"/>
              <a:t>though</a:t>
            </a:r>
            <a:r>
              <a:rPr lang="sv-SE" dirty="0"/>
              <a:t> is "</a:t>
            </a:r>
            <a:r>
              <a:rPr lang="sv-SE" b="1" dirty="0"/>
              <a:t>common sense</a:t>
            </a:r>
            <a:r>
              <a:rPr lang="sv-SE" dirty="0"/>
              <a:t>",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cannot</a:t>
            </a:r>
            <a:r>
              <a:rPr lang="sv-SE" dirty="0"/>
              <a:t> </a:t>
            </a:r>
            <a:r>
              <a:rPr lang="sv-SE" dirty="0" err="1"/>
              <a:t>extrapolate</a:t>
            </a:r>
            <a:r>
              <a:rPr lang="sv-SE" dirty="0"/>
              <a:t> </a:t>
            </a:r>
            <a:r>
              <a:rPr lang="sv-SE" dirty="0" err="1"/>
              <a:t>micro</a:t>
            </a:r>
            <a:r>
              <a:rPr lang="sv-SE" dirty="0"/>
              <a:t> </a:t>
            </a:r>
            <a:r>
              <a:rPr lang="sv-SE" dirty="0" err="1"/>
              <a:t>results</a:t>
            </a:r>
            <a:r>
              <a:rPr lang="sv-SE" dirty="0"/>
              <a:t> to </a:t>
            </a:r>
            <a:r>
              <a:rPr lang="sv-SE" dirty="0" err="1"/>
              <a:t>macro</a:t>
            </a:r>
            <a:r>
              <a:rPr lang="sv-SE" dirty="0"/>
              <a:t> </a:t>
            </a:r>
            <a:r>
              <a:rPr lang="sv-SE" dirty="0" err="1"/>
              <a:t>outcomes</a:t>
            </a:r>
            <a:endParaRPr lang="sv-S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A891A2-EB33-4BA1-8F0A-B0E59EAD12C3}"/>
              </a:ext>
            </a:extLst>
          </p:cNvPr>
          <p:cNvSpPr/>
          <p:nvPr/>
        </p:nvSpPr>
        <p:spPr>
          <a:xfrm rot="20475856">
            <a:off x="4485547" y="5502801"/>
            <a:ext cx="4590231" cy="60016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sv-SE" sz="3300" dirty="0" err="1">
                <a:solidFill>
                  <a:schemeClr val="tx1"/>
                </a:solidFill>
              </a:rPr>
              <a:t>We</a:t>
            </a:r>
            <a:r>
              <a:rPr lang="sv-SE" sz="3300" dirty="0">
                <a:solidFill>
                  <a:schemeClr val="tx1"/>
                </a:solidFill>
              </a:rPr>
              <a:t> </a:t>
            </a:r>
            <a:r>
              <a:rPr lang="sv-SE" sz="3300" dirty="0" err="1">
                <a:solidFill>
                  <a:schemeClr val="tx1"/>
                </a:solidFill>
              </a:rPr>
              <a:t>need</a:t>
            </a:r>
            <a:r>
              <a:rPr lang="sv-SE" sz="3300" dirty="0">
                <a:solidFill>
                  <a:schemeClr val="tx1"/>
                </a:solidFill>
              </a:rPr>
              <a:t> a </a:t>
            </a:r>
            <a:r>
              <a:rPr lang="sv-SE" sz="3300" dirty="0" err="1">
                <a:solidFill>
                  <a:schemeClr val="tx1"/>
                </a:solidFill>
              </a:rPr>
              <a:t>model</a:t>
            </a:r>
            <a:r>
              <a:rPr lang="sv-SE" sz="3300" dirty="0">
                <a:solidFill>
                  <a:schemeClr val="tx1"/>
                </a:solidFill>
              </a:rPr>
              <a:t> for </a:t>
            </a:r>
            <a:r>
              <a:rPr lang="sv-SE" sz="3300" dirty="0" err="1">
                <a:solidFill>
                  <a:schemeClr val="tx1"/>
                </a:solidFill>
              </a:rPr>
              <a:t>that</a:t>
            </a:r>
            <a:endParaRPr lang="sv-SE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852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0D3B7-EFD5-430D-8303-366EA5D2B17D}"/>
              </a:ext>
            </a:extLst>
          </p:cNvPr>
          <p:cNvSpPr/>
          <p:nvPr/>
        </p:nvSpPr>
        <p:spPr>
          <a:xfrm>
            <a:off x="342188" y="468920"/>
            <a:ext cx="84042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What type of model?</a:t>
            </a:r>
          </a:p>
          <a:p>
            <a:r>
              <a:rPr lang="en-US" dirty="0"/>
              <a:t>It will depend on the types of interdependencies we want to take into account: the complexity of the model.</a:t>
            </a:r>
            <a:endParaRPr lang="sv-S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008B4-4399-4D90-981D-3F3F2B8620E0}"/>
              </a:ext>
            </a:extLst>
          </p:cNvPr>
          <p:cNvSpPr txBox="1"/>
          <p:nvPr/>
        </p:nvSpPr>
        <p:spPr>
          <a:xfrm>
            <a:off x="2361955" y="1971984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Schelling</a:t>
            </a:r>
            <a:r>
              <a:rPr lang="sv-SE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044115-4C5E-4AA9-9607-9C14424DC5AF}"/>
              </a:ext>
            </a:extLst>
          </p:cNvPr>
          <p:cNvSpPr txBox="1"/>
          <p:nvPr/>
        </p:nvSpPr>
        <p:spPr>
          <a:xfrm>
            <a:off x="3719734" y="2056862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EDECAF-B5CE-4345-86E5-4E87C9A54B42}"/>
              </a:ext>
            </a:extLst>
          </p:cNvPr>
          <p:cNvSpPr/>
          <p:nvPr/>
        </p:nvSpPr>
        <p:spPr>
          <a:xfrm>
            <a:off x="3687524" y="2057988"/>
            <a:ext cx="398166" cy="36933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4" name="Graphic 33" descr="Schelling">
            <a:extLst>
              <a:ext uri="{FF2B5EF4-FFF2-40B4-BE49-F238E27FC236}">
                <a16:creationId xmlns:a16="http://schemas.microsoft.com/office/drawing/2014/main" id="{5B625C41-CEE6-4FDC-95FC-232A05A9C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0047" y="2323324"/>
            <a:ext cx="1012423" cy="136475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FAB5E7-A323-4855-9B9C-3274A58FDA98}"/>
              </a:ext>
            </a:extLst>
          </p:cNvPr>
          <p:cNvCxnSpPr/>
          <p:nvPr/>
        </p:nvCxnSpPr>
        <p:spPr>
          <a:xfrm>
            <a:off x="727788" y="2478332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8B49B9-99C8-4465-B176-DAA940D04A67}"/>
              </a:ext>
            </a:extLst>
          </p:cNvPr>
          <p:cNvSpPr txBox="1"/>
          <p:nvPr/>
        </p:nvSpPr>
        <p:spPr>
          <a:xfrm>
            <a:off x="858492" y="2242654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8274A2-5824-4A44-BE94-E4B9689E9CB4}"/>
              </a:ext>
            </a:extLst>
          </p:cNvPr>
          <p:cNvSpPr txBox="1"/>
          <p:nvPr/>
        </p:nvSpPr>
        <p:spPr>
          <a:xfrm>
            <a:off x="6026517" y="1960327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Other</a:t>
            </a:r>
            <a:r>
              <a:rPr lang="sv-SE" dirty="0"/>
              <a:t> </a:t>
            </a:r>
          </a:p>
        </p:txBody>
      </p:sp>
      <p:pic>
        <p:nvPicPr>
          <p:cNvPr id="36" name="Graphic 35" descr="Schelling">
            <a:extLst>
              <a:ext uri="{FF2B5EF4-FFF2-40B4-BE49-F238E27FC236}">
                <a16:creationId xmlns:a16="http://schemas.microsoft.com/office/drawing/2014/main" id="{28A64C3E-48BC-4544-9ACE-1EDB2AE35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6586" y="2323324"/>
            <a:ext cx="1012423" cy="1364754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D8CBAB-93C9-4114-A7E3-5BCDD703E9AD}"/>
              </a:ext>
            </a:extLst>
          </p:cNvPr>
          <p:cNvCxnSpPr/>
          <p:nvPr/>
        </p:nvCxnSpPr>
        <p:spPr>
          <a:xfrm>
            <a:off x="4660480" y="2478332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BF042C7-6FC7-40C8-B903-D0E9AFD9F214}"/>
              </a:ext>
            </a:extLst>
          </p:cNvPr>
          <p:cNvSpPr txBox="1"/>
          <p:nvPr/>
        </p:nvSpPr>
        <p:spPr>
          <a:xfrm>
            <a:off x="4791184" y="2242654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19CEF3-C6BD-4F1E-9C2F-BD9F1103CAA3}"/>
              </a:ext>
            </a:extLst>
          </p:cNvPr>
          <p:cNvSpPr txBox="1"/>
          <p:nvPr/>
        </p:nvSpPr>
        <p:spPr>
          <a:xfrm>
            <a:off x="7072165" y="2056862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7979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0D3B7-EFD5-430D-8303-366EA5D2B17D}"/>
              </a:ext>
            </a:extLst>
          </p:cNvPr>
          <p:cNvSpPr/>
          <p:nvPr/>
        </p:nvSpPr>
        <p:spPr>
          <a:xfrm>
            <a:off x="342188" y="468920"/>
            <a:ext cx="84042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What type of model?</a:t>
            </a:r>
          </a:p>
          <a:p>
            <a:r>
              <a:rPr lang="en-US" dirty="0"/>
              <a:t>It will depend on the types of interdependencies we want to take into account: the complexity of the model.</a:t>
            </a:r>
            <a:endParaRPr lang="sv-S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008B4-4399-4D90-981D-3F3F2B8620E0}"/>
              </a:ext>
            </a:extLst>
          </p:cNvPr>
          <p:cNvSpPr txBox="1"/>
          <p:nvPr/>
        </p:nvSpPr>
        <p:spPr>
          <a:xfrm>
            <a:off x="2361955" y="1971984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Schelling</a:t>
            </a:r>
            <a:r>
              <a:rPr lang="sv-SE" dirty="0"/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044115-4C5E-4AA9-9607-9C14424DC5AF}"/>
              </a:ext>
            </a:extLst>
          </p:cNvPr>
          <p:cNvSpPr txBox="1"/>
          <p:nvPr/>
        </p:nvSpPr>
        <p:spPr>
          <a:xfrm>
            <a:off x="3719734" y="2056862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EDECAF-B5CE-4345-86E5-4E87C9A54B42}"/>
              </a:ext>
            </a:extLst>
          </p:cNvPr>
          <p:cNvSpPr/>
          <p:nvPr/>
        </p:nvSpPr>
        <p:spPr>
          <a:xfrm>
            <a:off x="3687524" y="2057988"/>
            <a:ext cx="398166" cy="36933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4" name="Graphic 33" descr="Schelling">
            <a:extLst>
              <a:ext uri="{FF2B5EF4-FFF2-40B4-BE49-F238E27FC236}">
                <a16:creationId xmlns:a16="http://schemas.microsoft.com/office/drawing/2014/main" id="{5B625C41-CEE6-4FDC-95FC-232A05A9C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0047" y="2323324"/>
            <a:ext cx="1012423" cy="136475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FAB5E7-A323-4855-9B9C-3274A58FDA98}"/>
              </a:ext>
            </a:extLst>
          </p:cNvPr>
          <p:cNvCxnSpPr/>
          <p:nvPr/>
        </p:nvCxnSpPr>
        <p:spPr>
          <a:xfrm>
            <a:off x="727788" y="2478332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8B49B9-99C8-4465-B176-DAA940D04A67}"/>
              </a:ext>
            </a:extLst>
          </p:cNvPr>
          <p:cNvSpPr txBox="1"/>
          <p:nvPr/>
        </p:nvSpPr>
        <p:spPr>
          <a:xfrm>
            <a:off x="858492" y="2242654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8274A2-5824-4A44-BE94-E4B9689E9CB4}"/>
              </a:ext>
            </a:extLst>
          </p:cNvPr>
          <p:cNvSpPr txBox="1"/>
          <p:nvPr/>
        </p:nvSpPr>
        <p:spPr>
          <a:xfrm>
            <a:off x="6026517" y="1960327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Other</a:t>
            </a:r>
            <a:r>
              <a:rPr lang="sv-SE" dirty="0"/>
              <a:t> </a:t>
            </a:r>
          </a:p>
        </p:txBody>
      </p:sp>
      <p:pic>
        <p:nvPicPr>
          <p:cNvPr id="36" name="Graphic 35" descr="Schelling">
            <a:extLst>
              <a:ext uri="{FF2B5EF4-FFF2-40B4-BE49-F238E27FC236}">
                <a16:creationId xmlns:a16="http://schemas.microsoft.com/office/drawing/2014/main" id="{28A64C3E-48BC-4544-9ACE-1EDB2AE35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6586" y="2323324"/>
            <a:ext cx="1012423" cy="1364754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D8CBAB-93C9-4114-A7E3-5BCDD703E9AD}"/>
              </a:ext>
            </a:extLst>
          </p:cNvPr>
          <p:cNvCxnSpPr/>
          <p:nvPr/>
        </p:nvCxnSpPr>
        <p:spPr>
          <a:xfrm>
            <a:off x="4660480" y="2478332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BF042C7-6FC7-40C8-B903-D0E9AFD9F214}"/>
              </a:ext>
            </a:extLst>
          </p:cNvPr>
          <p:cNvSpPr txBox="1"/>
          <p:nvPr/>
        </p:nvSpPr>
        <p:spPr>
          <a:xfrm>
            <a:off x="4791184" y="2242654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19CEF3-C6BD-4F1E-9C2F-BD9F1103CAA3}"/>
              </a:ext>
            </a:extLst>
          </p:cNvPr>
          <p:cNvSpPr txBox="1"/>
          <p:nvPr/>
        </p:nvSpPr>
        <p:spPr>
          <a:xfrm>
            <a:off x="7072165" y="2056862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2373AA-7E74-4CC9-8FD6-4B5C7B4094F2}"/>
              </a:ext>
            </a:extLst>
          </p:cNvPr>
          <p:cNvSpPr txBox="1"/>
          <p:nvPr/>
        </p:nvSpPr>
        <p:spPr>
          <a:xfrm>
            <a:off x="2361955" y="4246015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Schelling</a:t>
            </a:r>
            <a:r>
              <a:rPr lang="sv-SE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AA0087-F89C-41AF-8DEF-031031B5FBEE}"/>
              </a:ext>
            </a:extLst>
          </p:cNvPr>
          <p:cNvSpPr txBox="1"/>
          <p:nvPr/>
        </p:nvSpPr>
        <p:spPr>
          <a:xfrm>
            <a:off x="3719734" y="4330893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533F3B4-35B0-47AB-81F1-0A025A1C83CC}"/>
              </a:ext>
            </a:extLst>
          </p:cNvPr>
          <p:cNvSpPr/>
          <p:nvPr/>
        </p:nvSpPr>
        <p:spPr>
          <a:xfrm>
            <a:off x="3687524" y="4332019"/>
            <a:ext cx="398166" cy="36933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6" name="Graphic 45" descr="Schelling">
            <a:extLst>
              <a:ext uri="{FF2B5EF4-FFF2-40B4-BE49-F238E27FC236}">
                <a16:creationId xmlns:a16="http://schemas.microsoft.com/office/drawing/2014/main" id="{13146D04-BC42-4C15-AA9E-810095434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0047" y="4597355"/>
            <a:ext cx="1012423" cy="1364754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CFD9EA-07AA-4F02-86AD-13C02065D97C}"/>
              </a:ext>
            </a:extLst>
          </p:cNvPr>
          <p:cNvCxnSpPr/>
          <p:nvPr/>
        </p:nvCxnSpPr>
        <p:spPr>
          <a:xfrm>
            <a:off x="727788" y="4752363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F0F7577-3352-4F0D-8B44-F84B999CE147}"/>
              </a:ext>
            </a:extLst>
          </p:cNvPr>
          <p:cNvSpPr txBox="1"/>
          <p:nvPr/>
        </p:nvSpPr>
        <p:spPr>
          <a:xfrm>
            <a:off x="858492" y="4516685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7C35DA-BF48-4604-B2B3-D20E00B5B1C4}"/>
              </a:ext>
            </a:extLst>
          </p:cNvPr>
          <p:cNvSpPr txBox="1"/>
          <p:nvPr/>
        </p:nvSpPr>
        <p:spPr>
          <a:xfrm>
            <a:off x="6026517" y="4234358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Other</a:t>
            </a:r>
            <a:r>
              <a:rPr lang="sv-SE" dirty="0"/>
              <a:t> </a:t>
            </a:r>
          </a:p>
        </p:txBody>
      </p:sp>
      <p:pic>
        <p:nvPicPr>
          <p:cNvPr id="50" name="Graphic 49" descr="Schelling">
            <a:extLst>
              <a:ext uri="{FF2B5EF4-FFF2-40B4-BE49-F238E27FC236}">
                <a16:creationId xmlns:a16="http://schemas.microsoft.com/office/drawing/2014/main" id="{F3858620-B0D2-4808-A26E-DFA15FC1B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6586" y="4597355"/>
            <a:ext cx="1012423" cy="136475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EC49295-621E-4A66-B98C-2F072D63CEEA}"/>
              </a:ext>
            </a:extLst>
          </p:cNvPr>
          <p:cNvSpPr txBox="1"/>
          <p:nvPr/>
        </p:nvSpPr>
        <p:spPr>
          <a:xfrm>
            <a:off x="7072165" y="4330893"/>
            <a:ext cx="333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/>
              <a:t>A</a:t>
            </a:r>
          </a:p>
          <a:p>
            <a:endParaRPr lang="sv-SE" sz="2000" dirty="0"/>
          </a:p>
          <a:p>
            <a:r>
              <a:rPr lang="sv-SE" sz="2000" dirty="0"/>
              <a:t>B</a:t>
            </a:r>
          </a:p>
          <a:p>
            <a:endParaRPr lang="sv-SE" sz="2000" dirty="0"/>
          </a:p>
          <a:p>
            <a:r>
              <a:rPr lang="sv-SE" sz="2000" dirty="0"/>
              <a:t>C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67A6E8-A736-43C5-BFD8-3E04F9724E15}"/>
              </a:ext>
            </a:extLst>
          </p:cNvPr>
          <p:cNvCxnSpPr/>
          <p:nvPr/>
        </p:nvCxnSpPr>
        <p:spPr>
          <a:xfrm>
            <a:off x="731491" y="5029361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2756C0D-E41D-41C8-BC96-51421CF7BA9A}"/>
              </a:ext>
            </a:extLst>
          </p:cNvPr>
          <p:cNvSpPr txBox="1"/>
          <p:nvPr/>
        </p:nvSpPr>
        <p:spPr>
          <a:xfrm>
            <a:off x="862195" y="4793683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2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5B1AF0-1976-4D39-95B4-6A3B526BD2D3}"/>
              </a:ext>
            </a:extLst>
          </p:cNvPr>
          <p:cNvCxnSpPr/>
          <p:nvPr/>
        </p:nvCxnSpPr>
        <p:spPr>
          <a:xfrm>
            <a:off x="727788" y="5328417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2BDD5BD-7D29-47B8-ADE8-728F6B535978}"/>
              </a:ext>
            </a:extLst>
          </p:cNvPr>
          <p:cNvSpPr txBox="1"/>
          <p:nvPr/>
        </p:nvSpPr>
        <p:spPr>
          <a:xfrm>
            <a:off x="858492" y="5092739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02E8A4-3A87-4EB0-AC72-94260AE9CD2F}"/>
              </a:ext>
            </a:extLst>
          </p:cNvPr>
          <p:cNvCxnSpPr/>
          <p:nvPr/>
        </p:nvCxnSpPr>
        <p:spPr>
          <a:xfrm>
            <a:off x="730791" y="5626871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027E004-45C6-4401-9F77-2E414BD4E64B}"/>
              </a:ext>
            </a:extLst>
          </p:cNvPr>
          <p:cNvSpPr txBox="1"/>
          <p:nvPr/>
        </p:nvSpPr>
        <p:spPr>
          <a:xfrm>
            <a:off x="861495" y="5391193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BE313C-9A31-47FA-860E-D0CA3FBE1E2C}"/>
              </a:ext>
            </a:extLst>
          </p:cNvPr>
          <p:cNvCxnSpPr/>
          <p:nvPr/>
        </p:nvCxnSpPr>
        <p:spPr>
          <a:xfrm>
            <a:off x="723385" y="5882413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9658031-255E-4653-8DB2-BC68214893CB}"/>
              </a:ext>
            </a:extLst>
          </p:cNvPr>
          <p:cNvSpPr txBox="1"/>
          <p:nvPr/>
        </p:nvSpPr>
        <p:spPr>
          <a:xfrm>
            <a:off x="854089" y="5646735"/>
            <a:ext cx="70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77A021E-698F-42AB-BA57-71EAD9B645B1}"/>
              </a:ext>
            </a:extLst>
          </p:cNvPr>
          <p:cNvCxnSpPr/>
          <p:nvPr/>
        </p:nvCxnSpPr>
        <p:spPr>
          <a:xfrm>
            <a:off x="4624595" y="4752363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3DC159F-6662-4471-A450-DEEF33559C08}"/>
              </a:ext>
            </a:extLst>
          </p:cNvPr>
          <p:cNvSpPr txBox="1"/>
          <p:nvPr/>
        </p:nvSpPr>
        <p:spPr>
          <a:xfrm>
            <a:off x="4755299" y="4516685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1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245A995-F911-44A0-A2DC-2C998C9D3F5A}"/>
              </a:ext>
            </a:extLst>
          </p:cNvPr>
          <p:cNvCxnSpPr/>
          <p:nvPr/>
        </p:nvCxnSpPr>
        <p:spPr>
          <a:xfrm>
            <a:off x="4628298" y="5029361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F86EBA4-263A-40FF-B647-FB65478B560E}"/>
              </a:ext>
            </a:extLst>
          </p:cNvPr>
          <p:cNvSpPr txBox="1"/>
          <p:nvPr/>
        </p:nvSpPr>
        <p:spPr>
          <a:xfrm>
            <a:off x="4759002" y="4793683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2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7C0537-40DF-4093-B4D6-F4D457761BC3}"/>
              </a:ext>
            </a:extLst>
          </p:cNvPr>
          <p:cNvCxnSpPr/>
          <p:nvPr/>
        </p:nvCxnSpPr>
        <p:spPr>
          <a:xfrm>
            <a:off x="4624595" y="5328417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A65C8A2-A29B-4FAE-B31E-322265BC26CB}"/>
              </a:ext>
            </a:extLst>
          </p:cNvPr>
          <p:cNvSpPr txBox="1"/>
          <p:nvPr/>
        </p:nvSpPr>
        <p:spPr>
          <a:xfrm>
            <a:off x="4755299" y="5092739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3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6C9B9D4-EEB7-4C15-B5CC-F7BCD5C02545}"/>
              </a:ext>
            </a:extLst>
          </p:cNvPr>
          <p:cNvCxnSpPr/>
          <p:nvPr/>
        </p:nvCxnSpPr>
        <p:spPr>
          <a:xfrm>
            <a:off x="4627598" y="5626871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7DE0A6F-8E68-4914-A632-C0E2D8C4B464}"/>
              </a:ext>
            </a:extLst>
          </p:cNvPr>
          <p:cNvSpPr txBox="1"/>
          <p:nvPr/>
        </p:nvSpPr>
        <p:spPr>
          <a:xfrm>
            <a:off x="4758302" y="5391193"/>
            <a:ext cx="688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4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3174B8-B789-4EE7-A582-1D0808C55709}"/>
              </a:ext>
            </a:extLst>
          </p:cNvPr>
          <p:cNvCxnSpPr/>
          <p:nvPr/>
        </p:nvCxnSpPr>
        <p:spPr>
          <a:xfrm>
            <a:off x="4620192" y="5882413"/>
            <a:ext cx="105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618A0DA-672F-430A-BE9B-CCC740881329}"/>
              </a:ext>
            </a:extLst>
          </p:cNvPr>
          <p:cNvSpPr txBox="1"/>
          <p:nvPr/>
        </p:nvSpPr>
        <p:spPr>
          <a:xfrm>
            <a:off x="4750896" y="5646735"/>
            <a:ext cx="70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 err="1"/>
              <a:t>Factor</a:t>
            </a:r>
            <a:r>
              <a:rPr lang="sv-SE" sz="1200" dirty="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303928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0D3B7-EFD5-430D-8303-366EA5D2B17D}"/>
              </a:ext>
            </a:extLst>
          </p:cNvPr>
          <p:cNvSpPr/>
          <p:nvPr/>
        </p:nvSpPr>
        <p:spPr>
          <a:xfrm>
            <a:off x="342188" y="468920"/>
            <a:ext cx="84042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What type of model?</a:t>
            </a:r>
          </a:p>
          <a:p>
            <a:r>
              <a:rPr lang="en-US" dirty="0"/>
              <a:t>It will depend on the types of interdependencies we want to take into account: the complexity of the model.</a:t>
            </a:r>
            <a:endParaRPr lang="sv-S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F5E922-682C-4982-8BF5-B78B819E3582}"/>
              </a:ext>
            </a:extLst>
          </p:cNvPr>
          <p:cNvGrpSpPr/>
          <p:nvPr/>
        </p:nvGrpSpPr>
        <p:grpSpPr>
          <a:xfrm>
            <a:off x="634663" y="1881274"/>
            <a:ext cx="3652076" cy="3808674"/>
            <a:chOff x="1331869" y="2120381"/>
            <a:chExt cx="3652076" cy="43873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26FF538-45C7-4E4E-B1BD-2E623583297F}"/>
                </a:ext>
              </a:extLst>
            </p:cNvPr>
            <p:cNvGrpSpPr/>
            <p:nvPr/>
          </p:nvGrpSpPr>
          <p:grpSpPr>
            <a:xfrm>
              <a:off x="3059161" y="2224873"/>
              <a:ext cx="1924784" cy="4282866"/>
              <a:chOff x="2029201" y="476675"/>
              <a:chExt cx="1929724" cy="463448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76DEE-96CC-47F3-AD69-00D4D337A612}"/>
                  </a:ext>
                </a:extLst>
              </p:cNvPr>
              <p:cNvSpPr txBox="1"/>
              <p:nvPr/>
            </p:nvSpPr>
            <p:spPr>
              <a:xfrm>
                <a:off x="2029201" y="476675"/>
                <a:ext cx="1070662" cy="460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DF9C6-50E7-41C9-9B84-BA7BA3918204}"/>
                  </a:ext>
                </a:extLst>
              </p:cNvPr>
              <p:cNvSpPr txBox="1"/>
              <p:nvPr/>
            </p:nvSpPr>
            <p:spPr>
              <a:xfrm>
                <a:off x="3457095" y="584126"/>
                <a:ext cx="371565" cy="452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B86A4A3-0D0F-407B-B0DB-0614AB6BABDE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2" name="Graphic 11" descr="Schelling">
                <a:extLst>
                  <a:ext uri="{FF2B5EF4-FFF2-40B4-BE49-F238E27FC236}">
                    <a16:creationId xmlns:a16="http://schemas.microsoft.com/office/drawing/2014/main" id="{D6EA0D4B-605B-4C7C-BBE4-5931C8BE6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77416" y="914624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FE217A8A-F9E8-4A1B-A8BA-511D727E5F47}"/>
                </a:ext>
              </a:extLst>
            </p:cNvPr>
            <p:cNvSpPr/>
            <p:nvPr/>
          </p:nvSpPr>
          <p:spPr>
            <a:xfrm>
              <a:off x="1331869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402E5F-4E17-4BCB-98DD-8A9127845EC9}"/>
                </a:ext>
              </a:extLst>
            </p:cNvPr>
            <p:cNvSpPr/>
            <p:nvPr/>
          </p:nvSpPr>
          <p:spPr>
            <a:xfrm>
              <a:off x="1644146" y="2120381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5993C9-459F-4B65-A74F-9E4851B58F8F}"/>
              </a:ext>
            </a:extLst>
          </p:cNvPr>
          <p:cNvCxnSpPr>
            <a:cxnSpLocks/>
          </p:cNvCxnSpPr>
          <p:nvPr/>
        </p:nvCxnSpPr>
        <p:spPr>
          <a:xfrm flipV="1">
            <a:off x="5665665" y="2017879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C2334F-BF0E-420F-AF4F-5C3F4712B9A2}"/>
              </a:ext>
            </a:extLst>
          </p:cNvPr>
          <p:cNvCxnSpPr>
            <a:cxnSpLocks/>
          </p:cNvCxnSpPr>
          <p:nvPr/>
        </p:nvCxnSpPr>
        <p:spPr>
          <a:xfrm>
            <a:off x="5665665" y="2623023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48F1CF-ACDE-4966-867E-550D2E7A5845}"/>
              </a:ext>
            </a:extLst>
          </p:cNvPr>
          <p:cNvSpPr/>
          <p:nvPr/>
        </p:nvSpPr>
        <p:spPr>
          <a:xfrm>
            <a:off x="6318808" y="1796236"/>
            <a:ext cx="391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</a:t>
            </a:r>
            <a:endParaRPr lang="sv-S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8CC20-4ACD-45D6-A224-4DEED492F81D}"/>
              </a:ext>
            </a:extLst>
          </p:cNvPr>
          <p:cNvSpPr/>
          <p:nvPr/>
        </p:nvSpPr>
        <p:spPr>
          <a:xfrm>
            <a:off x="6318808" y="2931246"/>
            <a:ext cx="111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non-X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C42B34-E98C-4261-8908-32C247141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794" y="4318551"/>
            <a:ext cx="1761902" cy="17038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1458CE-F8FD-4630-B9E0-3CEE5E1AE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8604" y="4318550"/>
            <a:ext cx="1761902" cy="17038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9BC479-1477-4C93-9A22-C07FB1517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7744" y="4313108"/>
            <a:ext cx="1761902" cy="17038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B7AF08-4AC5-4A7D-9ECA-0ECCD14A6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6884" y="4313107"/>
            <a:ext cx="1761902" cy="170386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 <a:off x="671936" y="4841872"/>
            <a:ext cx="1032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dirty="0"/>
              <a:t>Decision </a:t>
            </a:r>
          </a:p>
          <a:p>
            <a:pPr algn="ctr"/>
            <a:r>
              <a:rPr lang="sv-SE" dirty="0" err="1"/>
              <a:t>factors</a:t>
            </a:r>
            <a:endParaRPr lang="sv-S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8B4676-DAEF-4B31-8687-421599975E3E}"/>
              </a:ext>
            </a:extLst>
          </p:cNvPr>
          <p:cNvSpPr/>
          <p:nvPr/>
        </p:nvSpPr>
        <p:spPr>
          <a:xfrm>
            <a:off x="2554683" y="4790307"/>
            <a:ext cx="1069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dirty="0" err="1"/>
              <a:t>Schelling</a:t>
            </a:r>
            <a:r>
              <a:rPr lang="sv-SE" dirty="0"/>
              <a:t> </a:t>
            </a:r>
          </a:p>
          <a:p>
            <a:pPr algn="ctr"/>
            <a:r>
              <a:rPr lang="sv-SE" dirty="0" err="1"/>
              <a:t>types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BC095-1320-40D3-9F7E-EA02541B949A}"/>
              </a:ext>
            </a:extLst>
          </p:cNvPr>
          <p:cNvSpPr/>
          <p:nvPr/>
        </p:nvSpPr>
        <p:spPr>
          <a:xfrm>
            <a:off x="4382202" y="4922329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/>
              <a:t># decisions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22B194-F327-44D1-8AD7-2695EC874824}"/>
              </a:ext>
            </a:extLst>
          </p:cNvPr>
          <p:cNvSpPr/>
          <p:nvPr/>
        </p:nvSpPr>
        <p:spPr>
          <a:xfrm>
            <a:off x="6453223" y="4922329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# non-X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FF4AC8-0878-441E-96CD-D052E9E1C7D4}"/>
              </a:ext>
            </a:extLst>
          </p:cNvPr>
          <p:cNvSpPr/>
          <p:nvPr/>
        </p:nvSpPr>
        <p:spPr>
          <a:xfrm>
            <a:off x="319192" y="6213269"/>
            <a:ext cx="7469594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sv-SE" sz="2200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831536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F5E922-682C-4982-8BF5-B78B819E3582}"/>
              </a:ext>
            </a:extLst>
          </p:cNvPr>
          <p:cNvGrpSpPr/>
          <p:nvPr/>
        </p:nvGrpSpPr>
        <p:grpSpPr>
          <a:xfrm>
            <a:off x="634663" y="1881274"/>
            <a:ext cx="3652076" cy="3808674"/>
            <a:chOff x="1331869" y="2120381"/>
            <a:chExt cx="3652076" cy="43873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26FF538-45C7-4E4E-B1BD-2E623583297F}"/>
                </a:ext>
              </a:extLst>
            </p:cNvPr>
            <p:cNvGrpSpPr/>
            <p:nvPr/>
          </p:nvGrpSpPr>
          <p:grpSpPr>
            <a:xfrm>
              <a:off x="3059161" y="2224873"/>
              <a:ext cx="1924784" cy="4282866"/>
              <a:chOff x="2029201" y="476675"/>
              <a:chExt cx="1929724" cy="463448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76DEE-96CC-47F3-AD69-00D4D337A612}"/>
                  </a:ext>
                </a:extLst>
              </p:cNvPr>
              <p:cNvSpPr txBox="1"/>
              <p:nvPr/>
            </p:nvSpPr>
            <p:spPr>
              <a:xfrm>
                <a:off x="2029201" y="476675"/>
                <a:ext cx="1070662" cy="460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DF9C6-50E7-41C9-9B84-BA7BA3918204}"/>
                  </a:ext>
                </a:extLst>
              </p:cNvPr>
              <p:cNvSpPr txBox="1"/>
              <p:nvPr/>
            </p:nvSpPr>
            <p:spPr>
              <a:xfrm>
                <a:off x="3457095" y="584126"/>
                <a:ext cx="371565" cy="452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B86A4A3-0D0F-407B-B0DB-0614AB6BABDE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2" name="Graphic 11" descr="Schelling">
                <a:extLst>
                  <a:ext uri="{FF2B5EF4-FFF2-40B4-BE49-F238E27FC236}">
                    <a16:creationId xmlns:a16="http://schemas.microsoft.com/office/drawing/2014/main" id="{D6EA0D4B-605B-4C7C-BBE4-5931C8BE6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77416" y="914624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FE217A8A-F9E8-4A1B-A8BA-511D727E5F47}"/>
                </a:ext>
              </a:extLst>
            </p:cNvPr>
            <p:cNvSpPr/>
            <p:nvPr/>
          </p:nvSpPr>
          <p:spPr>
            <a:xfrm>
              <a:off x="1331869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402E5F-4E17-4BCB-98DD-8A9127845EC9}"/>
                </a:ext>
              </a:extLst>
            </p:cNvPr>
            <p:cNvSpPr/>
            <p:nvPr/>
          </p:nvSpPr>
          <p:spPr>
            <a:xfrm>
              <a:off x="1644146" y="2120381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5993C9-459F-4B65-A74F-9E4851B58F8F}"/>
              </a:ext>
            </a:extLst>
          </p:cNvPr>
          <p:cNvCxnSpPr>
            <a:cxnSpLocks/>
          </p:cNvCxnSpPr>
          <p:nvPr/>
        </p:nvCxnSpPr>
        <p:spPr>
          <a:xfrm flipV="1">
            <a:off x="5665665" y="2017879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C2334F-BF0E-420F-AF4F-5C3F4712B9A2}"/>
              </a:ext>
            </a:extLst>
          </p:cNvPr>
          <p:cNvCxnSpPr>
            <a:cxnSpLocks/>
          </p:cNvCxnSpPr>
          <p:nvPr/>
        </p:nvCxnSpPr>
        <p:spPr>
          <a:xfrm>
            <a:off x="5665665" y="2623023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48F1CF-ACDE-4966-867E-550D2E7A5845}"/>
              </a:ext>
            </a:extLst>
          </p:cNvPr>
          <p:cNvSpPr/>
          <p:nvPr/>
        </p:nvSpPr>
        <p:spPr>
          <a:xfrm>
            <a:off x="6318808" y="1796236"/>
            <a:ext cx="391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</a:t>
            </a:r>
            <a:endParaRPr lang="sv-S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8CC20-4ACD-45D6-A224-4DEED492F81D}"/>
              </a:ext>
            </a:extLst>
          </p:cNvPr>
          <p:cNvSpPr/>
          <p:nvPr/>
        </p:nvSpPr>
        <p:spPr>
          <a:xfrm>
            <a:off x="6318808" y="2931246"/>
            <a:ext cx="111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non-X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C42B34-E98C-4261-8908-32C247141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794" y="4318551"/>
            <a:ext cx="1761902" cy="17038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1458CE-F8FD-4630-B9E0-3CEE5E1AE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8604" y="4318550"/>
            <a:ext cx="1761902" cy="17038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9BC479-1477-4C93-9A22-C07FB15175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7744" y="4313108"/>
            <a:ext cx="1761902" cy="17038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B7AF08-4AC5-4A7D-9ECA-0ECCD14A6B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6884" y="4313107"/>
            <a:ext cx="1761902" cy="170386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 <a:off x="671936" y="4841872"/>
            <a:ext cx="1032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dirty="0"/>
              <a:t>Decision </a:t>
            </a:r>
          </a:p>
          <a:p>
            <a:pPr algn="ctr"/>
            <a:r>
              <a:rPr lang="sv-SE" dirty="0" err="1"/>
              <a:t>factors</a:t>
            </a:r>
            <a:endParaRPr lang="sv-S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8B4676-DAEF-4B31-8687-421599975E3E}"/>
              </a:ext>
            </a:extLst>
          </p:cNvPr>
          <p:cNvSpPr/>
          <p:nvPr/>
        </p:nvSpPr>
        <p:spPr>
          <a:xfrm>
            <a:off x="2554683" y="4790307"/>
            <a:ext cx="1069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dirty="0" err="1"/>
              <a:t>Schelling</a:t>
            </a:r>
            <a:r>
              <a:rPr lang="sv-SE" dirty="0"/>
              <a:t> </a:t>
            </a:r>
          </a:p>
          <a:p>
            <a:pPr algn="ctr"/>
            <a:r>
              <a:rPr lang="sv-SE" dirty="0" err="1"/>
              <a:t>types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BC095-1320-40D3-9F7E-EA02541B949A}"/>
              </a:ext>
            </a:extLst>
          </p:cNvPr>
          <p:cNvSpPr/>
          <p:nvPr/>
        </p:nvSpPr>
        <p:spPr>
          <a:xfrm>
            <a:off x="4382202" y="4922329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/>
              <a:t># decisions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22B194-F327-44D1-8AD7-2695EC874824}"/>
              </a:ext>
            </a:extLst>
          </p:cNvPr>
          <p:cNvSpPr/>
          <p:nvPr/>
        </p:nvSpPr>
        <p:spPr>
          <a:xfrm>
            <a:off x="6453223" y="4922329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# non-X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AB3464-D2CF-4801-BFE6-96CF492D2582}"/>
              </a:ext>
            </a:extLst>
          </p:cNvPr>
          <p:cNvSpPr/>
          <p:nvPr/>
        </p:nvSpPr>
        <p:spPr>
          <a:xfrm>
            <a:off x="4845102" y="4295435"/>
            <a:ext cx="246743" cy="268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EFD56-C7A7-4728-8323-E1C281A1F810}"/>
              </a:ext>
            </a:extLst>
          </p:cNvPr>
          <p:cNvSpPr/>
          <p:nvPr/>
        </p:nvSpPr>
        <p:spPr>
          <a:xfrm>
            <a:off x="8742762" y="883885"/>
            <a:ext cx="29177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implement</a:t>
            </a:r>
            <a:r>
              <a:rPr lang="sv-SE" dirty="0"/>
              <a:t> a </a:t>
            </a:r>
            <a:r>
              <a:rPr lang="sv-SE" dirty="0" err="1"/>
              <a:t>mathematical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(</a:t>
            </a:r>
            <a:r>
              <a:rPr lang="sv-SE" dirty="0" err="1"/>
              <a:t>equation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)</a:t>
            </a:r>
          </a:p>
          <a:p>
            <a:endParaRPr lang="sv-SE" dirty="0"/>
          </a:p>
          <a:p>
            <a:r>
              <a:rPr lang="sv-SE" dirty="0"/>
              <a:t>Or just </a:t>
            </a:r>
            <a:r>
              <a:rPr lang="sv-SE" dirty="0" err="1"/>
              <a:t>use</a:t>
            </a:r>
            <a:r>
              <a:rPr lang="sv-SE" dirty="0"/>
              <a:t> a paper and a </a:t>
            </a:r>
            <a:r>
              <a:rPr lang="sv-SE" dirty="0" err="1"/>
              <a:t>pencil</a:t>
            </a:r>
            <a:endParaRPr lang="sv-S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8F958-9B35-4FB9-8D23-A30802DA0B21}"/>
              </a:ext>
            </a:extLst>
          </p:cNvPr>
          <p:cNvSpPr/>
          <p:nvPr/>
        </p:nvSpPr>
        <p:spPr>
          <a:xfrm>
            <a:off x="319192" y="6213269"/>
            <a:ext cx="7469594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sv-SE" sz="2200" dirty="0"/>
              <a:t>Parameters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BA70A3-5A0B-40E2-BE4C-93DC67333E37}"/>
              </a:ext>
            </a:extLst>
          </p:cNvPr>
          <p:cNvSpPr/>
          <p:nvPr/>
        </p:nvSpPr>
        <p:spPr>
          <a:xfrm>
            <a:off x="8828884" y="3297444"/>
            <a:ext cx="28316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then</a:t>
            </a:r>
            <a:r>
              <a:rPr lang="sv-SE" dirty="0"/>
              <a:t>,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people</a:t>
            </a:r>
            <a:r>
              <a:rPr lang="sv-SE" dirty="0"/>
              <a:t> </a:t>
            </a:r>
            <a:r>
              <a:rPr lang="sv-SE" dirty="0" err="1"/>
              <a:t>argued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reality</a:t>
            </a:r>
            <a:r>
              <a:rPr lang="sv-SE" dirty="0"/>
              <a:t> is so </a:t>
            </a:r>
            <a:r>
              <a:rPr lang="sv-SE" dirty="0" err="1"/>
              <a:t>complex</a:t>
            </a:r>
            <a:r>
              <a:rPr lang="sv-SE" dirty="0"/>
              <a:t> so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models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</a:t>
            </a:r>
            <a:r>
              <a:rPr lang="sv-SE" dirty="0" err="1"/>
              <a:t>include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complexity</a:t>
            </a:r>
            <a:r>
              <a:rPr lang="sv-SE" dirty="0"/>
              <a:t> in </a:t>
            </a:r>
            <a:r>
              <a:rPr lang="sv-SE" dirty="0" err="1"/>
              <a:t>their</a:t>
            </a:r>
            <a:r>
              <a:rPr lang="sv-SE" dirty="0"/>
              <a:t> design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is </a:t>
            </a:r>
            <a:r>
              <a:rPr lang="sv-SE" dirty="0" err="1"/>
              <a:t>understanding</a:t>
            </a:r>
            <a:r>
              <a:rPr lang="sv-SE" dirty="0"/>
              <a:t> </a:t>
            </a:r>
            <a:r>
              <a:rPr lang="sv-SE" dirty="0" err="1"/>
              <a:t>world</a:t>
            </a:r>
            <a:endParaRPr lang="sv-S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BE41D5-9B92-491B-91CB-1889A3A24997}"/>
              </a:ext>
            </a:extLst>
          </p:cNvPr>
          <p:cNvSpPr/>
          <p:nvPr/>
        </p:nvSpPr>
        <p:spPr>
          <a:xfrm>
            <a:off x="342188" y="468920"/>
            <a:ext cx="84042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What type of model?</a:t>
            </a:r>
          </a:p>
          <a:p>
            <a:r>
              <a:rPr lang="en-US" dirty="0"/>
              <a:t>It will depend on the types of interdependencies we want to take into account: the complexity of the model.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87930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F5E922-682C-4982-8BF5-B78B819E3582}"/>
              </a:ext>
            </a:extLst>
          </p:cNvPr>
          <p:cNvGrpSpPr/>
          <p:nvPr/>
        </p:nvGrpSpPr>
        <p:grpSpPr>
          <a:xfrm>
            <a:off x="634663" y="1881274"/>
            <a:ext cx="3652076" cy="3808674"/>
            <a:chOff x="1331869" y="2120381"/>
            <a:chExt cx="3652076" cy="43873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26FF538-45C7-4E4E-B1BD-2E623583297F}"/>
                </a:ext>
              </a:extLst>
            </p:cNvPr>
            <p:cNvGrpSpPr/>
            <p:nvPr/>
          </p:nvGrpSpPr>
          <p:grpSpPr>
            <a:xfrm>
              <a:off x="3059161" y="2224873"/>
              <a:ext cx="1924784" cy="4282866"/>
              <a:chOff x="2029201" y="476675"/>
              <a:chExt cx="1929724" cy="463448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76DEE-96CC-47F3-AD69-00D4D337A612}"/>
                  </a:ext>
                </a:extLst>
              </p:cNvPr>
              <p:cNvSpPr txBox="1"/>
              <p:nvPr/>
            </p:nvSpPr>
            <p:spPr>
              <a:xfrm>
                <a:off x="2029201" y="476675"/>
                <a:ext cx="1070662" cy="460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 err="1"/>
                  <a:t>Schelling</a:t>
                </a:r>
                <a:r>
                  <a:rPr lang="sv-SE" dirty="0"/>
                  <a:t>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DF9C6-50E7-41C9-9B84-BA7BA3918204}"/>
                  </a:ext>
                </a:extLst>
              </p:cNvPr>
              <p:cNvSpPr txBox="1"/>
              <p:nvPr/>
            </p:nvSpPr>
            <p:spPr>
              <a:xfrm>
                <a:off x="3457095" y="584126"/>
                <a:ext cx="371565" cy="4527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500" dirty="0"/>
                  <a:t>A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B</a:t>
                </a:r>
              </a:p>
              <a:p>
                <a:endParaRPr lang="sv-SE" sz="2500" dirty="0"/>
              </a:p>
              <a:p>
                <a:r>
                  <a:rPr lang="sv-SE" sz="2500" dirty="0"/>
                  <a:t>C</a:t>
                </a:r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2500" dirty="0"/>
              </a:p>
              <a:p>
                <a:endParaRPr lang="sv-SE" sz="3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B86A4A3-0D0F-407B-B0DB-0614AB6BABDE}"/>
                  </a:ext>
                </a:extLst>
              </p:cNvPr>
              <p:cNvSpPr/>
              <p:nvPr/>
            </p:nvSpPr>
            <p:spPr>
              <a:xfrm>
                <a:off x="3325879" y="520293"/>
                <a:ext cx="633046" cy="587551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pic>
            <p:nvPicPr>
              <p:cNvPr id="12" name="Graphic 11" descr="Schelling">
                <a:extLst>
                  <a:ext uri="{FF2B5EF4-FFF2-40B4-BE49-F238E27FC236}">
                    <a16:creationId xmlns:a16="http://schemas.microsoft.com/office/drawing/2014/main" id="{D6EA0D4B-605B-4C7C-BBE4-5931C8BE6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77416" y="914624"/>
                <a:ext cx="1015021" cy="1701181"/>
              </a:xfrm>
              <a:prstGeom prst="rect">
                <a:avLst/>
              </a:prstGeom>
            </p:spPr>
          </p:pic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FE217A8A-F9E8-4A1B-A8BA-511D727E5F47}"/>
                </a:ext>
              </a:extLst>
            </p:cNvPr>
            <p:cNvSpPr/>
            <p:nvPr/>
          </p:nvSpPr>
          <p:spPr>
            <a:xfrm>
              <a:off x="1331869" y="3178629"/>
              <a:ext cx="1190171" cy="406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402E5F-4E17-4BCB-98DD-8A9127845EC9}"/>
                </a:ext>
              </a:extLst>
            </p:cNvPr>
            <p:cNvSpPr/>
            <p:nvPr/>
          </p:nvSpPr>
          <p:spPr>
            <a:xfrm>
              <a:off x="1644146" y="2120381"/>
              <a:ext cx="511679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v-SE" sz="5500" dirty="0"/>
                <a:t>?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5993C9-459F-4B65-A74F-9E4851B58F8F}"/>
              </a:ext>
            </a:extLst>
          </p:cNvPr>
          <p:cNvCxnSpPr>
            <a:cxnSpLocks/>
          </p:cNvCxnSpPr>
          <p:nvPr/>
        </p:nvCxnSpPr>
        <p:spPr>
          <a:xfrm flipV="1">
            <a:off x="5665665" y="2017879"/>
            <a:ext cx="653143" cy="500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C2334F-BF0E-420F-AF4F-5C3F4712B9A2}"/>
              </a:ext>
            </a:extLst>
          </p:cNvPr>
          <p:cNvCxnSpPr>
            <a:cxnSpLocks/>
          </p:cNvCxnSpPr>
          <p:nvPr/>
        </p:nvCxnSpPr>
        <p:spPr>
          <a:xfrm>
            <a:off x="5665665" y="2623023"/>
            <a:ext cx="653143" cy="4008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48F1CF-ACDE-4966-867E-550D2E7A5845}"/>
              </a:ext>
            </a:extLst>
          </p:cNvPr>
          <p:cNvSpPr/>
          <p:nvPr/>
        </p:nvSpPr>
        <p:spPr>
          <a:xfrm>
            <a:off x="6318808" y="1796236"/>
            <a:ext cx="391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</a:t>
            </a:r>
            <a:endParaRPr lang="sv-S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8CC20-4ACD-45D6-A224-4DEED492F81D}"/>
              </a:ext>
            </a:extLst>
          </p:cNvPr>
          <p:cNvSpPr/>
          <p:nvPr/>
        </p:nvSpPr>
        <p:spPr>
          <a:xfrm>
            <a:off x="6318808" y="2931246"/>
            <a:ext cx="111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non-X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C42B34-E98C-4261-8908-32C247141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794" y="4318551"/>
            <a:ext cx="1761902" cy="17038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1458CE-F8FD-4630-B9E0-3CEE5E1AE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8604" y="4318550"/>
            <a:ext cx="1761902" cy="17038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9BC479-1477-4C93-9A22-C07FB1517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7744" y="4313108"/>
            <a:ext cx="1761902" cy="17038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B7AF08-4AC5-4A7D-9ECA-0ECCD14A6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6884" y="4313107"/>
            <a:ext cx="1761902" cy="170386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 <a:off x="671936" y="4841872"/>
            <a:ext cx="1032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dirty="0"/>
              <a:t>Decision </a:t>
            </a:r>
          </a:p>
          <a:p>
            <a:pPr algn="ctr"/>
            <a:r>
              <a:rPr lang="sv-SE" dirty="0" err="1"/>
              <a:t>factors</a:t>
            </a:r>
            <a:endParaRPr lang="sv-S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8B4676-DAEF-4B31-8687-421599975E3E}"/>
              </a:ext>
            </a:extLst>
          </p:cNvPr>
          <p:cNvSpPr/>
          <p:nvPr/>
        </p:nvSpPr>
        <p:spPr>
          <a:xfrm>
            <a:off x="2554683" y="4790307"/>
            <a:ext cx="1069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dirty="0" err="1"/>
              <a:t>Schelling</a:t>
            </a:r>
            <a:r>
              <a:rPr lang="sv-SE" dirty="0"/>
              <a:t> </a:t>
            </a:r>
          </a:p>
          <a:p>
            <a:pPr algn="ctr"/>
            <a:r>
              <a:rPr lang="sv-SE" dirty="0" err="1"/>
              <a:t>types</a:t>
            </a:r>
            <a:endParaRPr lang="sv-S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BC095-1320-40D3-9F7E-EA02541B949A}"/>
              </a:ext>
            </a:extLst>
          </p:cNvPr>
          <p:cNvSpPr/>
          <p:nvPr/>
        </p:nvSpPr>
        <p:spPr>
          <a:xfrm>
            <a:off x="4382202" y="4922329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/>
              <a:t># decisions</a:t>
            </a:r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22B194-F327-44D1-8AD7-2695EC874824}"/>
              </a:ext>
            </a:extLst>
          </p:cNvPr>
          <p:cNvSpPr/>
          <p:nvPr/>
        </p:nvSpPr>
        <p:spPr>
          <a:xfrm>
            <a:off x="6453223" y="4922329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# non-X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1F0F74-4B16-4BAE-A0E1-96C08B5B353A}"/>
              </a:ext>
            </a:extLst>
          </p:cNvPr>
          <p:cNvSpPr/>
          <p:nvPr/>
        </p:nvSpPr>
        <p:spPr>
          <a:xfrm>
            <a:off x="1296438" y="4318550"/>
            <a:ext cx="246743" cy="268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748B07-38CD-4178-BC25-740C1758E8C2}"/>
              </a:ext>
            </a:extLst>
          </p:cNvPr>
          <p:cNvSpPr/>
          <p:nvPr/>
        </p:nvSpPr>
        <p:spPr>
          <a:xfrm>
            <a:off x="2849216" y="4259909"/>
            <a:ext cx="246743" cy="268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AB3464-D2CF-4801-BFE6-96CF492D2582}"/>
              </a:ext>
            </a:extLst>
          </p:cNvPr>
          <p:cNvSpPr/>
          <p:nvPr/>
        </p:nvSpPr>
        <p:spPr>
          <a:xfrm>
            <a:off x="4845102" y="4295435"/>
            <a:ext cx="246743" cy="268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1B35DBF-0E3A-4084-83E8-FE82B7DC7B22}"/>
              </a:ext>
            </a:extLst>
          </p:cNvPr>
          <p:cNvSpPr/>
          <p:nvPr/>
        </p:nvSpPr>
        <p:spPr>
          <a:xfrm>
            <a:off x="6691313" y="4241105"/>
            <a:ext cx="246743" cy="268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EFD56-C7A7-4728-8323-E1C281A1F810}"/>
              </a:ext>
            </a:extLst>
          </p:cNvPr>
          <p:cNvSpPr/>
          <p:nvPr/>
        </p:nvSpPr>
        <p:spPr>
          <a:xfrm>
            <a:off x="8507972" y="1703680"/>
            <a:ext cx="2917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 the new requirements to design models make them mathematically intractable.</a:t>
            </a:r>
            <a:endParaRPr lang="sv-S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8F958-9B35-4FB9-8D23-A30802DA0B21}"/>
              </a:ext>
            </a:extLst>
          </p:cNvPr>
          <p:cNvSpPr/>
          <p:nvPr/>
        </p:nvSpPr>
        <p:spPr>
          <a:xfrm>
            <a:off x="319192" y="6213269"/>
            <a:ext cx="7469594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sv-SE" sz="2200" dirty="0"/>
              <a:t>Parameters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BA70A3-5A0B-40E2-BE4C-93DC67333E37}"/>
              </a:ext>
            </a:extLst>
          </p:cNvPr>
          <p:cNvSpPr/>
          <p:nvPr/>
        </p:nvSpPr>
        <p:spPr>
          <a:xfrm>
            <a:off x="8453215" y="3441488"/>
            <a:ext cx="314647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highlight>
                  <a:srgbClr val="FFFF00"/>
                </a:highlight>
              </a:rPr>
              <a:t>It is when ABM appears in science.</a:t>
            </a:r>
            <a:endParaRPr lang="sv-SE" sz="4400" dirty="0">
              <a:highlight>
                <a:srgbClr val="FFFF00"/>
              </a:highligh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9D72BE-9FFF-4904-9882-EE700D7E63DD}"/>
              </a:ext>
            </a:extLst>
          </p:cNvPr>
          <p:cNvSpPr/>
          <p:nvPr/>
        </p:nvSpPr>
        <p:spPr>
          <a:xfrm>
            <a:off x="342188" y="468920"/>
            <a:ext cx="84042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/>
              <a:t>What type of model?</a:t>
            </a:r>
          </a:p>
          <a:p>
            <a:r>
              <a:rPr lang="en-US" dirty="0"/>
              <a:t>It will depend on the types of interdependencies we want to take into account: the complexity of the model.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406625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22637" y="1843950"/>
            <a:ext cx="4635841" cy="31700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 dirty="0"/>
              <a:t>End of the first part!</a:t>
            </a:r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Questions?</a:t>
            </a:r>
          </a:p>
          <a:p>
            <a:pPr algn="ctr"/>
            <a:endParaRPr lang="en-US" sz="4000" dirty="0"/>
          </a:p>
          <a:p>
            <a:pPr algn="ctr"/>
            <a:r>
              <a:rPr lang="en-US" sz="4000"/>
              <a:t>Break (5 </a:t>
            </a:r>
            <a:r>
              <a:rPr lang="en-US" sz="4000" dirty="0"/>
              <a:t>minutes)</a:t>
            </a:r>
          </a:p>
        </p:txBody>
      </p:sp>
    </p:spTree>
    <p:extLst>
      <p:ext uri="{BB962C8B-B14F-4D97-AF65-F5344CB8AC3E}">
        <p14:creationId xmlns:p14="http://schemas.microsoft.com/office/powerpoint/2010/main" val="177419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25A13C-2FA5-4693-910E-DFE3519DE3CE}"/>
</file>

<file path=customXml/itemProps2.xml><?xml version="1.0" encoding="utf-8"?>
<ds:datastoreItem xmlns:ds="http://schemas.openxmlformats.org/officeDocument/2006/customXml" ds:itemID="{246DC703-4F42-4215-9466-3DEE59D9AE20}">
  <ds:schemaRefs>
    <ds:schemaRef ds:uri="http://schemas.microsoft.com/office/2006/metadata/properties"/>
    <ds:schemaRef ds:uri="http://schemas.microsoft.com/office/infopath/2007/PartnerControls"/>
    <ds:schemaRef ds:uri="355c20dd-824d-4f2a-8441-8fa54c717e7f"/>
    <ds:schemaRef ds:uri="964cb24b-6903-4cd9-8dc6-559a48c90dcd"/>
  </ds:schemaRefs>
</ds:datastoreItem>
</file>

<file path=customXml/itemProps3.xml><?xml version="1.0" encoding="utf-8"?>
<ds:datastoreItem xmlns:ds="http://schemas.openxmlformats.org/officeDocument/2006/customXml" ds:itemID="{0F082462-A44D-4A8E-99E7-15AFDE29F3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4278</Words>
  <Application>Microsoft Office PowerPoint</Application>
  <PresentationFormat>Widescreen</PresentationFormat>
  <Paragraphs>1310</Paragraphs>
  <Slides>82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Arial</vt:lpstr>
      <vt:lpstr>Calibri</vt:lpstr>
      <vt:lpstr>Calibri Light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57</cp:revision>
  <dcterms:created xsi:type="dcterms:W3CDTF">2020-04-03T10:44:47Z</dcterms:created>
  <dcterms:modified xsi:type="dcterms:W3CDTF">2026-03-10T07:57:33Z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