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407" r:id="rId3"/>
    <p:sldId id="422" r:id="rId4"/>
    <p:sldId id="386" r:id="rId5"/>
    <p:sldId id="406" r:id="rId6"/>
    <p:sldId id="361" r:id="rId7"/>
    <p:sldId id="392" r:id="rId8"/>
    <p:sldId id="410" r:id="rId9"/>
    <p:sldId id="408" r:id="rId10"/>
    <p:sldId id="411" r:id="rId11"/>
    <p:sldId id="398" r:id="rId12"/>
    <p:sldId id="412" r:id="rId13"/>
    <p:sldId id="404" r:id="rId14"/>
    <p:sldId id="416" r:id="rId15"/>
    <p:sldId id="415" r:id="rId16"/>
    <p:sldId id="413" r:id="rId17"/>
    <p:sldId id="41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9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4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Logo/NetLogo/wiki/Extension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>
                <a:solidFill>
                  <a:schemeClr val="bg1"/>
                </a:solidFill>
              </a:rPr>
              <a:t>NetLogo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7.0</a:t>
            </a:r>
          </a:p>
        </p:txBody>
      </p:sp>
    </p:spTree>
    <p:extLst>
      <p:ext uri="{BB962C8B-B14F-4D97-AF65-F5344CB8AC3E}">
        <p14:creationId xmlns:p14="http://schemas.microsoft.com/office/powerpoint/2010/main" val="33935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98589" y="1333009"/>
            <a:ext cx="8723136" cy="2283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b="1" u="sng" dirty="0"/>
          </a:p>
          <a:p>
            <a:endParaRPr lang="sv-SE" dirty="0"/>
          </a:p>
          <a:p>
            <a:pPr lvl="0"/>
            <a:r>
              <a:rPr lang="en-US" sz="2600" b="1" dirty="0"/>
              <a:t>Announcements</a:t>
            </a:r>
          </a:p>
          <a:p>
            <a:pPr lvl="0"/>
            <a:endParaRPr lang="en-US" sz="2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sv-SE" dirty="0"/>
          </a:p>
          <a:p>
            <a:r>
              <a:rPr lang="en-US" dirty="0"/>
              <a:t> </a:t>
            </a:r>
            <a:endParaRPr lang="sv-SE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87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98589" y="1333009"/>
            <a:ext cx="8290559" cy="382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b="1" u="sng" dirty="0"/>
          </a:p>
          <a:p>
            <a:endParaRPr lang="sv-SE" dirty="0"/>
          </a:p>
          <a:p>
            <a:pPr lvl="0"/>
            <a:r>
              <a:rPr lang="en-US" sz="2600" b="1"/>
              <a:t>Units </a:t>
            </a:r>
            <a:r>
              <a:rPr lang="en-US" sz="2600" b="1" dirty="0"/>
              <a:t>overview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Mixing Beliefs'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Networks (basic primitives)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Basic Diffusion Model (based on </a:t>
            </a:r>
            <a:r>
              <a:rPr lang="en-US" sz="2400" dirty="0" err="1"/>
              <a:t>Centola’s</a:t>
            </a:r>
            <a:r>
              <a:rPr lang="en-US" sz="2400" dirty="0"/>
              <a:t> model)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sv-SE" dirty="0"/>
          </a:p>
          <a:p>
            <a:r>
              <a:rPr lang="en-US" dirty="0"/>
              <a:t> </a:t>
            </a:r>
            <a:endParaRPr lang="sv-SE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1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Mixing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  <a:r>
              <a:rPr lang="sv-SE" sz="3000" dirty="0" err="1">
                <a:solidFill>
                  <a:schemeClr val="bg1"/>
                </a:solidFill>
              </a:rPr>
              <a:t>beliefs</a:t>
            </a:r>
            <a:endParaRPr lang="sv-SE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97" t="15520"/>
          <a:stretch/>
        </p:blipFill>
        <p:spPr>
          <a:xfrm>
            <a:off x="2135920" y="888273"/>
            <a:ext cx="3544443" cy="29153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EEF61C-FB0F-4CBF-B041-71192E722A1B}"/>
              </a:ext>
            </a:extLst>
          </p:cNvPr>
          <p:cNvSpPr/>
          <p:nvPr/>
        </p:nvSpPr>
        <p:spPr>
          <a:xfrm>
            <a:off x="5560291" y="1679932"/>
            <a:ext cx="6422879" cy="40318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v-SE" sz="1600" b="1" dirty="0" err="1">
                <a:highlight>
                  <a:srgbClr val="FFFF00"/>
                </a:highlight>
              </a:rPr>
              <a:t>Model</a:t>
            </a:r>
            <a:r>
              <a:rPr lang="sv-SE" sz="1600" b="1" dirty="0">
                <a:highlight>
                  <a:srgbClr val="FFFF00"/>
                </a:highlight>
              </a:rPr>
              <a:t> </a:t>
            </a:r>
            <a:r>
              <a:rPr lang="sv-SE" sz="1600" b="1" dirty="0" err="1">
                <a:highlight>
                  <a:srgbClr val="FFFF00"/>
                </a:highlight>
              </a:rPr>
              <a:t>topic</a:t>
            </a:r>
            <a:r>
              <a:rPr lang="sv-SE" sz="1600" b="1" dirty="0">
                <a:highlight>
                  <a:srgbClr val="FFFF00"/>
                </a:highlight>
              </a:rPr>
              <a:t>: </a:t>
            </a:r>
          </a:p>
          <a:p>
            <a:r>
              <a:rPr lang="sv-SE" sz="1600" dirty="0"/>
              <a:t>Opinion </a:t>
            </a:r>
            <a:r>
              <a:rPr lang="sv-SE" sz="1600" dirty="0" err="1"/>
              <a:t>dynamics</a:t>
            </a:r>
            <a:r>
              <a:rPr lang="sv-SE" sz="1600" dirty="0"/>
              <a:t> (</a:t>
            </a:r>
            <a:r>
              <a:rPr lang="sv-SE" sz="1600" dirty="0" err="1"/>
              <a:t>Macro</a:t>
            </a:r>
            <a:r>
              <a:rPr lang="sv-SE" sz="1600" dirty="0"/>
              <a:t> </a:t>
            </a:r>
            <a:r>
              <a:rPr lang="sv-SE" sz="1600" dirty="0" err="1"/>
              <a:t>outcome</a:t>
            </a:r>
            <a:r>
              <a:rPr lang="sv-SE" sz="1600" dirty="0"/>
              <a:t>)</a:t>
            </a:r>
          </a:p>
          <a:p>
            <a:endParaRPr lang="sv-SE" sz="1600" dirty="0"/>
          </a:p>
          <a:p>
            <a:r>
              <a:rPr lang="sv-SE" sz="1600" b="1" dirty="0">
                <a:highlight>
                  <a:srgbClr val="FFFF00"/>
                </a:highlight>
              </a:rPr>
              <a:t>Initial </a:t>
            </a:r>
            <a:r>
              <a:rPr lang="sv-SE" sz="1600" b="1" dirty="0" err="1">
                <a:highlight>
                  <a:srgbClr val="FFFF00"/>
                </a:highlight>
              </a:rPr>
              <a:t>statement</a:t>
            </a:r>
            <a:r>
              <a:rPr lang="sv-SE" sz="1600" b="1" dirty="0">
                <a:highlight>
                  <a:srgbClr val="FFFF00"/>
                </a:highlight>
              </a:rPr>
              <a:t>:</a:t>
            </a:r>
          </a:p>
          <a:p>
            <a:r>
              <a:rPr lang="sv-SE" sz="1600" dirty="0"/>
              <a:t>Most </a:t>
            </a:r>
            <a:r>
              <a:rPr lang="sv-SE" sz="1600" dirty="0" err="1"/>
              <a:t>models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opinion </a:t>
            </a:r>
            <a:r>
              <a:rPr lang="sv-SE" sz="1600" dirty="0" err="1"/>
              <a:t>dynamics</a:t>
            </a:r>
            <a:r>
              <a:rPr lang="sv-SE" sz="1600" dirty="0"/>
              <a:t> </a:t>
            </a:r>
            <a:r>
              <a:rPr lang="sv-SE" sz="1600" dirty="0" err="1"/>
              <a:t>are</a:t>
            </a:r>
            <a:r>
              <a:rPr lang="sv-SE" sz="1600" dirty="0"/>
              <a:t> </a:t>
            </a:r>
            <a:r>
              <a:rPr lang="sv-SE" sz="1600" dirty="0" err="1"/>
              <a:t>based</a:t>
            </a:r>
            <a:r>
              <a:rPr lang="sv-SE" sz="1600" dirty="0"/>
              <a:t> on </a:t>
            </a:r>
            <a:r>
              <a:rPr lang="sv-SE" sz="1600" dirty="0" err="1"/>
              <a:t>binary</a:t>
            </a:r>
            <a:r>
              <a:rPr lang="sv-SE" sz="1600" dirty="0"/>
              <a:t> opinions. </a:t>
            </a:r>
            <a:r>
              <a:rPr lang="sv-SE" sz="1600" dirty="0" err="1"/>
              <a:t>Actors</a:t>
            </a:r>
            <a:r>
              <a:rPr lang="sv-SE" sz="1600" dirty="0"/>
              <a:t> </a:t>
            </a:r>
            <a:r>
              <a:rPr lang="sv-SE" sz="1600" dirty="0" err="1"/>
              <a:t>update</a:t>
            </a:r>
            <a:r>
              <a:rPr lang="sv-SE" sz="1600" dirty="0"/>
              <a:t> </a:t>
            </a:r>
            <a:r>
              <a:rPr lang="sv-SE" sz="1600" dirty="0" err="1"/>
              <a:t>their</a:t>
            </a:r>
            <a:r>
              <a:rPr lang="sv-SE" sz="1600" dirty="0"/>
              <a:t> opinions </a:t>
            </a:r>
            <a:r>
              <a:rPr lang="sv-SE" sz="1600" dirty="0" err="1"/>
              <a:t>either</a:t>
            </a:r>
            <a:r>
              <a:rPr lang="sv-SE" sz="1600" dirty="0"/>
              <a:t> by social </a:t>
            </a:r>
            <a:r>
              <a:rPr lang="sv-SE" sz="1600" dirty="0" err="1"/>
              <a:t>influence</a:t>
            </a:r>
            <a:r>
              <a:rPr lang="sv-SE" sz="1600" dirty="0"/>
              <a:t> or </a:t>
            </a:r>
            <a:r>
              <a:rPr lang="sv-SE" sz="1600" dirty="0" err="1"/>
              <a:t>according</a:t>
            </a:r>
            <a:r>
              <a:rPr lang="sv-SE" sz="1600" dirty="0"/>
              <a:t> to </a:t>
            </a:r>
            <a:r>
              <a:rPr lang="sv-SE" sz="1600" dirty="0" err="1"/>
              <a:t>their</a:t>
            </a:r>
            <a:r>
              <a:rPr lang="sv-SE" sz="1600" dirty="0"/>
              <a:t> </a:t>
            </a:r>
            <a:r>
              <a:rPr lang="sv-SE" sz="1600" dirty="0" err="1"/>
              <a:t>own</a:t>
            </a:r>
            <a:r>
              <a:rPr lang="sv-SE" sz="1600" dirty="0"/>
              <a:t> </a:t>
            </a:r>
            <a:r>
              <a:rPr lang="sv-SE" sz="1600" dirty="0" err="1"/>
              <a:t>experience</a:t>
            </a:r>
            <a:r>
              <a:rPr lang="sv-SE" sz="1600" dirty="0"/>
              <a:t>. </a:t>
            </a:r>
          </a:p>
          <a:p>
            <a:endParaRPr lang="sv-SE" sz="1600" dirty="0"/>
          </a:p>
          <a:p>
            <a:r>
              <a:rPr lang="sv-SE" sz="1600" b="1" dirty="0" err="1">
                <a:highlight>
                  <a:srgbClr val="FFFF00"/>
                </a:highlight>
              </a:rPr>
              <a:t>However</a:t>
            </a:r>
            <a:r>
              <a:rPr lang="sv-SE" sz="1600" b="1" dirty="0"/>
              <a:t> (I </a:t>
            </a:r>
            <a:r>
              <a:rPr lang="sv-SE" sz="1600" b="1" dirty="0" err="1"/>
              <a:t>wanna</a:t>
            </a:r>
            <a:r>
              <a:rPr lang="sv-SE" sz="1600" b="1" dirty="0"/>
              <a:t> </a:t>
            </a:r>
            <a:r>
              <a:rPr lang="sv-SE" sz="1600" b="1" dirty="0" err="1"/>
              <a:t>write</a:t>
            </a:r>
            <a:r>
              <a:rPr lang="sv-SE" sz="1600" b="1" dirty="0"/>
              <a:t> a paper </a:t>
            </a:r>
            <a:r>
              <a:rPr lang="sv-SE" sz="1600" b="1" dirty="0" err="1"/>
              <a:t>about</a:t>
            </a:r>
            <a:r>
              <a:rPr lang="sv-SE" sz="1600" b="1" dirty="0"/>
              <a:t> </a:t>
            </a:r>
            <a:r>
              <a:rPr lang="sv-SE" sz="1600" b="1" dirty="0" err="1"/>
              <a:t>this</a:t>
            </a:r>
            <a:r>
              <a:rPr lang="sv-SE" sz="1600" b="1" dirty="0"/>
              <a:t>!), </a:t>
            </a:r>
            <a:r>
              <a:rPr lang="en-US" sz="1600" dirty="0"/>
              <a:t>not all opinions are binary and not all individuals interact with everyone.</a:t>
            </a:r>
            <a:endParaRPr lang="sv-SE" sz="1600" dirty="0"/>
          </a:p>
          <a:p>
            <a:endParaRPr lang="sv-SE" sz="1600" dirty="0"/>
          </a:p>
          <a:p>
            <a:r>
              <a:rPr lang="sv-SE" sz="1600" b="1" dirty="0" err="1">
                <a:highlight>
                  <a:srgbClr val="FFFF00"/>
                </a:highlight>
              </a:rPr>
              <a:t>Goal</a:t>
            </a:r>
            <a:r>
              <a:rPr lang="sv-SE" sz="1600" b="1" dirty="0"/>
              <a:t>: </a:t>
            </a:r>
            <a:r>
              <a:rPr lang="sv-SE" sz="1600" dirty="0" err="1"/>
              <a:t>this</a:t>
            </a:r>
            <a:r>
              <a:rPr lang="sv-SE" sz="1600" dirty="0"/>
              <a:t> paper </a:t>
            </a:r>
            <a:r>
              <a:rPr lang="sv-SE" sz="1600" dirty="0" err="1"/>
              <a:t>relaxes</a:t>
            </a:r>
            <a:r>
              <a:rPr lang="sv-SE" sz="1600" dirty="0"/>
              <a:t> the </a:t>
            </a:r>
            <a:r>
              <a:rPr lang="sv-SE" sz="1600" dirty="0" err="1"/>
              <a:t>binary</a:t>
            </a:r>
            <a:r>
              <a:rPr lang="sv-SE" sz="1600" dirty="0"/>
              <a:t> </a:t>
            </a:r>
            <a:r>
              <a:rPr lang="sv-SE" sz="1600" dirty="0" err="1"/>
              <a:t>assumption</a:t>
            </a:r>
            <a:r>
              <a:rPr lang="sv-SE" sz="1600" dirty="0"/>
              <a:t> </a:t>
            </a:r>
            <a:r>
              <a:rPr lang="sv-SE" sz="1600" dirty="0" err="1"/>
              <a:t>evaluating</a:t>
            </a:r>
            <a:r>
              <a:rPr lang="sv-SE" sz="1600" dirty="0"/>
              <a:t>:</a:t>
            </a:r>
          </a:p>
          <a:p>
            <a:r>
              <a:rPr lang="en-US" sz="1600" dirty="0"/>
              <a:t>(1) what would happen if opinions were a continuous variable and opinion adjustments only took place when two opinions'  difference is below a given threshold. </a:t>
            </a:r>
          </a:p>
          <a:p>
            <a:r>
              <a:rPr lang="en-US" sz="1600" dirty="0"/>
              <a:t>(2) how restrictions on interactions affect (1)? 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282709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Mixing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  <a:r>
              <a:rPr lang="sv-SE" sz="3000" dirty="0" err="1">
                <a:solidFill>
                  <a:schemeClr val="bg1"/>
                </a:solidFill>
              </a:rPr>
              <a:t>beliefs</a:t>
            </a:r>
            <a:endParaRPr lang="sv-SE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5994" y="911072"/>
            <a:ext cx="3840006" cy="34508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56C966-82C2-44E5-A3DB-5A482BF19D31}"/>
              </a:ext>
            </a:extLst>
          </p:cNvPr>
          <p:cNvSpPr/>
          <p:nvPr/>
        </p:nvSpPr>
        <p:spPr>
          <a:xfrm>
            <a:off x="6419273" y="1535653"/>
            <a:ext cx="3840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err="1"/>
              <a:t>Behavioral</a:t>
            </a:r>
            <a:r>
              <a:rPr lang="sv-SE" b="1" dirty="0"/>
              <a:t> </a:t>
            </a:r>
            <a:r>
              <a:rPr lang="sv-SE" b="1" dirty="0" err="1"/>
              <a:t>rule</a:t>
            </a:r>
            <a:r>
              <a:rPr lang="sv-SE" b="1" dirty="0"/>
              <a:t>:</a:t>
            </a:r>
          </a:p>
          <a:p>
            <a:endParaRPr lang="sv-SE" b="1" dirty="0"/>
          </a:p>
          <a:p>
            <a:r>
              <a:rPr lang="sv-SE" dirty="0" err="1"/>
              <a:t>How</a:t>
            </a:r>
            <a:r>
              <a:rPr lang="sv-SE" dirty="0"/>
              <a:t> do agents </a:t>
            </a:r>
            <a:r>
              <a:rPr lang="sv-SE" dirty="0" err="1"/>
              <a:t>adjust</a:t>
            </a:r>
            <a:r>
              <a:rPr lang="sv-SE" dirty="0"/>
              <a:t> </a:t>
            </a:r>
            <a:r>
              <a:rPr lang="sv-SE" dirty="0" err="1"/>
              <a:t>their</a:t>
            </a:r>
            <a:r>
              <a:rPr lang="sv-SE" dirty="0"/>
              <a:t> opinions?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FD922D-8769-428D-84FE-2B585BE9347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518" t="66541" r="33702" b="11589"/>
          <a:stretch/>
        </p:blipFill>
        <p:spPr>
          <a:xfrm>
            <a:off x="6578454" y="3482492"/>
            <a:ext cx="4419231" cy="14065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3A1163-9260-4C2E-8925-DB98789B53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164" y="2794997"/>
            <a:ext cx="1256148" cy="3140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1777DC-F2A2-43F4-9B26-9AD76A9AC326}"/>
              </a:ext>
            </a:extLst>
          </p:cNvPr>
          <p:cNvSpPr/>
          <p:nvPr/>
        </p:nvSpPr>
        <p:spPr>
          <a:xfrm>
            <a:off x="8245752" y="2755294"/>
            <a:ext cx="3048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/>
              <a:t>d</a:t>
            </a:r>
            <a:r>
              <a:rPr lang="sv-SE" sz="1100" dirty="0"/>
              <a:t> is </a:t>
            </a:r>
            <a:r>
              <a:rPr lang="sv-SE" sz="1100" dirty="0" err="1"/>
              <a:t>threshold</a:t>
            </a:r>
            <a:r>
              <a:rPr lang="sv-SE" sz="1100" dirty="0"/>
              <a:t> parameter </a:t>
            </a:r>
            <a:r>
              <a:rPr lang="sv-SE" sz="1100" dirty="0" err="1"/>
              <a:t>which</a:t>
            </a:r>
            <a:r>
              <a:rPr lang="sv-SE" sz="1100" dirty="0"/>
              <a:t> </a:t>
            </a:r>
            <a:r>
              <a:rPr lang="sv-SE" sz="1100" dirty="0" err="1"/>
              <a:t>represents</a:t>
            </a:r>
            <a:r>
              <a:rPr lang="sv-SE" sz="1100" dirty="0"/>
              <a:t> "</a:t>
            </a:r>
            <a:r>
              <a:rPr lang="sv-SE" sz="1100" dirty="0" err="1"/>
              <a:t>tolerance</a:t>
            </a:r>
            <a:r>
              <a:rPr lang="sv-SE" sz="1100" dirty="0"/>
              <a:t> </a:t>
            </a:r>
            <a:r>
              <a:rPr lang="sv-SE" sz="1100" dirty="0" err="1"/>
              <a:t>level</a:t>
            </a:r>
            <a:r>
              <a:rPr lang="sv-SE" sz="1100" dirty="0"/>
              <a:t> to different opinions"</a:t>
            </a:r>
          </a:p>
        </p:txBody>
      </p:sp>
    </p:spTree>
    <p:extLst>
      <p:ext uri="{BB962C8B-B14F-4D97-AF65-F5344CB8AC3E}">
        <p14:creationId xmlns:p14="http://schemas.microsoft.com/office/powerpoint/2010/main" val="5016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296546" y="2784689"/>
            <a:ext cx="1949981" cy="3167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Compare</a:t>
            </a:r>
            <a:r>
              <a:rPr lang="sv-SE" sz="1200" dirty="0"/>
              <a:t> </a:t>
            </a:r>
            <a:r>
              <a:rPr lang="sv-SE" sz="1200" dirty="0" err="1"/>
              <a:t>current</a:t>
            </a:r>
            <a:r>
              <a:rPr lang="sv-SE" sz="1200" dirty="0"/>
              <a:t> opinions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183468" y="3429000"/>
            <a:ext cx="2120387" cy="1132513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Abs</a:t>
            </a:r>
            <a:r>
              <a:rPr lang="sv-SE" sz="1200" dirty="0"/>
              <a:t> </a:t>
            </a:r>
            <a:r>
              <a:rPr lang="sv-SE" sz="1200" dirty="0" err="1"/>
              <a:t>diff</a:t>
            </a:r>
            <a:r>
              <a:rPr lang="sv-SE" sz="1200" dirty="0"/>
              <a:t> </a:t>
            </a:r>
            <a:r>
              <a:rPr lang="sv-SE" sz="1200" dirty="0" err="1"/>
              <a:t>current</a:t>
            </a:r>
            <a:r>
              <a:rPr lang="sv-SE" sz="1200" dirty="0"/>
              <a:t> opinions  i &amp; j &lt; d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898736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315903" y="5067067"/>
            <a:ext cx="1949976" cy="6542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500" dirty="0" err="1"/>
              <a:t>Adjust</a:t>
            </a:r>
            <a:r>
              <a:rPr lang="sv-SE" sz="1500" dirty="0"/>
              <a:t> agents’ opinions (i ,j)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5"/>
            <a:ext cx="1573806" cy="39529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randomly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agent(i)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cxnSpLocks/>
            <a:stCxn id="3" idx="4"/>
            <a:endCxn id="18" idx="0"/>
          </p:cNvCxnSpPr>
          <p:nvPr/>
        </p:nvCxnSpPr>
        <p:spPr>
          <a:xfrm>
            <a:off x="3243664" y="1586429"/>
            <a:ext cx="1" cy="28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477267" y="3822990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3243661" y="3132042"/>
            <a:ext cx="346" cy="23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459559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237933" y="4042097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77630" y="459103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4233446" y="3661617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>
            <a:cxnSpLocks/>
          </p:cNvCxnSpPr>
          <p:nvPr/>
        </p:nvCxnSpPr>
        <p:spPr>
          <a:xfrm rot="16200000" flipV="1">
            <a:off x="3734398" y="2527655"/>
            <a:ext cx="1715018" cy="750189"/>
          </a:xfrm>
          <a:prstGeom prst="bentConnector3">
            <a:avLst>
              <a:gd name="adj1" fmla="val 100355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115847" y="3965438"/>
            <a:ext cx="4151116" cy="231645"/>
          </a:xfrm>
          <a:prstGeom prst="bentConnector3">
            <a:avLst>
              <a:gd name="adj1" fmla="val 99960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851164" y="5833597"/>
            <a:ext cx="1141358" cy="6001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opinion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>
            <a:cxnSpLocks/>
          </p:cNvCxnSpPr>
          <p:nvPr/>
        </p:nvCxnSpPr>
        <p:spPr>
          <a:xfrm>
            <a:off x="4195590" y="6156817"/>
            <a:ext cx="418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983425" y="965223"/>
            <a:ext cx="1906163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Global </a:t>
            </a:r>
            <a:r>
              <a:rPr lang="sv-SE" sz="1200" dirty="0" err="1"/>
              <a:t>variable</a:t>
            </a:r>
            <a:r>
              <a:rPr lang="sv-SE" sz="1200" dirty="0"/>
              <a:t> d &amp; 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# Agents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Agents’ </a:t>
            </a:r>
            <a:r>
              <a:rPr lang="sv-SE" sz="1200" dirty="0" err="1"/>
              <a:t>variable</a:t>
            </a:r>
            <a:r>
              <a:rPr lang="sv-SE" sz="1200" dirty="0"/>
              <a:t>: opinion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51422" y="5375208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07DAAB-3E80-4405-AFBE-3561CD9727ED}"/>
              </a:ext>
            </a:extLst>
          </p:cNvPr>
          <p:cNvSpPr/>
          <p:nvPr/>
        </p:nvSpPr>
        <p:spPr>
          <a:xfrm>
            <a:off x="8029943" y="1033513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33131-C1CA-4047-AF5E-F29347E61B7C}"/>
              </a:ext>
            </a:extLst>
          </p:cNvPr>
          <p:cNvSpPr/>
          <p:nvPr/>
        </p:nvSpPr>
        <p:spPr>
          <a:xfrm>
            <a:off x="8029943" y="3558500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4BDDD63B-C9FA-404C-8F4A-A5ACCCD05012}"/>
              </a:ext>
            </a:extLst>
          </p:cNvPr>
          <p:cNvSpPr/>
          <p:nvPr/>
        </p:nvSpPr>
        <p:spPr>
          <a:xfrm>
            <a:off x="7542595" y="924407"/>
            <a:ext cx="275264" cy="57995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24A29C2-819D-44D2-913C-46FF085E1302}"/>
              </a:ext>
            </a:extLst>
          </p:cNvPr>
          <p:cNvSpPr/>
          <p:nvPr/>
        </p:nvSpPr>
        <p:spPr>
          <a:xfrm>
            <a:off x="7559829" y="1763869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2D655-BB3C-4ABF-AC43-4E30FE42FED7}"/>
              </a:ext>
            </a:extLst>
          </p:cNvPr>
          <p:cNvSpPr/>
          <p:nvPr/>
        </p:nvSpPr>
        <p:spPr>
          <a:xfrm>
            <a:off x="4967002" y="1809524"/>
            <a:ext cx="248673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dirty="0"/>
              <a:t>Agents </a:t>
            </a:r>
            <a:r>
              <a:rPr lang="sv-SE" sz="1100" dirty="0" err="1"/>
              <a:t>can</a:t>
            </a:r>
            <a:r>
              <a:rPr lang="sv-SE" sz="1100" dirty="0"/>
              <a:t> </a:t>
            </a:r>
            <a:r>
              <a:rPr lang="sv-SE" sz="1100" dirty="0" err="1"/>
              <a:t>interact</a:t>
            </a:r>
            <a:r>
              <a:rPr lang="sv-SE" sz="1100" dirty="0"/>
              <a:t> </a:t>
            </a:r>
            <a:r>
              <a:rPr lang="sv-SE" sz="1100" dirty="0" err="1"/>
              <a:t>with</a:t>
            </a:r>
            <a:r>
              <a:rPr lang="sv-SE" sz="1100" dirty="0"/>
              <a:t> all </a:t>
            </a:r>
            <a:r>
              <a:rPr lang="sv-SE" sz="1100" dirty="0" err="1"/>
              <a:t>other</a:t>
            </a:r>
            <a:r>
              <a:rPr lang="sv-SE" sz="1100" dirty="0"/>
              <a:t> agents.</a:t>
            </a:r>
          </a:p>
          <a:p>
            <a:r>
              <a:rPr lang="sv-SE" sz="1100" b="1" dirty="0" err="1"/>
              <a:t>Network</a:t>
            </a:r>
            <a:r>
              <a:rPr lang="sv-SE" sz="1100" b="1" dirty="0"/>
              <a:t> </a:t>
            </a:r>
            <a:r>
              <a:rPr lang="sv-SE" sz="1100" b="1" dirty="0" err="1"/>
              <a:t>structure</a:t>
            </a:r>
            <a:r>
              <a:rPr lang="sv-SE" sz="1100" b="1" dirty="0"/>
              <a:t> </a:t>
            </a:r>
            <a:r>
              <a:rPr lang="sv-SE" sz="1100" dirty="0"/>
              <a:t>= </a:t>
            </a:r>
            <a:r>
              <a:rPr lang="sv-SE" sz="1100" dirty="0" err="1"/>
              <a:t>fully</a:t>
            </a:r>
            <a:r>
              <a:rPr lang="sv-SE" sz="1100" dirty="0"/>
              <a:t> </a:t>
            </a:r>
            <a:r>
              <a:rPr lang="sv-SE" sz="1100" dirty="0" err="1"/>
              <a:t>connected</a:t>
            </a:r>
            <a:endParaRPr lang="sv-SE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2B0879-101B-4F42-80AE-92B0EFE346E5}"/>
              </a:ext>
            </a:extLst>
          </p:cNvPr>
          <p:cNvSpPr/>
          <p:nvPr/>
        </p:nvSpPr>
        <p:spPr>
          <a:xfrm>
            <a:off x="10501745" y="1027524"/>
            <a:ext cx="1305118" cy="53635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Basic </a:t>
            </a:r>
            <a:r>
              <a:rPr lang="sv-SE" dirty="0" err="1"/>
              <a:t>Model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A792B7-2EA9-4446-AC10-327DC84DA6C8}"/>
              </a:ext>
            </a:extLst>
          </p:cNvPr>
          <p:cNvSpPr/>
          <p:nvPr/>
        </p:nvSpPr>
        <p:spPr>
          <a:xfrm>
            <a:off x="2725380" y="5798522"/>
            <a:ext cx="1205409" cy="65429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selected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FE93AC-2129-4D3A-A078-1AC80505F429}"/>
              </a:ext>
            </a:extLst>
          </p:cNvPr>
          <p:cNvSpPr txBox="1"/>
          <p:nvPr/>
        </p:nvSpPr>
        <p:spPr>
          <a:xfrm>
            <a:off x="4224519" y="6195927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4B37EB-48D0-4D4C-91D9-4952E12D3AF2}"/>
              </a:ext>
            </a:extLst>
          </p:cNvPr>
          <p:cNvSpPr txBox="1"/>
          <p:nvPr/>
        </p:nvSpPr>
        <p:spPr>
          <a:xfrm>
            <a:off x="2198516" y="6018317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53AEE6-F2ED-475D-83F3-7880CC6F3B3C}"/>
              </a:ext>
            </a:extLst>
          </p:cNvPr>
          <p:cNvSpPr/>
          <p:nvPr/>
        </p:nvSpPr>
        <p:spPr>
          <a:xfrm>
            <a:off x="2456761" y="2339681"/>
            <a:ext cx="1573806" cy="39529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 i </a:t>
            </a:r>
            <a:r>
              <a:rPr lang="sv-SE" sz="1200" dirty="0" err="1"/>
              <a:t>selects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 agent (j)</a:t>
            </a:r>
            <a:endParaRPr lang="en-US" sz="12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9F3A43-A420-4B3D-B7FB-D2C69D655BE6}"/>
              </a:ext>
            </a:extLst>
          </p:cNvPr>
          <p:cNvCxnSpPr>
            <a:cxnSpLocks/>
          </p:cNvCxnSpPr>
          <p:nvPr/>
        </p:nvCxnSpPr>
        <p:spPr>
          <a:xfrm flipH="1">
            <a:off x="2151534" y="6337111"/>
            <a:ext cx="364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38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65647" y="2529168"/>
            <a:ext cx="4472962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lab4_1.Nlogo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46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0C60AD-2FE4-421B-B812-553B038FB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308" y="1123452"/>
            <a:ext cx="6438576" cy="51466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C38AF9-4A6B-49E6-B06B-47DAE42E11A7}"/>
              </a:ext>
            </a:extLst>
          </p:cNvPr>
          <p:cNvSpPr/>
          <p:nvPr/>
        </p:nvSpPr>
        <p:spPr>
          <a:xfrm>
            <a:off x="2437609" y="3327456"/>
            <a:ext cx="14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Experiment 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45312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305387" y="2558956"/>
            <a:ext cx="1949981" cy="3167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Compare</a:t>
            </a:r>
            <a:r>
              <a:rPr lang="sv-SE" sz="1200" dirty="0"/>
              <a:t> </a:t>
            </a:r>
            <a:r>
              <a:rPr lang="sv-SE" sz="1200" dirty="0" err="1"/>
              <a:t>current</a:t>
            </a:r>
            <a:r>
              <a:rPr lang="sv-SE" sz="1200" dirty="0"/>
              <a:t> opinions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183468" y="3429000"/>
            <a:ext cx="2120387" cy="1132513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Abs</a:t>
            </a:r>
            <a:r>
              <a:rPr lang="sv-SE" sz="1200" dirty="0"/>
              <a:t> </a:t>
            </a:r>
            <a:r>
              <a:rPr lang="sv-SE" sz="1200" dirty="0" err="1"/>
              <a:t>diff</a:t>
            </a:r>
            <a:r>
              <a:rPr lang="sv-SE" sz="1200" dirty="0"/>
              <a:t> </a:t>
            </a:r>
            <a:r>
              <a:rPr lang="sv-SE" sz="1200" dirty="0" err="1"/>
              <a:t>current</a:t>
            </a:r>
            <a:r>
              <a:rPr lang="sv-SE" sz="1200" dirty="0"/>
              <a:t> opinions  i &amp; j &lt; d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898736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315903" y="5067067"/>
            <a:ext cx="1949976" cy="6542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500" dirty="0" err="1"/>
              <a:t>Adjust</a:t>
            </a:r>
            <a:r>
              <a:rPr lang="sv-SE" sz="1500" dirty="0"/>
              <a:t> agents’ opinions (i ,j)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5"/>
            <a:ext cx="1573806" cy="39529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randomly</a:t>
            </a:r>
            <a:r>
              <a:rPr lang="sv-SE" sz="1200" dirty="0"/>
              <a:t> </a:t>
            </a:r>
            <a:r>
              <a:rPr lang="sv-SE" sz="1200" dirty="0" err="1"/>
              <a:t>two</a:t>
            </a:r>
            <a:r>
              <a:rPr lang="sv-SE" sz="1200" dirty="0"/>
              <a:t> agents (</a:t>
            </a:r>
            <a:r>
              <a:rPr lang="sv-SE" sz="1200" dirty="0" err="1"/>
              <a:t>i.j</a:t>
            </a:r>
            <a:r>
              <a:rPr lang="sv-SE" sz="1200" dirty="0"/>
              <a:t>)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cxnSpLocks/>
            <a:stCxn id="3" idx="4"/>
            <a:endCxn id="18" idx="0"/>
          </p:cNvCxnSpPr>
          <p:nvPr/>
        </p:nvCxnSpPr>
        <p:spPr>
          <a:xfrm>
            <a:off x="3243664" y="1586429"/>
            <a:ext cx="1" cy="28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62019" y="298005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459559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237933" y="4042097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77630" y="459103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4233446" y="3661617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>
            <a:cxnSpLocks/>
          </p:cNvCxnSpPr>
          <p:nvPr/>
        </p:nvCxnSpPr>
        <p:spPr>
          <a:xfrm rot="16200000" flipV="1">
            <a:off x="3734398" y="2527655"/>
            <a:ext cx="1715018" cy="750189"/>
          </a:xfrm>
          <a:prstGeom prst="bentConnector3">
            <a:avLst>
              <a:gd name="adj1" fmla="val 100355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489209" y="3576194"/>
            <a:ext cx="3388512" cy="247527"/>
          </a:xfrm>
          <a:prstGeom prst="bentConnector3">
            <a:avLst>
              <a:gd name="adj1" fmla="val 1002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5303714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opinion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407174" y="54875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983425" y="965223"/>
            <a:ext cx="1906163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Global </a:t>
            </a:r>
            <a:r>
              <a:rPr lang="sv-SE" sz="1200" dirty="0" err="1"/>
              <a:t>variable</a:t>
            </a:r>
            <a:r>
              <a:rPr lang="sv-SE" sz="1200" dirty="0"/>
              <a:t> d &amp; 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# Agents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dirty="0"/>
              <a:t>Agents’ </a:t>
            </a:r>
            <a:r>
              <a:rPr lang="sv-SE" sz="1200" dirty="0" err="1"/>
              <a:t>variable</a:t>
            </a:r>
            <a:r>
              <a:rPr lang="sv-SE" sz="1200" dirty="0"/>
              <a:t>: opinion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63855" y="5011853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07DAAB-3E80-4405-AFBE-3561CD9727ED}"/>
              </a:ext>
            </a:extLst>
          </p:cNvPr>
          <p:cNvSpPr/>
          <p:nvPr/>
        </p:nvSpPr>
        <p:spPr>
          <a:xfrm>
            <a:off x="6544817" y="971213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33131-C1CA-4047-AF5E-F29347E61B7C}"/>
              </a:ext>
            </a:extLst>
          </p:cNvPr>
          <p:cNvSpPr/>
          <p:nvPr/>
        </p:nvSpPr>
        <p:spPr>
          <a:xfrm>
            <a:off x="6544817" y="3496200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2D655-BB3C-4ABF-AC43-4E30FE42FED7}"/>
              </a:ext>
            </a:extLst>
          </p:cNvPr>
          <p:cNvSpPr/>
          <p:nvPr/>
        </p:nvSpPr>
        <p:spPr>
          <a:xfrm>
            <a:off x="4967002" y="1809524"/>
            <a:ext cx="248673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dirty="0"/>
              <a:t>Agents </a:t>
            </a:r>
            <a:r>
              <a:rPr lang="sv-SE" sz="1100" dirty="0" err="1"/>
              <a:t>can</a:t>
            </a:r>
            <a:r>
              <a:rPr lang="sv-SE" sz="1100" dirty="0"/>
              <a:t> </a:t>
            </a:r>
            <a:r>
              <a:rPr lang="sv-SE" sz="1100" dirty="0" err="1"/>
              <a:t>interact</a:t>
            </a:r>
            <a:r>
              <a:rPr lang="sv-SE" sz="1100" dirty="0"/>
              <a:t> </a:t>
            </a:r>
            <a:r>
              <a:rPr lang="sv-SE" sz="1100" dirty="0" err="1"/>
              <a:t>with</a:t>
            </a:r>
            <a:r>
              <a:rPr lang="sv-SE" sz="1100" dirty="0"/>
              <a:t> all </a:t>
            </a:r>
            <a:r>
              <a:rPr lang="sv-SE" sz="1100" dirty="0" err="1"/>
              <a:t>other</a:t>
            </a:r>
            <a:r>
              <a:rPr lang="sv-SE" sz="1100" dirty="0"/>
              <a:t> agents.</a:t>
            </a:r>
          </a:p>
          <a:p>
            <a:r>
              <a:rPr lang="sv-SE" sz="1100" b="1" dirty="0" err="1"/>
              <a:t>Network</a:t>
            </a:r>
            <a:r>
              <a:rPr lang="sv-SE" sz="1100" b="1" dirty="0"/>
              <a:t> </a:t>
            </a:r>
            <a:r>
              <a:rPr lang="sv-SE" sz="1100" b="1" dirty="0" err="1"/>
              <a:t>structure</a:t>
            </a:r>
            <a:r>
              <a:rPr lang="sv-SE" sz="1100" b="1" dirty="0"/>
              <a:t> </a:t>
            </a:r>
            <a:r>
              <a:rPr lang="sv-SE" sz="1100" dirty="0"/>
              <a:t>= </a:t>
            </a:r>
            <a:r>
              <a:rPr lang="sv-SE" sz="1100" dirty="0" err="1"/>
              <a:t>fully</a:t>
            </a:r>
            <a:r>
              <a:rPr lang="sv-SE" sz="1100" dirty="0"/>
              <a:t> </a:t>
            </a:r>
            <a:r>
              <a:rPr lang="sv-SE" sz="1100" dirty="0" err="1"/>
              <a:t>connected</a:t>
            </a:r>
            <a:endParaRPr lang="sv-SE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2B0879-101B-4F42-80AE-92B0EFE346E5}"/>
              </a:ext>
            </a:extLst>
          </p:cNvPr>
          <p:cNvSpPr/>
          <p:nvPr/>
        </p:nvSpPr>
        <p:spPr>
          <a:xfrm>
            <a:off x="8311298" y="965223"/>
            <a:ext cx="1305118" cy="53635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Basic </a:t>
            </a:r>
            <a:r>
              <a:rPr lang="sv-SE" dirty="0" err="1"/>
              <a:t>Model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DB21C5-E336-403A-BA53-85CEE1DB7C40}"/>
              </a:ext>
            </a:extLst>
          </p:cNvPr>
          <p:cNvSpPr/>
          <p:nvPr/>
        </p:nvSpPr>
        <p:spPr>
          <a:xfrm>
            <a:off x="9911335" y="1660274"/>
            <a:ext cx="1874557" cy="415498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/>
              <a:t>How would a different network structure change my results?</a:t>
            </a:r>
          </a:p>
          <a:p>
            <a:endParaRPr lang="en-US" sz="2200" dirty="0"/>
          </a:p>
          <a:p>
            <a:r>
              <a:rPr lang="en-US" sz="2200" dirty="0"/>
              <a:t>What is the effect of networks on belief polarization?</a:t>
            </a:r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val="116337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C38AF9-4A6B-49E6-B06B-47DAE42E11A7}"/>
              </a:ext>
            </a:extLst>
          </p:cNvPr>
          <p:cNvSpPr/>
          <p:nvPr/>
        </p:nvSpPr>
        <p:spPr>
          <a:xfrm>
            <a:off x="2437609" y="3327456"/>
            <a:ext cx="14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Experiment 2</a:t>
            </a: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3865F-380F-46D3-A565-3C87FE15D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929" y="1170555"/>
            <a:ext cx="6297175" cy="503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3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Networks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FAD05F-5C64-44E4-8248-1644FB601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62" y="2639626"/>
            <a:ext cx="3192135" cy="2095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7E87DB-A578-4B87-A2C1-2A560948ECA6}"/>
              </a:ext>
            </a:extLst>
          </p:cNvPr>
          <p:cNvSpPr/>
          <p:nvPr/>
        </p:nvSpPr>
        <p:spPr>
          <a:xfrm>
            <a:off x="2648505" y="2633356"/>
            <a:ext cx="4652181" cy="1763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500" dirty="0" err="1"/>
              <a:t>Network</a:t>
            </a:r>
            <a:r>
              <a:rPr lang="sv-SE" sz="2500" dirty="0"/>
              <a:t> 1: </a:t>
            </a:r>
            <a:r>
              <a:rPr lang="sv-SE" sz="2500" dirty="0" err="1"/>
              <a:t>basic</a:t>
            </a:r>
            <a:r>
              <a:rPr lang="sv-SE" sz="2500" dirty="0"/>
              <a:t> primitives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sv-SE" sz="25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500" dirty="0" err="1"/>
              <a:t>Network</a:t>
            </a:r>
            <a:r>
              <a:rPr lang="sv-SE" sz="2500" dirty="0"/>
              <a:t> 2: diffusion </a:t>
            </a:r>
            <a:r>
              <a:rPr lang="sv-SE" sz="2500" dirty="0" err="1"/>
              <a:t>model</a:t>
            </a:r>
            <a:r>
              <a:rPr lang="sv-SE" sz="2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055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Networks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FAD05F-5C64-44E4-8248-1644FB601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62" y="2639626"/>
            <a:ext cx="3192135" cy="2095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7E87DB-A578-4B87-A2C1-2A560948ECA6}"/>
              </a:ext>
            </a:extLst>
          </p:cNvPr>
          <p:cNvSpPr/>
          <p:nvPr/>
        </p:nvSpPr>
        <p:spPr>
          <a:xfrm>
            <a:off x="2648505" y="2633356"/>
            <a:ext cx="4472962" cy="1186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500" dirty="0" err="1">
                <a:highlight>
                  <a:srgbClr val="FFFF00"/>
                </a:highlight>
              </a:rPr>
              <a:t>Network</a:t>
            </a:r>
            <a:r>
              <a:rPr lang="sv-SE" sz="2500" dirty="0">
                <a:highlight>
                  <a:srgbClr val="FFFF00"/>
                </a:highlight>
              </a:rPr>
              <a:t> 1: </a:t>
            </a:r>
            <a:r>
              <a:rPr lang="sv-SE" sz="2500" dirty="0" err="1">
                <a:highlight>
                  <a:srgbClr val="FFFF00"/>
                </a:highlight>
              </a:rPr>
              <a:t>basic</a:t>
            </a:r>
            <a:r>
              <a:rPr lang="sv-SE" sz="2500" dirty="0">
                <a:highlight>
                  <a:srgbClr val="FFFF00"/>
                </a:highlight>
              </a:rPr>
              <a:t> primitives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500" dirty="0" err="1"/>
              <a:t>Network</a:t>
            </a:r>
            <a:r>
              <a:rPr lang="sv-SE" sz="2500" dirty="0"/>
              <a:t> 2: diffusion </a:t>
            </a:r>
            <a:r>
              <a:rPr lang="sv-SE" sz="2500" dirty="0" err="1"/>
              <a:t>models</a:t>
            </a:r>
            <a:endParaRPr lang="sv-SE" sz="25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88CA4-9B1D-40F2-B5DC-557883712C1C}"/>
              </a:ext>
            </a:extLst>
          </p:cNvPr>
          <p:cNvSpPr/>
          <p:nvPr/>
        </p:nvSpPr>
        <p:spPr>
          <a:xfrm>
            <a:off x="7373317" y="2418711"/>
            <a:ext cx="4472962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Lab4_2.nlogo</a:t>
            </a:r>
          </a:p>
        </p:txBody>
      </p:sp>
    </p:spTree>
    <p:extLst>
      <p:ext uri="{BB962C8B-B14F-4D97-AF65-F5344CB8AC3E}">
        <p14:creationId xmlns:p14="http://schemas.microsoft.com/office/powerpoint/2010/main" val="3540717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55ABC-3BA8-4EC0-A47E-E9224EB219FA}"/>
              </a:ext>
            </a:extLst>
          </p:cNvPr>
          <p:cNvSpPr/>
          <p:nvPr/>
        </p:nvSpPr>
        <p:spPr>
          <a:xfrm>
            <a:off x="2257886" y="1366860"/>
            <a:ext cx="7696819" cy="651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v-SE" sz="2700" dirty="0"/>
              <a:t>Diffusion </a:t>
            </a:r>
            <a:r>
              <a:rPr lang="sv-SE" sz="2700" dirty="0" err="1"/>
              <a:t>Model</a:t>
            </a:r>
            <a:r>
              <a:rPr lang="sv-SE" sz="2700" dirty="0"/>
              <a:t> - Basic </a:t>
            </a:r>
            <a:r>
              <a:rPr lang="sv-SE" sz="2700" dirty="0" err="1"/>
              <a:t>model</a:t>
            </a:r>
            <a:endParaRPr lang="sv-SE" sz="2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7BF75-3C23-4424-945A-B0EDADB48DBA}"/>
              </a:ext>
            </a:extLst>
          </p:cNvPr>
          <p:cNvSpPr/>
          <p:nvPr/>
        </p:nvSpPr>
        <p:spPr>
          <a:xfrm>
            <a:off x="2257886" y="2710915"/>
            <a:ext cx="876204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Drawing on the complex-contagion model, we want to implement a diffusion model with the following goal:</a:t>
            </a:r>
          </a:p>
          <a:p>
            <a:endParaRPr lang="en-US" sz="2200" dirty="0"/>
          </a:p>
          <a:p>
            <a:r>
              <a:rPr lang="en-US" sz="2200" dirty="0"/>
              <a:t>(A) Examine how different </a:t>
            </a:r>
            <a:r>
              <a:rPr lang="en-US" sz="2200" b="1" dirty="0">
                <a:highlight>
                  <a:srgbClr val="FFFF00"/>
                </a:highlight>
              </a:rPr>
              <a:t>network structures </a:t>
            </a:r>
            <a:r>
              <a:rPr lang="en-US" sz="2200" dirty="0"/>
              <a:t>affect </a:t>
            </a:r>
            <a:r>
              <a:rPr lang="en-US" sz="2200" b="1" dirty="0">
                <a:highlight>
                  <a:srgbClr val="FFFF00"/>
                </a:highlight>
              </a:rPr>
              <a:t>diffusion</a:t>
            </a:r>
            <a:r>
              <a:rPr lang="en-US" sz="2200" dirty="0">
                <a:highlight>
                  <a:srgbClr val="FFFF00"/>
                </a:highlight>
              </a:rPr>
              <a:t> </a:t>
            </a:r>
            <a:r>
              <a:rPr lang="en-US" sz="2200" b="1" dirty="0">
                <a:highlight>
                  <a:srgbClr val="FFFF00"/>
                </a:highlight>
              </a:rPr>
              <a:t>processes</a:t>
            </a:r>
            <a:r>
              <a:rPr lang="en-US" sz="2200" dirty="0"/>
              <a:t>. We want to evaluate the network effect of three different types of networks: SW, SF, and RN</a:t>
            </a:r>
          </a:p>
          <a:p>
            <a:endParaRPr lang="en-US" sz="2200" dirty="0"/>
          </a:p>
          <a:p>
            <a:r>
              <a:rPr lang="en-US" sz="2200" dirty="0"/>
              <a:t>(B) We want to model </a:t>
            </a:r>
            <a:r>
              <a:rPr lang="en-US" sz="2200" b="1" dirty="0">
                <a:highlight>
                  <a:srgbClr val="FFFF00"/>
                </a:highlight>
              </a:rPr>
              <a:t>two types of diffusion processes</a:t>
            </a:r>
            <a:r>
              <a:rPr lang="en-US" sz="2200" dirty="0"/>
              <a:t>: (1) agents spread information when they have heard the information from at least one other agent, or (2) agents spread the information according to an individual threshold.</a:t>
            </a:r>
            <a:endParaRPr lang="sv-SE" sz="2200" dirty="0"/>
          </a:p>
        </p:txBody>
      </p:sp>
    </p:spTree>
    <p:extLst>
      <p:ext uri="{BB962C8B-B14F-4D97-AF65-F5344CB8AC3E}">
        <p14:creationId xmlns:p14="http://schemas.microsoft.com/office/powerpoint/2010/main" val="359832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- </a:t>
            </a:r>
            <a:r>
              <a:rPr lang="sv-SE" sz="1200" dirty="0" err="1"/>
              <a:t>Networks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2105881" y="5693184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81190" y="2655201"/>
            <a:ext cx="1573806" cy="39529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up</a:t>
            </a:r>
            <a:r>
              <a:rPr lang="sv-SE" sz="1200" dirty="0"/>
              <a:t> red agents (X) </a:t>
            </a:r>
            <a:endParaRPr lang="en-US" sz="1200" dirty="0"/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3268093" y="4298765"/>
            <a:ext cx="346" cy="23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16737" y="5338156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>
            <a:cxnSpLocks/>
            <a:stCxn id="53" idx="0"/>
          </p:cNvCxnSpPr>
          <p:nvPr/>
        </p:nvCxnSpPr>
        <p:spPr>
          <a:xfrm rot="16200000" flipV="1">
            <a:off x="3190708" y="3071349"/>
            <a:ext cx="2859032" cy="806817"/>
          </a:xfrm>
          <a:prstGeom prst="bentConnector3">
            <a:avLst>
              <a:gd name="adj1" fmla="val 100117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524951" y="5225713"/>
            <a:ext cx="1141358" cy="6001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Count </a:t>
            </a:r>
            <a:r>
              <a:rPr lang="sv-SE" sz="1200" dirty="0" err="1"/>
              <a:t>infected</a:t>
            </a:r>
            <a:endParaRPr lang="sv-SE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3983425" y="965223"/>
            <a:ext cx="184731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sv-SE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4718901" y="4904274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07DAAB-3E80-4405-AFBE-3561CD9727ED}"/>
              </a:ext>
            </a:extLst>
          </p:cNvPr>
          <p:cNvSpPr/>
          <p:nvPr/>
        </p:nvSpPr>
        <p:spPr>
          <a:xfrm>
            <a:off x="6486484" y="1155370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33131-C1CA-4047-AF5E-F29347E61B7C}"/>
              </a:ext>
            </a:extLst>
          </p:cNvPr>
          <p:cNvSpPr/>
          <p:nvPr/>
        </p:nvSpPr>
        <p:spPr>
          <a:xfrm>
            <a:off x="6506234" y="3746084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4BDDD63B-C9FA-404C-8F4A-A5ACCCD05012}"/>
              </a:ext>
            </a:extLst>
          </p:cNvPr>
          <p:cNvSpPr/>
          <p:nvPr/>
        </p:nvSpPr>
        <p:spPr>
          <a:xfrm>
            <a:off x="6096000" y="1086907"/>
            <a:ext cx="275264" cy="57995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24A29C2-819D-44D2-913C-46FF085E1302}"/>
              </a:ext>
            </a:extLst>
          </p:cNvPr>
          <p:cNvSpPr/>
          <p:nvPr/>
        </p:nvSpPr>
        <p:spPr>
          <a:xfrm>
            <a:off x="6063952" y="1912925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53AEE6-F2ED-475D-83F3-7880CC6F3B3C}"/>
              </a:ext>
            </a:extLst>
          </p:cNvPr>
          <p:cNvSpPr/>
          <p:nvPr/>
        </p:nvSpPr>
        <p:spPr>
          <a:xfrm>
            <a:off x="2481190" y="3394859"/>
            <a:ext cx="1646118" cy="66570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X agents </a:t>
            </a:r>
            <a:r>
              <a:rPr lang="sv-SE" sz="1200" dirty="0" err="1"/>
              <a:t>spread</a:t>
            </a:r>
            <a:r>
              <a:rPr lang="sv-SE" sz="1200" dirty="0"/>
              <a:t> information to </a:t>
            </a:r>
            <a:r>
              <a:rPr lang="sv-SE" sz="1200" dirty="0" err="1"/>
              <a:t>their</a:t>
            </a:r>
            <a:r>
              <a:rPr lang="sv-SE" sz="1200" dirty="0"/>
              <a:t> </a:t>
            </a:r>
            <a:r>
              <a:rPr lang="sv-SE" sz="1200" dirty="0" err="1"/>
              <a:t>neighbors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B59FF-638A-4C67-8B81-B967040DC1BA}"/>
              </a:ext>
            </a:extLst>
          </p:cNvPr>
          <p:cNvSpPr/>
          <p:nvPr/>
        </p:nvSpPr>
        <p:spPr>
          <a:xfrm>
            <a:off x="8320570" y="944460"/>
            <a:ext cx="345823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highlight>
                  <a:srgbClr val="FFFF00"/>
                </a:highlight>
              </a:rPr>
              <a:t>Agents</a:t>
            </a:r>
            <a:r>
              <a:rPr lang="sv-SE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 err="1"/>
              <a:t>Type</a:t>
            </a:r>
            <a:r>
              <a:rPr lang="sv-SE" dirty="0"/>
              <a:t>: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one</a:t>
            </a:r>
            <a:endParaRPr lang="sv-S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Decision </a:t>
            </a:r>
            <a:r>
              <a:rPr lang="sv-SE" dirty="0" err="1"/>
              <a:t>rule</a:t>
            </a:r>
            <a:r>
              <a:rPr lang="sv-SE" dirty="0"/>
              <a:t>: </a:t>
            </a:r>
            <a:r>
              <a:rPr lang="sv-SE" dirty="0" err="1"/>
              <a:t>Chooser</a:t>
            </a:r>
            <a:r>
              <a:rPr lang="sv-SE" dirty="0"/>
              <a:t> -&gt; "simple" or "</a:t>
            </a:r>
            <a:r>
              <a:rPr lang="sv-SE" dirty="0" err="1"/>
              <a:t>complex</a:t>
            </a:r>
            <a:r>
              <a:rPr lang="sv-SE" dirty="0"/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Threshold</a:t>
            </a:r>
            <a:endParaRPr lang="sv-S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 err="1"/>
              <a:t>Inititator</a:t>
            </a:r>
            <a:r>
              <a:rPr lang="sv-SE" dirty="0"/>
              <a:t> (red </a:t>
            </a:r>
            <a:r>
              <a:rPr lang="sv-SE" dirty="0" err="1"/>
              <a:t>turtle</a:t>
            </a:r>
            <a:r>
              <a:rPr lang="sv-SE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Global output </a:t>
            </a:r>
            <a:r>
              <a:rPr lang="sv-SE" dirty="0" err="1"/>
              <a:t>variable</a:t>
            </a:r>
            <a:endParaRPr lang="sv-SE" dirty="0"/>
          </a:p>
          <a:p>
            <a:endParaRPr lang="sv-SE" dirty="0"/>
          </a:p>
          <a:p>
            <a:r>
              <a:rPr lang="sv-SE" dirty="0" err="1">
                <a:highlight>
                  <a:srgbClr val="FFFF00"/>
                </a:highlight>
              </a:rPr>
              <a:t>Network</a:t>
            </a:r>
            <a:r>
              <a:rPr lang="sv-SE" dirty="0"/>
              <a:t>:</a:t>
            </a:r>
          </a:p>
          <a:p>
            <a:endParaRPr lang="sv-S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Chooser</a:t>
            </a:r>
            <a:r>
              <a:rPr lang="sv-SE" dirty="0"/>
              <a:t>: "SW", "</a:t>
            </a:r>
            <a:r>
              <a:rPr lang="sv-SE" dirty="0" err="1"/>
              <a:t>Random</a:t>
            </a:r>
            <a:r>
              <a:rPr lang="sv-SE" dirty="0"/>
              <a:t>" or "SF”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DF76B8EA-9C17-48B8-92FD-8A7FC4B78955}"/>
              </a:ext>
            </a:extLst>
          </p:cNvPr>
          <p:cNvSpPr/>
          <p:nvPr/>
        </p:nvSpPr>
        <p:spPr>
          <a:xfrm>
            <a:off x="2361069" y="1711830"/>
            <a:ext cx="1783605" cy="8564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500" dirty="0"/>
              <a:t>Diffuse</a:t>
            </a:r>
            <a:endParaRPr lang="en-US" sz="1500" dirty="0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37286421-6E01-41FE-B1B8-6D9CFCB018A7}"/>
              </a:ext>
            </a:extLst>
          </p:cNvPr>
          <p:cNvSpPr/>
          <p:nvPr/>
        </p:nvSpPr>
        <p:spPr>
          <a:xfrm>
            <a:off x="2361069" y="4653029"/>
            <a:ext cx="1783605" cy="85644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500" dirty="0" err="1"/>
              <a:t>Turn</a:t>
            </a:r>
            <a:r>
              <a:rPr lang="sv-SE" sz="1500" dirty="0"/>
              <a:t> red?</a:t>
            </a:r>
            <a:endParaRPr lang="en-US" sz="15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A9ED30-B285-447B-8B93-2A8D0B0DE0F6}"/>
              </a:ext>
            </a:extLst>
          </p:cNvPr>
          <p:cNvSpPr txBox="1"/>
          <p:nvPr/>
        </p:nvSpPr>
        <p:spPr>
          <a:xfrm>
            <a:off x="3635752" y="5375667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B031FF0-B7A4-40F2-B372-32EE642DEEE9}"/>
              </a:ext>
            </a:extLst>
          </p:cNvPr>
          <p:cNvCxnSpPr>
            <a:cxnSpLocks/>
          </p:cNvCxnSpPr>
          <p:nvPr/>
        </p:nvCxnSpPr>
        <p:spPr>
          <a:xfrm>
            <a:off x="4113557" y="5508189"/>
            <a:ext cx="29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16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87BF75-3C23-4424-945A-B0EDADB48DBA}"/>
              </a:ext>
            </a:extLst>
          </p:cNvPr>
          <p:cNvSpPr/>
          <p:nvPr/>
        </p:nvSpPr>
        <p:spPr>
          <a:xfrm>
            <a:off x="2328909" y="1997839"/>
            <a:ext cx="8128986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500" dirty="0"/>
              <a:t>NetLogo Extensions </a:t>
            </a:r>
          </a:p>
          <a:p>
            <a:endParaRPr lang="sv-SE" sz="2500" dirty="0"/>
          </a:p>
          <a:p>
            <a:r>
              <a:rPr lang="sv-SE" sz="2500" dirty="0" err="1"/>
              <a:t>Netlogo</a:t>
            </a:r>
            <a:r>
              <a:rPr lang="sv-SE" sz="2500" dirty="0"/>
              <a:t> </a:t>
            </a:r>
            <a:r>
              <a:rPr lang="sv-SE" sz="2500" dirty="0" err="1"/>
              <a:t>wegpage</a:t>
            </a:r>
            <a:r>
              <a:rPr lang="sv-SE" sz="2500" dirty="0"/>
              <a:t> -&gt; extensions</a:t>
            </a:r>
          </a:p>
          <a:p>
            <a:r>
              <a:rPr lang="sv-SE" sz="2500" dirty="0">
                <a:hlinkClick r:id="rId3"/>
              </a:rPr>
              <a:t>https://github.com/NetLogo/NetLogo/wiki/Extensions</a:t>
            </a:r>
            <a:endParaRPr lang="sv-SE" sz="2500" dirty="0"/>
          </a:p>
          <a:p>
            <a:endParaRPr lang="sv-SE" sz="2500" dirty="0"/>
          </a:p>
          <a:p>
            <a:r>
              <a:rPr lang="sv-SE" sz="2500" dirty="0"/>
              <a:t>For </a:t>
            </a:r>
            <a:r>
              <a:rPr lang="sv-SE" sz="2500" dirty="0" err="1"/>
              <a:t>our</a:t>
            </a:r>
            <a:r>
              <a:rPr lang="sv-SE" sz="2500" dirty="0"/>
              <a:t> diffusion </a:t>
            </a:r>
            <a:r>
              <a:rPr lang="sv-SE" sz="2500" dirty="0" err="1"/>
              <a:t>model</a:t>
            </a:r>
            <a:r>
              <a:rPr lang="sv-SE" sz="2500" dirty="0"/>
              <a:t> </a:t>
            </a:r>
            <a:r>
              <a:rPr lang="sv-SE" sz="2500" dirty="0" err="1"/>
              <a:t>we</a:t>
            </a:r>
            <a:r>
              <a:rPr lang="sv-SE" sz="2500" dirty="0"/>
              <a:t> </a:t>
            </a:r>
            <a:r>
              <a:rPr lang="sv-SE" sz="2500" dirty="0" err="1"/>
              <a:t>will</a:t>
            </a:r>
            <a:r>
              <a:rPr lang="sv-SE" sz="2500" dirty="0"/>
              <a:t> </a:t>
            </a:r>
            <a:r>
              <a:rPr lang="sv-SE" sz="2500" dirty="0" err="1"/>
              <a:t>use</a:t>
            </a:r>
            <a:r>
              <a:rPr lang="sv-SE" sz="2500" dirty="0"/>
              <a:t> the extension ”</a:t>
            </a:r>
            <a:r>
              <a:rPr lang="sv-SE" sz="2500" dirty="0" err="1">
                <a:highlight>
                  <a:srgbClr val="FFFF00"/>
                </a:highlight>
              </a:rPr>
              <a:t>Network</a:t>
            </a:r>
            <a:r>
              <a:rPr lang="sv-SE" sz="2500" dirty="0"/>
              <a:t>”</a:t>
            </a:r>
          </a:p>
          <a:p>
            <a:endParaRPr lang="sv-SE" sz="2500" dirty="0"/>
          </a:p>
          <a:p>
            <a:pPr marL="342900" indent="-342900">
              <a:buFontTx/>
              <a:buChar char="-"/>
            </a:pPr>
            <a:r>
              <a:rPr lang="sv-SE" sz="2500" dirty="0"/>
              <a:t>It is an </a:t>
            </a:r>
            <a:r>
              <a:rPr lang="sv-SE" sz="2500" dirty="0" err="1"/>
              <a:t>inbuilt</a:t>
            </a:r>
            <a:r>
              <a:rPr lang="sv-SE" sz="2500" dirty="0"/>
              <a:t> extension</a:t>
            </a:r>
          </a:p>
          <a:p>
            <a:pPr marL="342900" indent="-342900">
              <a:buFontTx/>
              <a:buChar char="-"/>
            </a:pPr>
            <a:r>
              <a:rPr lang="en-US" sz="2500" dirty="0"/>
              <a:t>Among other things, it allows us to implement different types of networks</a:t>
            </a:r>
            <a:endParaRPr lang="sv-SE" sz="2500" dirty="0"/>
          </a:p>
          <a:p>
            <a:endParaRPr lang="sv-SE" sz="2500" dirty="0"/>
          </a:p>
          <a:p>
            <a:endParaRPr lang="sv-SE" sz="2500" dirty="0"/>
          </a:p>
          <a:p>
            <a:endParaRPr lang="sv-SE" sz="2500" dirty="0"/>
          </a:p>
        </p:txBody>
      </p:sp>
    </p:spTree>
    <p:extLst>
      <p:ext uri="{BB962C8B-B14F-4D97-AF65-F5344CB8AC3E}">
        <p14:creationId xmlns:p14="http://schemas.microsoft.com/office/powerpoint/2010/main" val="397235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Networks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FAD05F-5C64-44E4-8248-1644FB601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62" y="2639626"/>
            <a:ext cx="3192135" cy="2095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E88CA4-9B1D-40F2-B5DC-557883712C1C}"/>
              </a:ext>
            </a:extLst>
          </p:cNvPr>
          <p:cNvSpPr/>
          <p:nvPr/>
        </p:nvSpPr>
        <p:spPr>
          <a:xfrm>
            <a:off x="3417138" y="2538580"/>
            <a:ext cx="4472962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Lab4_3.nlogo</a:t>
            </a:r>
          </a:p>
        </p:txBody>
      </p:sp>
    </p:spTree>
    <p:extLst>
      <p:ext uri="{BB962C8B-B14F-4D97-AF65-F5344CB8AC3E}">
        <p14:creationId xmlns:p14="http://schemas.microsoft.com/office/powerpoint/2010/main" val="3237002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Networks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5BAE27-8B32-44F2-8D4C-C06C08258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4" y="1349178"/>
            <a:ext cx="7122367" cy="496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3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3EDC27C9-1AF4-4246-97D1-3FC953999662}"/>
</file>

<file path=customXml/itemProps2.xml><?xml version="1.0" encoding="utf-8"?>
<ds:datastoreItem xmlns:ds="http://schemas.openxmlformats.org/officeDocument/2006/customXml" ds:itemID="{6573D353-EEF7-463B-BB01-35E07997BB53}"/>
</file>

<file path=customXml/itemProps3.xml><?xml version="1.0" encoding="utf-8"?>
<ds:datastoreItem xmlns:ds="http://schemas.openxmlformats.org/officeDocument/2006/customXml" ds:itemID="{1E741A16-4212-48BD-8E7E-C6EE9C39D543}"/>
</file>

<file path=docProps/app.xml><?xml version="1.0" encoding="utf-8"?>
<Properties xmlns="http://schemas.openxmlformats.org/officeDocument/2006/extended-properties" xmlns:vt="http://schemas.openxmlformats.org/officeDocument/2006/docPropsVTypes">
  <TotalTime>12319</TotalTime>
  <Words>901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Linköpings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192</cp:revision>
  <dcterms:created xsi:type="dcterms:W3CDTF">2016-09-19T15:22:17Z</dcterms:created>
  <dcterms:modified xsi:type="dcterms:W3CDTF">2026-03-23T07:21:52Z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