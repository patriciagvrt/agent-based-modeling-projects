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368" r:id="rId3"/>
    <p:sldId id="399" r:id="rId4"/>
    <p:sldId id="402" r:id="rId5"/>
    <p:sldId id="391" r:id="rId6"/>
    <p:sldId id="390" r:id="rId7"/>
    <p:sldId id="397" r:id="rId8"/>
    <p:sldId id="403" r:id="rId9"/>
    <p:sldId id="404" r:id="rId10"/>
    <p:sldId id="405" r:id="rId11"/>
    <p:sldId id="406" r:id="rId12"/>
    <p:sldId id="374" r:id="rId13"/>
    <p:sldId id="392" r:id="rId14"/>
    <p:sldId id="408" r:id="rId15"/>
    <p:sldId id="407" r:id="rId16"/>
    <p:sldId id="375" r:id="rId17"/>
    <p:sldId id="38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17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66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7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99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8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5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2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4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4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90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9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6E59B-7513-4EDE-B2E2-29438AA372FB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59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611" y="878861"/>
            <a:ext cx="11660777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6000" dirty="0">
                <a:solidFill>
                  <a:schemeClr val="bg1"/>
                </a:solidFill>
              </a:rPr>
              <a:t>NetLogo </a:t>
            </a:r>
          </a:p>
          <a:p>
            <a:pPr algn="ctr"/>
            <a:r>
              <a:rPr lang="sv-SE" sz="6000" dirty="0">
                <a:solidFill>
                  <a:schemeClr val="bg1"/>
                </a:solidFill>
              </a:rPr>
              <a:t>7.0</a:t>
            </a:r>
          </a:p>
          <a:p>
            <a:pPr algn="ctr"/>
            <a:endParaRPr lang="sv-SE" sz="6000" dirty="0">
              <a:solidFill>
                <a:schemeClr val="bg1"/>
              </a:solidFill>
            </a:endParaRPr>
          </a:p>
          <a:p>
            <a:pPr algn="ctr"/>
            <a:endParaRPr lang="sv-SE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511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1295CD4-9A2D-418B-8A74-CEB9CE7F5764}"/>
              </a:ext>
            </a:extLst>
          </p:cNvPr>
          <p:cNvSpPr/>
          <p:nvPr/>
        </p:nvSpPr>
        <p:spPr>
          <a:xfrm>
            <a:off x="2098590" y="869449"/>
            <a:ext cx="5695582" cy="5884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sv-SE" b="1" u="sng" dirty="0"/>
          </a:p>
          <a:p>
            <a:r>
              <a:rPr lang="sv-SE" sz="1600" b="1" u="sng" dirty="0" err="1"/>
              <a:t>Overview</a:t>
            </a:r>
            <a:r>
              <a:rPr lang="sv-SE" sz="1600" b="1" u="sng" dirty="0"/>
              <a:t> last </a:t>
            </a:r>
            <a:r>
              <a:rPr lang="sv-SE" sz="1600" b="1" u="sng" dirty="0" err="1"/>
              <a:t>week</a:t>
            </a:r>
            <a:endParaRPr lang="sv-SE" sz="1600" b="1" u="sng" dirty="0"/>
          </a:p>
          <a:p>
            <a:endParaRPr lang="sv-SE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Defining turtle variables</a:t>
            </a:r>
            <a:endParaRPr lang="sv-SE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Creating monitors</a:t>
            </a:r>
            <a:endParaRPr lang="sv-SE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Creating plots (histograms and lines)</a:t>
            </a:r>
            <a:endParaRPr lang="sv-SE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Creating a histograms</a:t>
            </a:r>
            <a:endParaRPr lang="sv-SE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Creating choosers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Flowcharts</a:t>
            </a:r>
            <a:endParaRPr lang="sv-SE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sv-SE" sz="1600" dirty="0"/>
              <a:t>Make </a:t>
            </a:r>
            <a:r>
              <a:rPr lang="sv-SE" sz="1600" dirty="0" err="1"/>
              <a:t>behavioral</a:t>
            </a:r>
            <a:r>
              <a:rPr lang="sv-SE" sz="1600" dirty="0"/>
              <a:t> experiments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sv-SE" sz="1600" dirty="0"/>
              <a:t>Basic </a:t>
            </a:r>
            <a:r>
              <a:rPr lang="sv-SE" sz="1600" dirty="0" err="1"/>
              <a:t>models</a:t>
            </a:r>
            <a:r>
              <a:rPr lang="sv-SE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Creating a basic model 1: Simple economy (simple turtle interaction)</a:t>
            </a:r>
            <a:endParaRPr lang="sv-SE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Creating a basic model 2: Fire model (simple patch-based interaction)</a:t>
            </a:r>
            <a:endParaRPr lang="sv-SE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Creating a basic model 3: </a:t>
            </a:r>
            <a:r>
              <a:rPr lang="en-US" sz="1600" b="1" dirty="0"/>
              <a:t>Toni’s problem </a:t>
            </a:r>
            <a:r>
              <a:rPr lang="en-US" sz="1600" dirty="0"/>
              <a:t>(simple turtle-based interaction with movement)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Creating a basic model 4: </a:t>
            </a:r>
            <a:r>
              <a:rPr lang="en-US" sz="1600" b="1" dirty="0"/>
              <a:t>Model 3: I</a:t>
            </a:r>
            <a:r>
              <a:rPr lang="sv-SE" sz="1600" b="1" dirty="0" err="1"/>
              <a:t>ntervention</a:t>
            </a:r>
            <a:r>
              <a:rPr lang="sv-SE" sz="1600" b="1" dirty="0"/>
              <a:t> timing</a:t>
            </a:r>
            <a:r>
              <a:rPr lang="en-US" sz="1600" b="1" dirty="0"/>
              <a:t> </a:t>
            </a:r>
            <a:r>
              <a:rPr lang="en-US" sz="1600" dirty="0"/>
              <a:t>(simple turtle-based interaction with movement)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Creating a basic model 4: </a:t>
            </a:r>
            <a:r>
              <a:rPr lang="en-US" sz="1600" b="1" dirty="0"/>
              <a:t>Schelling model </a:t>
            </a:r>
            <a:r>
              <a:rPr lang="en-US" sz="1600" dirty="0"/>
              <a:t>of segregation (simple patch-based interaction)</a:t>
            </a:r>
            <a:endParaRPr lang="sv-SE" sz="1600" dirty="0"/>
          </a:p>
          <a:p>
            <a:r>
              <a:rPr lang="en-US" dirty="0"/>
              <a:t> </a:t>
            </a:r>
            <a:endParaRPr lang="sv-SE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45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098588" y="1148219"/>
            <a:ext cx="714493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Model 3: </a:t>
            </a:r>
          </a:p>
          <a:p>
            <a:endParaRPr lang="en-US" dirty="0"/>
          </a:p>
          <a:p>
            <a:r>
              <a:rPr lang="en-US" dirty="0"/>
              <a:t>Toni’s problem</a:t>
            </a:r>
          </a:p>
          <a:p>
            <a:endParaRPr lang="en-US" dirty="0"/>
          </a:p>
          <a:p>
            <a:r>
              <a:rPr lang="en-US" b="1" dirty="0"/>
              <a:t>Problem statement:</a:t>
            </a:r>
          </a:p>
          <a:p>
            <a:r>
              <a:rPr lang="en-US" dirty="0"/>
              <a:t>Toni is a single guy who is looking for a partner. In order to do that, he goes to a Rock Festival to collect as many phone numbers as possible. However, he is uncertain about which of the following strategies to pursue to maximize the number of phone numbers:</a:t>
            </a:r>
          </a:p>
          <a:p>
            <a:endParaRPr lang="en-US" dirty="0"/>
          </a:p>
          <a:p>
            <a:r>
              <a:rPr lang="en-US" dirty="0"/>
              <a:t>1) Staying in the center of the Festival all day.</a:t>
            </a:r>
          </a:p>
          <a:p>
            <a:r>
              <a:rPr lang="en-US" dirty="0"/>
              <a:t>2) Walking around in a circle.</a:t>
            </a:r>
          </a:p>
          <a:p>
            <a:r>
              <a:rPr lang="en-US" dirty="0"/>
              <a:t>3) Walking randomly through the Festival.</a:t>
            </a:r>
          </a:p>
        </p:txBody>
      </p:sp>
      <p:pic>
        <p:nvPicPr>
          <p:cNvPr id="9" name="Picture 2" descr="Get a Girl's Phone Number Step 0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555" y="1409705"/>
            <a:ext cx="2155248" cy="241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0024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098588" y="1148219"/>
            <a:ext cx="764257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Let´s help Toni to figure it out!</a:t>
            </a:r>
          </a:p>
          <a:p>
            <a:endParaRPr lang="en-US" b="1" dirty="0"/>
          </a:p>
          <a:p>
            <a:r>
              <a:rPr lang="en-US" b="1" dirty="0"/>
              <a:t>Assumptions: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The Rock Festival is a square field where people walk around in a random fashion.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When Toni meets someone (both on the same patch), he asks for her phone number. People always give their phone numbers to Toni (Deterministic model).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If Toni meets two persons on the same patch, he can only ask one of them (randomly) for her number.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Toni cannot ask the number of the same person twice.</a:t>
            </a:r>
          </a:p>
        </p:txBody>
      </p:sp>
      <p:pic>
        <p:nvPicPr>
          <p:cNvPr id="9" name="Picture 2" descr="Get a Girl's Phone Number Step 0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555" y="1409705"/>
            <a:ext cx="2155248" cy="241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028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Flow</a:t>
            </a:r>
            <a:r>
              <a:rPr lang="sv-SE" sz="3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sv-SE" sz="3000" dirty="0" err="1">
                <a:solidFill>
                  <a:schemeClr val="bg1"/>
                </a:solidFill>
              </a:rPr>
              <a:t>chart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2456761" y="958325"/>
            <a:ext cx="1573806" cy="628104"/>
          </a:xfrm>
          <a:prstGeom prst="parallelogram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 &amp; </a:t>
            </a:r>
            <a:r>
              <a:rPr lang="sv-SE" sz="1200" dirty="0" err="1"/>
              <a:t>environment</a:t>
            </a:r>
            <a:endParaRPr lang="en-US" sz="1200" dirty="0"/>
          </a:p>
        </p:txBody>
      </p:sp>
      <p:sp>
        <p:nvSpPr>
          <p:cNvPr id="5" name="Diamond 4"/>
          <p:cNvSpPr/>
          <p:nvPr/>
        </p:nvSpPr>
        <p:spPr>
          <a:xfrm>
            <a:off x="2236981" y="2373057"/>
            <a:ext cx="3116607" cy="672029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Is </a:t>
            </a:r>
            <a:r>
              <a:rPr lang="sv-SE" sz="1200" dirty="0" err="1"/>
              <a:t>there</a:t>
            </a:r>
            <a:r>
              <a:rPr lang="sv-SE" sz="1200" dirty="0"/>
              <a:t> </a:t>
            </a:r>
            <a:r>
              <a:rPr lang="sv-SE" sz="1200" dirty="0" err="1"/>
              <a:t>anybody</a:t>
            </a:r>
            <a:r>
              <a:rPr lang="sv-SE" sz="1200" dirty="0"/>
              <a:t> at </a:t>
            </a:r>
            <a:r>
              <a:rPr lang="sv-SE" sz="1200" dirty="0" err="1"/>
              <a:t>current</a:t>
            </a:r>
            <a:r>
              <a:rPr lang="sv-SE" sz="1200" dirty="0"/>
              <a:t> </a:t>
            </a:r>
            <a:r>
              <a:rPr lang="sv-SE" sz="1200" dirty="0" err="1"/>
              <a:t>Toni’s</a:t>
            </a:r>
            <a:r>
              <a:rPr lang="sv-SE" sz="1200" dirty="0"/>
              <a:t> </a:t>
            </a:r>
            <a:r>
              <a:rPr lang="sv-SE" sz="1200" dirty="0" err="1"/>
              <a:t>place</a:t>
            </a:r>
            <a:r>
              <a:rPr lang="sv-SE" sz="1200" dirty="0"/>
              <a:t>?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2114390" y="6054849"/>
            <a:ext cx="2214649" cy="30722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Toni gets a new </a:t>
            </a:r>
            <a:r>
              <a:rPr lang="sv-SE" sz="1200" dirty="0" err="1"/>
              <a:t>number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2336690" y="1866986"/>
            <a:ext cx="3189349" cy="27742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Toni </a:t>
            </a:r>
            <a:r>
              <a:rPr lang="sv-SE" sz="1200" dirty="0" err="1"/>
              <a:t>walks</a:t>
            </a:r>
            <a:r>
              <a:rPr lang="sv-SE" sz="1200" dirty="0"/>
              <a:t> / Persons walk</a:t>
            </a:r>
            <a:endParaRPr lang="en-US" sz="1200" dirty="0"/>
          </a:p>
        </p:txBody>
      </p:sp>
      <p:sp>
        <p:nvSpPr>
          <p:cNvPr id="19" name="Diamond 18"/>
          <p:cNvSpPr/>
          <p:nvPr/>
        </p:nvSpPr>
        <p:spPr>
          <a:xfrm>
            <a:off x="3836527" y="4656071"/>
            <a:ext cx="1293510" cy="597296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Toni picks 1</a:t>
            </a:r>
            <a:endParaRPr lang="en-US" sz="1200" dirty="0"/>
          </a:p>
        </p:txBody>
      </p:sp>
      <p:sp>
        <p:nvSpPr>
          <p:cNvPr id="20" name="Rectangle 19"/>
          <p:cNvSpPr/>
          <p:nvPr/>
        </p:nvSpPr>
        <p:spPr>
          <a:xfrm>
            <a:off x="2829622" y="5784930"/>
            <a:ext cx="461057" cy="188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no</a:t>
            </a:r>
            <a:endParaRPr lang="en-US" sz="1200" dirty="0"/>
          </a:p>
        </p:txBody>
      </p:sp>
      <p:cxnSp>
        <p:nvCxnSpPr>
          <p:cNvPr id="22" name="Straight Arrow Connector 21"/>
          <p:cNvCxnSpPr>
            <a:cxnSpLocks/>
            <a:stCxn id="3" idx="4"/>
            <a:endCxn id="18" idx="0"/>
          </p:cNvCxnSpPr>
          <p:nvPr/>
        </p:nvCxnSpPr>
        <p:spPr>
          <a:xfrm>
            <a:off x="3243664" y="1586429"/>
            <a:ext cx="68770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</p:cNvCxnSpPr>
          <p:nvPr/>
        </p:nvCxnSpPr>
        <p:spPr>
          <a:xfrm>
            <a:off x="3095796" y="4615963"/>
            <a:ext cx="281961" cy="667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cxnSpLocks/>
          </p:cNvCxnSpPr>
          <p:nvPr/>
        </p:nvCxnSpPr>
        <p:spPr>
          <a:xfrm rot="5400000" flipH="1" flipV="1">
            <a:off x="69462" y="3970697"/>
            <a:ext cx="4202763" cy="272774"/>
          </a:xfrm>
          <a:prstGeom prst="bentConnector3">
            <a:avLst>
              <a:gd name="adj1" fmla="val 100063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362901" y="899487"/>
            <a:ext cx="1410322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sv-SE" sz="1200" dirty="0"/>
              <a:t>Toni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sv-SE" sz="1200" dirty="0"/>
              <a:t>Persons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sv-SE" sz="1200" dirty="0"/>
              <a:t>Global </a:t>
            </a:r>
            <a:r>
              <a:rPr lang="sv-SE" sz="1200" dirty="0" err="1"/>
              <a:t>variables</a:t>
            </a:r>
            <a:endParaRPr lang="sv-SE" sz="12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sv-SE" sz="1200" dirty="0"/>
              <a:t>Festival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73743" y="1202493"/>
            <a:ext cx="1674564" cy="412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setup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6973743" y="3661158"/>
            <a:ext cx="1674564" cy="96089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Go</a:t>
            </a:r>
            <a:endParaRPr lang="en-US" dirty="0"/>
          </a:p>
        </p:txBody>
      </p:sp>
      <p:sp>
        <p:nvSpPr>
          <p:cNvPr id="56" name="Right Brace 55"/>
          <p:cNvSpPr/>
          <p:nvPr/>
        </p:nvSpPr>
        <p:spPr>
          <a:xfrm>
            <a:off x="6283195" y="1202493"/>
            <a:ext cx="259012" cy="36600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Brace 56"/>
          <p:cNvSpPr/>
          <p:nvPr/>
        </p:nvSpPr>
        <p:spPr>
          <a:xfrm>
            <a:off x="6300429" y="1827999"/>
            <a:ext cx="258030" cy="462721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81F51E1A-D824-43F5-892F-A1B5EADCB1A6}"/>
              </a:ext>
            </a:extLst>
          </p:cNvPr>
          <p:cNvSpPr/>
          <p:nvPr/>
        </p:nvSpPr>
        <p:spPr>
          <a:xfrm>
            <a:off x="2983205" y="3297439"/>
            <a:ext cx="1641186" cy="549130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How</a:t>
            </a:r>
            <a:r>
              <a:rPr lang="sv-SE" sz="1200" dirty="0"/>
              <a:t> </a:t>
            </a:r>
            <a:r>
              <a:rPr lang="sv-SE" sz="1200" dirty="0" err="1"/>
              <a:t>many</a:t>
            </a:r>
            <a:r>
              <a:rPr lang="sv-SE" sz="1200" dirty="0"/>
              <a:t>?</a:t>
            </a:r>
            <a:endParaRPr lang="en-US" sz="1200" dirty="0"/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0BE6FD17-7D59-4E27-A977-6E2F88E699A9}"/>
              </a:ext>
            </a:extLst>
          </p:cNvPr>
          <p:cNvSpPr/>
          <p:nvPr/>
        </p:nvSpPr>
        <p:spPr>
          <a:xfrm>
            <a:off x="3820476" y="4036691"/>
            <a:ext cx="1291961" cy="549130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More</a:t>
            </a:r>
            <a:r>
              <a:rPr lang="sv-SE" sz="1200" dirty="0"/>
              <a:t> </a:t>
            </a:r>
            <a:r>
              <a:rPr lang="sv-SE" sz="1200" dirty="0" err="1"/>
              <a:t>than</a:t>
            </a:r>
            <a:r>
              <a:rPr lang="sv-SE" sz="1200" dirty="0"/>
              <a:t> 1</a:t>
            </a:r>
            <a:endParaRPr lang="en-US" sz="1200" dirty="0"/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30F070F0-89A2-4124-81F9-950F552E47A5}"/>
              </a:ext>
            </a:extLst>
          </p:cNvPr>
          <p:cNvSpPr/>
          <p:nvPr/>
        </p:nvSpPr>
        <p:spPr>
          <a:xfrm>
            <a:off x="2519013" y="4019594"/>
            <a:ext cx="1173054" cy="549130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Only</a:t>
            </a:r>
            <a:r>
              <a:rPr lang="sv-SE" sz="1200" dirty="0"/>
              <a:t> 1</a:t>
            </a:r>
            <a:endParaRPr lang="en-US" sz="1200" dirty="0"/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81CFC277-B85C-4CF9-B4CA-2133E2070D19}"/>
              </a:ext>
            </a:extLst>
          </p:cNvPr>
          <p:cNvSpPr/>
          <p:nvPr/>
        </p:nvSpPr>
        <p:spPr>
          <a:xfrm>
            <a:off x="2641230" y="5259217"/>
            <a:ext cx="2327243" cy="597296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Is she been asked before?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AE6F919-FE9D-4837-8107-24EDE46F06B3}"/>
              </a:ext>
            </a:extLst>
          </p:cNvPr>
          <p:cNvSpPr/>
          <p:nvPr/>
        </p:nvSpPr>
        <p:spPr>
          <a:xfrm>
            <a:off x="3569510" y="3082613"/>
            <a:ext cx="461057" cy="188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yes</a:t>
            </a:r>
            <a:endParaRPr lang="en-US" sz="12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63808F2-E4D5-4DD0-B910-A9D62D7D0DCF}"/>
              </a:ext>
            </a:extLst>
          </p:cNvPr>
          <p:cNvSpPr/>
          <p:nvPr/>
        </p:nvSpPr>
        <p:spPr>
          <a:xfrm>
            <a:off x="4565025" y="5810361"/>
            <a:ext cx="461057" cy="188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yes</a:t>
            </a:r>
            <a:endParaRPr lang="en-US" sz="12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D752B4C-F291-4F69-9D96-7F03E8A39AA4}"/>
              </a:ext>
            </a:extLst>
          </p:cNvPr>
          <p:cNvSpPr/>
          <p:nvPr/>
        </p:nvSpPr>
        <p:spPr>
          <a:xfrm>
            <a:off x="4579470" y="3096939"/>
            <a:ext cx="461057" cy="188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no</a:t>
            </a:r>
            <a:endParaRPr lang="en-US" sz="1200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36B833E-9B77-450F-980A-6878B9C48FCD}"/>
              </a:ext>
            </a:extLst>
          </p:cNvPr>
          <p:cNvCxnSpPr>
            <a:cxnSpLocks/>
          </p:cNvCxnSpPr>
          <p:nvPr/>
        </p:nvCxnSpPr>
        <p:spPr>
          <a:xfrm flipH="1">
            <a:off x="3290679" y="3801352"/>
            <a:ext cx="174156" cy="258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5834319-856D-428C-9C26-21AD86C84AF1}"/>
              </a:ext>
            </a:extLst>
          </p:cNvPr>
          <p:cNvCxnSpPr>
            <a:cxnSpLocks/>
          </p:cNvCxnSpPr>
          <p:nvPr/>
        </p:nvCxnSpPr>
        <p:spPr>
          <a:xfrm>
            <a:off x="4236500" y="3772730"/>
            <a:ext cx="49562" cy="254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4F787D1-C0A9-41F6-818E-742E3C6BCB87}"/>
              </a:ext>
            </a:extLst>
          </p:cNvPr>
          <p:cNvCxnSpPr>
            <a:cxnSpLocks/>
          </p:cNvCxnSpPr>
          <p:nvPr/>
        </p:nvCxnSpPr>
        <p:spPr>
          <a:xfrm flipH="1">
            <a:off x="4321597" y="5289846"/>
            <a:ext cx="144858" cy="83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Elbow Connector 37">
            <a:extLst>
              <a:ext uri="{FF2B5EF4-FFF2-40B4-BE49-F238E27FC236}">
                <a16:creationId xmlns:a16="http://schemas.microsoft.com/office/drawing/2014/main" id="{6346CB1A-5EFB-405D-96E9-F8FC952DDED0}"/>
              </a:ext>
            </a:extLst>
          </p:cNvPr>
          <p:cNvCxnSpPr>
            <a:cxnSpLocks/>
          </p:cNvCxnSpPr>
          <p:nvPr/>
        </p:nvCxnSpPr>
        <p:spPr>
          <a:xfrm rot="16200000" flipV="1">
            <a:off x="3685256" y="3787328"/>
            <a:ext cx="4016107" cy="352823"/>
          </a:xfrm>
          <a:prstGeom prst="bentConnector3">
            <a:avLst>
              <a:gd name="adj1" fmla="val 99958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865DE7A-D510-4857-B4E6-AC9D904B3743}"/>
              </a:ext>
            </a:extLst>
          </p:cNvPr>
          <p:cNvCxnSpPr/>
          <p:nvPr/>
        </p:nvCxnSpPr>
        <p:spPr>
          <a:xfrm>
            <a:off x="5112437" y="3190993"/>
            <a:ext cx="7572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8CC2A60-9265-4D72-AC48-B079C208E261}"/>
              </a:ext>
            </a:extLst>
          </p:cNvPr>
          <p:cNvCxnSpPr/>
          <p:nvPr/>
        </p:nvCxnSpPr>
        <p:spPr>
          <a:xfrm>
            <a:off x="5130037" y="5959427"/>
            <a:ext cx="7572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B836C08-C1BE-2F83-306A-398EDC90D26E}"/>
              </a:ext>
            </a:extLst>
          </p:cNvPr>
          <p:cNvCxnSpPr>
            <a:cxnSpLocks/>
          </p:cNvCxnSpPr>
          <p:nvPr/>
        </p:nvCxnSpPr>
        <p:spPr>
          <a:xfrm flipH="1">
            <a:off x="3785061" y="2129033"/>
            <a:ext cx="8501" cy="16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213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739280" y="2529168"/>
            <a:ext cx="4518599" cy="231641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800" dirty="0" err="1"/>
              <a:t>Let’s</a:t>
            </a:r>
            <a:r>
              <a:rPr lang="sv-SE" sz="2800" dirty="0"/>
              <a:t> go to NetLogo!!!</a:t>
            </a:r>
          </a:p>
          <a:p>
            <a:pPr algn="ctr"/>
            <a:r>
              <a:rPr lang="en-US" sz="2800" dirty="0"/>
              <a:t>File: lab2_4.Nlogo</a:t>
            </a:r>
          </a:p>
        </p:txBody>
      </p:sp>
      <p:pic>
        <p:nvPicPr>
          <p:cNvPr id="9" name="Picture 2" descr="Image result for crazy comp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301" y="2768213"/>
            <a:ext cx="2740026" cy="176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22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37B6D6-4768-401E-B26E-2304F5721316}"/>
              </a:ext>
            </a:extLst>
          </p:cNvPr>
          <p:cNvSpPr txBox="1"/>
          <p:nvPr/>
        </p:nvSpPr>
        <p:spPr>
          <a:xfrm>
            <a:off x="2542458" y="2673689"/>
            <a:ext cx="61706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Staying in the center of the Festival all day.</a:t>
            </a:r>
          </a:p>
          <a:p>
            <a:pPr marL="342900" indent="-342900">
              <a:buAutoNum type="arabicParenR"/>
            </a:pPr>
            <a:endParaRPr lang="en-US" dirty="0"/>
          </a:p>
          <a:p>
            <a:r>
              <a:rPr lang="en-US" dirty="0"/>
              <a:t>2) Walking around in a circle.</a:t>
            </a:r>
          </a:p>
          <a:p>
            <a:endParaRPr lang="en-US" dirty="0"/>
          </a:p>
          <a:p>
            <a:r>
              <a:rPr lang="en-US" dirty="0"/>
              <a:t>3) Walking randomly through the Festival.</a:t>
            </a:r>
          </a:p>
          <a:p>
            <a:endParaRPr lang="en-US" dirty="0"/>
          </a:p>
        </p:txBody>
      </p:sp>
      <p:pic>
        <p:nvPicPr>
          <p:cNvPr id="9" name="Picture 2" descr="Get a Girl's Phone Number Step 05.jpg">
            <a:extLst>
              <a:ext uri="{FF2B5EF4-FFF2-40B4-BE49-F238E27FC236}">
                <a16:creationId xmlns:a16="http://schemas.microsoft.com/office/drawing/2014/main" id="{E40D4648-B647-465C-B19F-1A91C737E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102" y="2342767"/>
            <a:ext cx="2155248" cy="241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83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37B6D6-4768-401E-B26E-2304F5721316}"/>
              </a:ext>
            </a:extLst>
          </p:cNvPr>
          <p:cNvSpPr txBox="1"/>
          <p:nvPr/>
        </p:nvSpPr>
        <p:spPr>
          <a:xfrm>
            <a:off x="2098589" y="1711629"/>
            <a:ext cx="61706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 policymaker is evaluating which non-pharmaceutical interventions he must implement in order to prevent the spread of a virus. Since there is a lot of uncertainty about how to proceed, she needs more information to make a decision. One piece of information she needs to know is how effective would be the intervention given to the current diffusion rate of the virus.</a:t>
            </a:r>
          </a:p>
          <a:p>
            <a:endParaRPr lang="en-US" dirty="0"/>
          </a:p>
          <a:p>
            <a:r>
              <a:rPr lang="en-US" b="1" dirty="0"/>
              <a:t>Potential interventions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Close borders (hard = nobody can get in or get out from a specific region)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Social distance (hard = only 5% of the population can move around)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Nothing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C40A8D-D1FF-4B1E-8D95-09F2FD6F6297}"/>
              </a:ext>
            </a:extLst>
          </p:cNvPr>
          <p:cNvSpPr txBox="1"/>
          <p:nvPr/>
        </p:nvSpPr>
        <p:spPr>
          <a:xfrm>
            <a:off x="2098589" y="1176053"/>
            <a:ext cx="6170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Model 3: I</a:t>
            </a:r>
            <a:r>
              <a:rPr lang="sv-SE" b="1" dirty="0" err="1"/>
              <a:t>ntervention</a:t>
            </a:r>
            <a:r>
              <a:rPr lang="sv-SE" b="1" dirty="0"/>
              <a:t> timing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5525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098589" y="1148219"/>
            <a:ext cx="58946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b="1" dirty="0"/>
              <a:t>Assumptions:</a:t>
            </a:r>
          </a:p>
          <a:p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world ("country") is composed of 4 regions as described in the figure.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People move randomly over the world.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There is one agent which carries the virus and is able to infect others.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Transmission occurs when an infected agent is in the same patch with another non-infected.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recovery time for an infected agent is 20 days (ticks). After that she is not contagious anymore.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D2F91D-8A69-42A5-8C2A-B34665EAE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419" y="1964101"/>
            <a:ext cx="3831751" cy="240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89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Flow</a:t>
            </a:r>
            <a:r>
              <a:rPr lang="sv-SE" sz="3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sv-SE" sz="3000" dirty="0" err="1">
                <a:solidFill>
                  <a:schemeClr val="bg1"/>
                </a:solidFill>
              </a:rPr>
              <a:t>chart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2456761" y="958325"/>
            <a:ext cx="1573806" cy="628104"/>
          </a:xfrm>
          <a:prstGeom prst="parallelogram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 &amp; </a:t>
            </a:r>
            <a:r>
              <a:rPr lang="sv-SE" sz="1200" dirty="0" err="1"/>
              <a:t>environment</a:t>
            </a:r>
            <a:endParaRPr lang="en-US" sz="1200" dirty="0"/>
          </a:p>
        </p:txBody>
      </p:sp>
      <p:sp>
        <p:nvSpPr>
          <p:cNvPr id="5" name="Diamond 4"/>
          <p:cNvSpPr/>
          <p:nvPr/>
        </p:nvSpPr>
        <p:spPr>
          <a:xfrm>
            <a:off x="2302867" y="2266181"/>
            <a:ext cx="3116607" cy="672029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Infected</a:t>
            </a:r>
            <a:r>
              <a:rPr lang="sv-SE" sz="1200" dirty="0"/>
              <a:t> and non-</a:t>
            </a:r>
            <a:r>
              <a:rPr lang="sv-SE" sz="1200" dirty="0" err="1"/>
              <a:t>infected</a:t>
            </a:r>
            <a:r>
              <a:rPr lang="sv-SE" sz="1200" dirty="0"/>
              <a:t> same </a:t>
            </a:r>
            <a:r>
              <a:rPr lang="sv-SE" sz="1200" dirty="0" err="1"/>
              <a:t>patch</a:t>
            </a:r>
            <a:r>
              <a:rPr lang="sv-SE" sz="1200" dirty="0"/>
              <a:t>?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2336690" y="1866986"/>
            <a:ext cx="3189349" cy="27742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 walk</a:t>
            </a:r>
            <a:endParaRPr lang="en-US" sz="1200" dirty="0"/>
          </a:p>
        </p:txBody>
      </p:sp>
      <p:cxnSp>
        <p:nvCxnSpPr>
          <p:cNvPr id="22" name="Straight Arrow Connector 21"/>
          <p:cNvCxnSpPr>
            <a:cxnSpLocks/>
            <a:stCxn id="3" idx="4"/>
            <a:endCxn id="18" idx="0"/>
          </p:cNvCxnSpPr>
          <p:nvPr/>
        </p:nvCxnSpPr>
        <p:spPr>
          <a:xfrm>
            <a:off x="3243664" y="1586429"/>
            <a:ext cx="68770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cxnSpLocks/>
          </p:cNvCxnSpPr>
          <p:nvPr/>
        </p:nvCxnSpPr>
        <p:spPr>
          <a:xfrm rot="5400000" flipH="1" flipV="1">
            <a:off x="516980" y="3606493"/>
            <a:ext cx="3391040" cy="189461"/>
          </a:xfrm>
          <a:prstGeom prst="bentConnector3">
            <a:avLst>
              <a:gd name="adj1" fmla="val 100078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362901" y="899487"/>
            <a:ext cx="1496402" cy="9387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sv-SE" sz="1100" dirty="0"/>
              <a:t>Agents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sv-SE" sz="1100" dirty="0"/>
              <a:t>Initiator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sv-SE" sz="1100" dirty="0"/>
              <a:t>Global </a:t>
            </a:r>
            <a:r>
              <a:rPr lang="sv-SE" sz="1100" dirty="0" err="1"/>
              <a:t>variables</a:t>
            </a:r>
            <a:endParaRPr lang="sv-SE" sz="11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sv-SE" sz="1100" dirty="0"/>
              <a:t>World (regions)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sv-SE" sz="1100" dirty="0">
                <a:highlight>
                  <a:srgbClr val="00FF00"/>
                </a:highlight>
              </a:rPr>
              <a:t>Interventions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00111" y="1187846"/>
            <a:ext cx="1674564" cy="412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setup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7956178" y="3661158"/>
            <a:ext cx="1674564" cy="96089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Go</a:t>
            </a:r>
            <a:endParaRPr lang="en-US" dirty="0"/>
          </a:p>
        </p:txBody>
      </p:sp>
      <p:sp>
        <p:nvSpPr>
          <p:cNvPr id="56" name="Right Brace 55"/>
          <p:cNvSpPr/>
          <p:nvPr/>
        </p:nvSpPr>
        <p:spPr>
          <a:xfrm>
            <a:off x="7172714" y="1204145"/>
            <a:ext cx="259012" cy="36600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Brace 56"/>
          <p:cNvSpPr/>
          <p:nvPr/>
        </p:nvSpPr>
        <p:spPr>
          <a:xfrm>
            <a:off x="7172714" y="1802155"/>
            <a:ext cx="258030" cy="462721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81F51E1A-D824-43F5-892F-A1B5EADCB1A6}"/>
              </a:ext>
            </a:extLst>
          </p:cNvPr>
          <p:cNvSpPr/>
          <p:nvPr/>
        </p:nvSpPr>
        <p:spPr>
          <a:xfrm>
            <a:off x="2984258" y="3298389"/>
            <a:ext cx="1641186" cy="549130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/>
              <a:t>Non-</a:t>
            </a:r>
            <a:r>
              <a:rPr lang="sv-SE" sz="800" dirty="0" err="1"/>
              <a:t>infected</a:t>
            </a:r>
            <a:r>
              <a:rPr lang="sv-SE" sz="800" dirty="0"/>
              <a:t> </a:t>
            </a:r>
            <a:r>
              <a:rPr lang="sv-SE" sz="800" dirty="0" err="1"/>
              <a:t>becomes</a:t>
            </a:r>
            <a:r>
              <a:rPr lang="sv-SE" sz="800" dirty="0"/>
              <a:t> </a:t>
            </a:r>
            <a:r>
              <a:rPr lang="sv-SE" sz="800" dirty="0" err="1"/>
              <a:t>infected</a:t>
            </a:r>
            <a:endParaRPr lang="en-US" sz="8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AE6F919-FE9D-4837-8107-24EDE46F06B3}"/>
              </a:ext>
            </a:extLst>
          </p:cNvPr>
          <p:cNvSpPr/>
          <p:nvPr/>
        </p:nvSpPr>
        <p:spPr>
          <a:xfrm>
            <a:off x="3574321" y="3083813"/>
            <a:ext cx="461057" cy="188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yes</a:t>
            </a:r>
            <a:endParaRPr lang="en-US" sz="12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D752B4C-F291-4F69-9D96-7F03E8A39AA4}"/>
              </a:ext>
            </a:extLst>
          </p:cNvPr>
          <p:cNvSpPr/>
          <p:nvPr/>
        </p:nvSpPr>
        <p:spPr>
          <a:xfrm>
            <a:off x="4549353" y="3034004"/>
            <a:ext cx="461057" cy="188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no</a:t>
            </a:r>
            <a:endParaRPr lang="en-US" sz="12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5834319-856D-428C-9C26-21AD86C84AF1}"/>
              </a:ext>
            </a:extLst>
          </p:cNvPr>
          <p:cNvCxnSpPr>
            <a:cxnSpLocks/>
          </p:cNvCxnSpPr>
          <p:nvPr/>
        </p:nvCxnSpPr>
        <p:spPr>
          <a:xfrm>
            <a:off x="4138474" y="4431780"/>
            <a:ext cx="0" cy="128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Elbow Connector 37">
            <a:extLst>
              <a:ext uri="{FF2B5EF4-FFF2-40B4-BE49-F238E27FC236}">
                <a16:creationId xmlns:a16="http://schemas.microsoft.com/office/drawing/2014/main" id="{6346CB1A-5EFB-405D-96E9-F8FC952DDED0}"/>
              </a:ext>
            </a:extLst>
          </p:cNvPr>
          <p:cNvCxnSpPr>
            <a:cxnSpLocks/>
          </p:cNvCxnSpPr>
          <p:nvPr/>
        </p:nvCxnSpPr>
        <p:spPr>
          <a:xfrm rot="16200000" flipV="1">
            <a:off x="5132148" y="2382306"/>
            <a:ext cx="1158307" cy="333197"/>
          </a:xfrm>
          <a:prstGeom prst="bentConnector3">
            <a:avLst>
              <a:gd name="adj1" fmla="val 100480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865DE7A-D510-4857-B4E6-AC9D904B3743}"/>
              </a:ext>
            </a:extLst>
          </p:cNvPr>
          <p:cNvCxnSpPr/>
          <p:nvPr/>
        </p:nvCxnSpPr>
        <p:spPr>
          <a:xfrm>
            <a:off x="5102019" y="3128058"/>
            <a:ext cx="7572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8CC2A60-9265-4D72-AC48-B079C208E261}"/>
              </a:ext>
            </a:extLst>
          </p:cNvPr>
          <p:cNvCxnSpPr/>
          <p:nvPr/>
        </p:nvCxnSpPr>
        <p:spPr>
          <a:xfrm>
            <a:off x="2120391" y="5397019"/>
            <a:ext cx="7572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A014361-F67A-4932-AC74-77E0A8414DA3}"/>
              </a:ext>
            </a:extLst>
          </p:cNvPr>
          <p:cNvSpPr/>
          <p:nvPr/>
        </p:nvSpPr>
        <p:spPr>
          <a:xfrm>
            <a:off x="3294721" y="3963739"/>
            <a:ext cx="1020259" cy="4680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recovery time minus one for </a:t>
            </a:r>
            <a:r>
              <a:rPr lang="en-US" sz="900" dirty="0" err="1"/>
              <a:t>intected</a:t>
            </a:r>
            <a:endParaRPr lang="en-US" sz="9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F45322-245A-46B0-8E8D-6328A5AAB16C}"/>
              </a:ext>
            </a:extLst>
          </p:cNvPr>
          <p:cNvSpPr/>
          <p:nvPr/>
        </p:nvSpPr>
        <p:spPr>
          <a:xfrm>
            <a:off x="3403109" y="4563231"/>
            <a:ext cx="815351" cy="46804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Calculate % infected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4E0AEF-DFBC-4FC1-A94D-7572FD1B22D3}"/>
              </a:ext>
            </a:extLst>
          </p:cNvPr>
          <p:cNvSpPr/>
          <p:nvPr/>
        </p:nvSpPr>
        <p:spPr>
          <a:xfrm>
            <a:off x="3171162" y="5162723"/>
            <a:ext cx="1220202" cy="4680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If (% infected &gt; threshold ) [ Activate intervention]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983C727-8FA6-42AD-A4A6-DADF80D8C2FB}"/>
              </a:ext>
            </a:extLst>
          </p:cNvPr>
          <p:cNvSpPr/>
          <p:nvPr/>
        </p:nvSpPr>
        <p:spPr>
          <a:xfrm>
            <a:off x="5057603" y="2927987"/>
            <a:ext cx="754562" cy="43547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Calculate % infected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64FC374-2B72-4AC3-853B-0C0B27378FEE}"/>
              </a:ext>
            </a:extLst>
          </p:cNvPr>
          <p:cNvCxnSpPr>
            <a:cxnSpLocks/>
          </p:cNvCxnSpPr>
          <p:nvPr/>
        </p:nvCxnSpPr>
        <p:spPr>
          <a:xfrm>
            <a:off x="4138474" y="3791125"/>
            <a:ext cx="0" cy="128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B9C71FE-7113-4F71-9E38-E77FF991B183}"/>
              </a:ext>
            </a:extLst>
          </p:cNvPr>
          <p:cNvCxnSpPr>
            <a:cxnSpLocks/>
          </p:cNvCxnSpPr>
          <p:nvPr/>
        </p:nvCxnSpPr>
        <p:spPr>
          <a:xfrm>
            <a:off x="4186150" y="5034346"/>
            <a:ext cx="0" cy="128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3269E9F-ACE4-493E-9AB5-5DA1A955C9C9}"/>
              </a:ext>
            </a:extLst>
          </p:cNvPr>
          <p:cNvCxnSpPr>
            <a:cxnSpLocks/>
          </p:cNvCxnSpPr>
          <p:nvPr/>
        </p:nvCxnSpPr>
        <p:spPr>
          <a:xfrm>
            <a:off x="4030567" y="2938210"/>
            <a:ext cx="463611" cy="145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017075C-90FE-45E2-B57E-240ABE90868F}"/>
              </a:ext>
            </a:extLst>
          </p:cNvPr>
          <p:cNvCxnSpPr>
            <a:cxnSpLocks/>
          </p:cNvCxnSpPr>
          <p:nvPr/>
        </p:nvCxnSpPr>
        <p:spPr>
          <a:xfrm>
            <a:off x="3853742" y="2932901"/>
            <a:ext cx="0" cy="128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DAB0CB0-D453-4A97-A8ED-9E4804B2EDFB}"/>
              </a:ext>
            </a:extLst>
          </p:cNvPr>
          <p:cNvSpPr txBox="1"/>
          <p:nvPr/>
        </p:nvSpPr>
        <p:spPr>
          <a:xfrm>
            <a:off x="4758810" y="5098534"/>
            <a:ext cx="153445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100" dirty="0" err="1"/>
              <a:t>This</a:t>
            </a:r>
            <a:r>
              <a:rPr lang="sv-SE" sz="1100" dirty="0"/>
              <a:t> </a:t>
            </a:r>
            <a:r>
              <a:rPr lang="sv-SE" sz="1100" dirty="0" err="1"/>
              <a:t>threshold</a:t>
            </a:r>
            <a:r>
              <a:rPr lang="sv-SE" sz="1100" dirty="0"/>
              <a:t> is the </a:t>
            </a:r>
            <a:r>
              <a:rPr lang="sv-SE" sz="1100" dirty="0" err="1"/>
              <a:t>variable</a:t>
            </a:r>
            <a:r>
              <a:rPr lang="sv-SE" sz="1100" dirty="0"/>
              <a:t> </a:t>
            </a:r>
            <a:r>
              <a:rPr lang="sv-SE" sz="1100" dirty="0" err="1"/>
              <a:t>of</a:t>
            </a:r>
            <a:r>
              <a:rPr lang="sv-SE" sz="1100" dirty="0"/>
              <a:t> </a:t>
            </a:r>
            <a:r>
              <a:rPr lang="sv-SE" sz="1100" dirty="0" err="1"/>
              <a:t>interest</a:t>
            </a:r>
            <a:r>
              <a:rPr lang="sv-SE" sz="1100" dirty="0"/>
              <a:t> in the </a:t>
            </a:r>
            <a:r>
              <a:rPr lang="sv-SE" sz="1100" dirty="0" err="1"/>
              <a:t>model</a:t>
            </a:r>
            <a:endParaRPr lang="sv-SE" sz="1100" dirty="0"/>
          </a:p>
        </p:txBody>
      </p:sp>
    </p:spTree>
    <p:extLst>
      <p:ext uri="{BB962C8B-B14F-4D97-AF65-F5344CB8AC3E}">
        <p14:creationId xmlns:p14="http://schemas.microsoft.com/office/powerpoint/2010/main" val="27235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739280" y="2529168"/>
            <a:ext cx="4518599" cy="231641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800" dirty="0" err="1"/>
              <a:t>Let’s</a:t>
            </a:r>
            <a:r>
              <a:rPr lang="sv-SE" sz="2800" dirty="0"/>
              <a:t> go to NetLogo!!!</a:t>
            </a:r>
          </a:p>
          <a:p>
            <a:pPr algn="ctr"/>
            <a:r>
              <a:rPr lang="en-US" sz="2800" dirty="0"/>
              <a:t>File: lab2_6.Nlogo</a:t>
            </a:r>
          </a:p>
        </p:txBody>
      </p:sp>
      <p:pic>
        <p:nvPicPr>
          <p:cNvPr id="9" name="Picture 2" descr="Image result for crazy comp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301" y="2768213"/>
            <a:ext cx="2740026" cy="176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383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2047164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>
                <a:solidFill>
                  <a:schemeClr val="bg1"/>
                </a:solidFill>
              </a:rPr>
              <a:t>Segregation </a:t>
            </a:r>
            <a:r>
              <a:rPr lang="sv-SE" sz="3000" dirty="0" err="1">
                <a:solidFill>
                  <a:schemeClr val="bg1"/>
                </a:solidFill>
              </a:rPr>
              <a:t>Model</a:t>
            </a:r>
            <a:endParaRPr lang="sv-SE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1026" name="Picture 2" descr="Image result for schelling thoma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752" y="1517104"/>
            <a:ext cx="3419475" cy="393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92777" y="1746068"/>
            <a:ext cx="6199223" cy="316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205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Flow</a:t>
            </a:r>
            <a:r>
              <a:rPr lang="sv-SE" sz="3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sv-SE" sz="3000" dirty="0" err="1">
                <a:solidFill>
                  <a:schemeClr val="bg1"/>
                </a:solidFill>
              </a:rPr>
              <a:t>chart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2456761" y="1136641"/>
            <a:ext cx="1573806" cy="449788"/>
          </a:xfrm>
          <a:prstGeom prst="parallelogram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</a:t>
            </a:r>
            <a:endParaRPr lang="en-US" sz="1200" dirty="0"/>
          </a:p>
        </p:txBody>
      </p:sp>
      <p:sp>
        <p:nvSpPr>
          <p:cNvPr id="5" name="Diamond 4"/>
          <p:cNvSpPr/>
          <p:nvPr/>
        </p:nvSpPr>
        <p:spPr>
          <a:xfrm>
            <a:off x="2332525" y="2933062"/>
            <a:ext cx="1795059" cy="793455"/>
          </a:xfrm>
          <a:prstGeom prst="diamond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 </a:t>
            </a:r>
            <a:r>
              <a:rPr lang="sv-SE" sz="1200" dirty="0" err="1"/>
              <a:t>decide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4612838" y="5626971"/>
            <a:ext cx="788066" cy="485646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Stop </a:t>
            </a:r>
            <a:r>
              <a:rPr lang="sv-SE" sz="1200" dirty="0" err="1"/>
              <a:t>model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2439529" y="2019237"/>
            <a:ext cx="1584358" cy="43536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Agents update happiness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3226430" y="2524156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229173" y="3853311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cxnSpLocks/>
          </p:cNvCxnSpPr>
          <p:nvPr/>
        </p:nvCxnSpPr>
        <p:spPr>
          <a:xfrm>
            <a:off x="4240408" y="5857091"/>
            <a:ext cx="2396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193732" y="5568551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3083064" y="4931674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cxnSp>
        <p:nvCxnSpPr>
          <p:cNvPr id="43" name="Elbow Connector 42"/>
          <p:cNvCxnSpPr>
            <a:cxnSpLocks/>
          </p:cNvCxnSpPr>
          <p:nvPr/>
        </p:nvCxnSpPr>
        <p:spPr>
          <a:xfrm rot="5400000" flipH="1" flipV="1">
            <a:off x="403022" y="3958575"/>
            <a:ext cx="3529665" cy="244286"/>
          </a:xfrm>
          <a:prstGeom prst="bentConnector3">
            <a:avLst>
              <a:gd name="adj1" fmla="val 100050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186125" y="4261120"/>
            <a:ext cx="2350455" cy="5858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All agents have decided?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41120" y="1129808"/>
            <a:ext cx="846707" cy="7694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100" b="1" dirty="0"/>
              <a:t>Agents</a:t>
            </a:r>
            <a:r>
              <a:rPr lang="sv-SE" sz="1100" dirty="0"/>
              <a:t>: </a:t>
            </a:r>
          </a:p>
          <a:p>
            <a:r>
              <a:rPr lang="sv-SE" sz="1100" dirty="0"/>
              <a:t>Colors</a:t>
            </a:r>
          </a:p>
          <a:p>
            <a:r>
              <a:rPr lang="sv-SE" sz="1100" dirty="0" err="1"/>
              <a:t>Location</a:t>
            </a:r>
            <a:endParaRPr lang="sv-SE" sz="1100" dirty="0"/>
          </a:p>
          <a:p>
            <a:r>
              <a:rPr lang="sv-SE" sz="1100" dirty="0"/>
              <a:t>distribution</a:t>
            </a:r>
            <a:endParaRPr lang="en-US" sz="1100" dirty="0"/>
          </a:p>
        </p:txBody>
      </p:sp>
      <p:sp>
        <p:nvSpPr>
          <p:cNvPr id="53" name="TextBox 52"/>
          <p:cNvSpPr txBox="1"/>
          <p:nvPr/>
        </p:nvSpPr>
        <p:spPr>
          <a:xfrm>
            <a:off x="2831509" y="5266038"/>
            <a:ext cx="918663" cy="369332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dirty="0"/>
              <a:t>output</a:t>
            </a:r>
            <a:endParaRPr lang="en-US" dirty="0"/>
          </a:p>
        </p:txBody>
      </p:sp>
      <p:sp>
        <p:nvSpPr>
          <p:cNvPr id="54" name="Rectangle 53"/>
          <p:cNvSpPr/>
          <p:nvPr/>
        </p:nvSpPr>
        <p:spPr>
          <a:xfrm>
            <a:off x="5937582" y="1282239"/>
            <a:ext cx="717069" cy="412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setup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5937582" y="3638910"/>
            <a:ext cx="717069" cy="96089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Go</a:t>
            </a:r>
            <a:endParaRPr lang="en-US" dirty="0"/>
          </a:p>
        </p:txBody>
      </p:sp>
      <p:sp>
        <p:nvSpPr>
          <p:cNvPr id="56" name="Right Brace 55"/>
          <p:cNvSpPr/>
          <p:nvPr/>
        </p:nvSpPr>
        <p:spPr>
          <a:xfrm>
            <a:off x="5571673" y="1273118"/>
            <a:ext cx="259012" cy="36600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Brace 56"/>
          <p:cNvSpPr/>
          <p:nvPr/>
        </p:nvSpPr>
        <p:spPr>
          <a:xfrm>
            <a:off x="5585875" y="2093632"/>
            <a:ext cx="264319" cy="401463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3255998" y="1652972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845175" y="3244850"/>
            <a:ext cx="5016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US" dirty="0"/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4121DC-9D0B-46E2-A295-2B307D1D44A9}"/>
              </a:ext>
            </a:extLst>
          </p:cNvPr>
          <p:cNvSpPr txBox="1"/>
          <p:nvPr/>
        </p:nvSpPr>
        <p:spPr>
          <a:xfrm>
            <a:off x="2563165" y="5717450"/>
            <a:ext cx="1525855" cy="276999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sz="1200" dirty="0"/>
              <a:t>Are all agents happy?</a:t>
            </a:r>
            <a:endParaRPr lang="en-US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8FE18A-3138-4632-B4CC-AE9F66E524BC}"/>
              </a:ext>
            </a:extLst>
          </p:cNvPr>
          <p:cNvSpPr txBox="1"/>
          <p:nvPr/>
        </p:nvSpPr>
        <p:spPr>
          <a:xfrm>
            <a:off x="4165435" y="5526238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41492AF-382A-40B1-B21B-3E6F394126B9}"/>
              </a:ext>
            </a:extLst>
          </p:cNvPr>
          <p:cNvCxnSpPr>
            <a:cxnSpLocks/>
          </p:cNvCxnSpPr>
          <p:nvPr/>
        </p:nvCxnSpPr>
        <p:spPr>
          <a:xfrm flipH="1">
            <a:off x="2167854" y="5865148"/>
            <a:ext cx="2947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605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Flow</a:t>
            </a:r>
            <a:r>
              <a:rPr lang="sv-SE" sz="3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sv-SE" sz="3000" dirty="0" err="1">
                <a:solidFill>
                  <a:schemeClr val="bg1"/>
                </a:solidFill>
              </a:rPr>
              <a:t>chart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2456761" y="1136641"/>
            <a:ext cx="1573806" cy="449788"/>
          </a:xfrm>
          <a:prstGeom prst="parallelogram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</a:t>
            </a:r>
            <a:endParaRPr lang="en-US" sz="1200" dirty="0"/>
          </a:p>
        </p:txBody>
      </p:sp>
      <p:sp>
        <p:nvSpPr>
          <p:cNvPr id="5" name="Diamond 4"/>
          <p:cNvSpPr/>
          <p:nvPr/>
        </p:nvSpPr>
        <p:spPr>
          <a:xfrm>
            <a:off x="2332525" y="2933062"/>
            <a:ext cx="1795059" cy="793455"/>
          </a:xfrm>
          <a:prstGeom prst="diamond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 </a:t>
            </a:r>
            <a:r>
              <a:rPr lang="sv-SE" sz="1200" dirty="0" err="1"/>
              <a:t>decide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4612838" y="5626971"/>
            <a:ext cx="788066" cy="485646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Stop </a:t>
            </a:r>
            <a:r>
              <a:rPr lang="sv-SE" sz="1200" dirty="0" err="1"/>
              <a:t>model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2439529" y="2019237"/>
            <a:ext cx="1584358" cy="43536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Agents update happiness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3226430" y="2524156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229173" y="3853311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cxnSpLocks/>
          </p:cNvCxnSpPr>
          <p:nvPr/>
        </p:nvCxnSpPr>
        <p:spPr>
          <a:xfrm>
            <a:off x="4240408" y="5857091"/>
            <a:ext cx="2396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193732" y="5568551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3083064" y="4931674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cxnSp>
        <p:nvCxnSpPr>
          <p:cNvPr id="43" name="Elbow Connector 42"/>
          <p:cNvCxnSpPr>
            <a:cxnSpLocks/>
          </p:cNvCxnSpPr>
          <p:nvPr/>
        </p:nvCxnSpPr>
        <p:spPr>
          <a:xfrm rot="5400000" flipH="1" flipV="1">
            <a:off x="403022" y="3958575"/>
            <a:ext cx="3529665" cy="244286"/>
          </a:xfrm>
          <a:prstGeom prst="bentConnector3">
            <a:avLst>
              <a:gd name="adj1" fmla="val 100050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186125" y="4261120"/>
            <a:ext cx="2350455" cy="5858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All agents have decided?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41120" y="1129808"/>
            <a:ext cx="846707" cy="7694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100" b="1" dirty="0"/>
              <a:t>Agents</a:t>
            </a:r>
            <a:r>
              <a:rPr lang="sv-SE" sz="1100" dirty="0"/>
              <a:t>: </a:t>
            </a:r>
          </a:p>
          <a:p>
            <a:r>
              <a:rPr lang="sv-SE" sz="1100" dirty="0"/>
              <a:t>Colors</a:t>
            </a:r>
          </a:p>
          <a:p>
            <a:r>
              <a:rPr lang="sv-SE" sz="1100" dirty="0" err="1"/>
              <a:t>Location</a:t>
            </a:r>
            <a:endParaRPr lang="sv-SE" sz="1100" dirty="0"/>
          </a:p>
          <a:p>
            <a:r>
              <a:rPr lang="sv-SE" sz="1100" dirty="0"/>
              <a:t>distribution</a:t>
            </a:r>
            <a:endParaRPr lang="en-US" sz="1100" dirty="0"/>
          </a:p>
        </p:txBody>
      </p:sp>
      <p:sp>
        <p:nvSpPr>
          <p:cNvPr id="53" name="TextBox 52"/>
          <p:cNvSpPr txBox="1"/>
          <p:nvPr/>
        </p:nvSpPr>
        <p:spPr>
          <a:xfrm>
            <a:off x="2831509" y="5266038"/>
            <a:ext cx="918663" cy="369332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dirty="0"/>
              <a:t>output</a:t>
            </a:r>
            <a:endParaRPr lang="en-US" dirty="0"/>
          </a:p>
        </p:txBody>
      </p:sp>
      <p:sp>
        <p:nvSpPr>
          <p:cNvPr id="54" name="Rectangle 53"/>
          <p:cNvSpPr/>
          <p:nvPr/>
        </p:nvSpPr>
        <p:spPr>
          <a:xfrm>
            <a:off x="5937582" y="1282239"/>
            <a:ext cx="717069" cy="412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setup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5937582" y="3638910"/>
            <a:ext cx="717069" cy="96089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Go</a:t>
            </a:r>
            <a:endParaRPr lang="en-US" dirty="0"/>
          </a:p>
        </p:txBody>
      </p:sp>
      <p:sp>
        <p:nvSpPr>
          <p:cNvPr id="56" name="Right Brace 55"/>
          <p:cNvSpPr/>
          <p:nvPr/>
        </p:nvSpPr>
        <p:spPr>
          <a:xfrm>
            <a:off x="5571673" y="1273118"/>
            <a:ext cx="259012" cy="36600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Brace 56"/>
          <p:cNvSpPr/>
          <p:nvPr/>
        </p:nvSpPr>
        <p:spPr>
          <a:xfrm>
            <a:off x="5585875" y="2093632"/>
            <a:ext cx="264319" cy="401463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3255998" y="1652972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845175" y="3244850"/>
            <a:ext cx="5016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US" dirty="0"/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4121DC-9D0B-46E2-A295-2B307D1D44A9}"/>
              </a:ext>
            </a:extLst>
          </p:cNvPr>
          <p:cNvSpPr txBox="1"/>
          <p:nvPr/>
        </p:nvSpPr>
        <p:spPr>
          <a:xfrm>
            <a:off x="2563165" y="5717450"/>
            <a:ext cx="1525855" cy="276999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sz="1200" dirty="0"/>
              <a:t>Are all agents happy?</a:t>
            </a:r>
            <a:endParaRPr lang="en-US" sz="1200" dirty="0"/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9970BD63-1467-4BDF-AC7B-5EFBDBB3F077}"/>
              </a:ext>
            </a:extLst>
          </p:cNvPr>
          <p:cNvSpPr/>
          <p:nvPr/>
        </p:nvSpPr>
        <p:spPr>
          <a:xfrm>
            <a:off x="7163129" y="1319303"/>
            <a:ext cx="1795059" cy="793455"/>
          </a:xfrm>
          <a:prstGeom prst="diamond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 </a:t>
            </a:r>
            <a:r>
              <a:rPr lang="sv-SE" sz="1200" dirty="0" err="1"/>
              <a:t>decide</a:t>
            </a:r>
            <a:endParaRPr lang="en-US" sz="1200" dirty="0"/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4F907D39-5EE8-4A72-95D8-485CDDBC4F0F}"/>
              </a:ext>
            </a:extLst>
          </p:cNvPr>
          <p:cNvSpPr/>
          <p:nvPr/>
        </p:nvSpPr>
        <p:spPr>
          <a:xfrm>
            <a:off x="7322615" y="2334665"/>
            <a:ext cx="1476085" cy="572586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Pick </a:t>
            </a:r>
            <a:r>
              <a:rPr lang="sv-SE" sz="1200" dirty="0" err="1"/>
              <a:t>one</a:t>
            </a:r>
            <a:r>
              <a:rPr lang="sv-SE" sz="1200" dirty="0"/>
              <a:t> agent</a:t>
            </a:r>
            <a:endParaRPr lang="en-US" sz="1200" dirty="0"/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669E50E3-3644-458D-BB06-5004300B84CD}"/>
              </a:ext>
            </a:extLst>
          </p:cNvPr>
          <p:cNvSpPr/>
          <p:nvPr/>
        </p:nvSpPr>
        <p:spPr>
          <a:xfrm>
            <a:off x="7360718" y="3094898"/>
            <a:ext cx="1399878" cy="572586"/>
          </a:xfrm>
          <a:prstGeom prst="diamond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Happy?</a:t>
            </a:r>
            <a:endParaRPr lang="en-US" sz="1200" dirty="0"/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C8A3B137-AC17-465F-B4B4-553DD1B53ECA}"/>
              </a:ext>
            </a:extLst>
          </p:cNvPr>
          <p:cNvSpPr/>
          <p:nvPr/>
        </p:nvSpPr>
        <p:spPr>
          <a:xfrm>
            <a:off x="7831319" y="3834479"/>
            <a:ext cx="1985750" cy="572586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Find</a:t>
            </a:r>
            <a:r>
              <a:rPr lang="sv-SE" sz="1200" dirty="0"/>
              <a:t> </a:t>
            </a:r>
            <a:r>
              <a:rPr lang="sv-SE" sz="1200" dirty="0" err="1"/>
              <a:t>another</a:t>
            </a:r>
            <a:r>
              <a:rPr lang="sv-SE" sz="1200" dirty="0"/>
              <a:t> </a:t>
            </a:r>
            <a:r>
              <a:rPr lang="sv-SE" sz="1200" dirty="0" err="1"/>
              <a:t>place</a:t>
            </a:r>
            <a:endParaRPr lang="en-US" sz="1200" dirty="0"/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64714884-753E-43CF-9893-5784DE44DB2A}"/>
              </a:ext>
            </a:extLst>
          </p:cNvPr>
          <p:cNvSpPr/>
          <p:nvPr/>
        </p:nvSpPr>
        <p:spPr>
          <a:xfrm>
            <a:off x="8124255" y="4560701"/>
            <a:ext cx="1399878" cy="572586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Move</a:t>
            </a:r>
            <a:endParaRPr lang="en-US" sz="1200" dirty="0"/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18AF843D-33B6-45FB-88AB-CDC2D80D33C2}"/>
              </a:ext>
            </a:extLst>
          </p:cNvPr>
          <p:cNvSpPr/>
          <p:nvPr/>
        </p:nvSpPr>
        <p:spPr>
          <a:xfrm>
            <a:off x="8124255" y="5260435"/>
            <a:ext cx="1399878" cy="572586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Slot</a:t>
            </a:r>
            <a:r>
              <a:rPr lang="sv-SE" sz="1200" dirty="0"/>
              <a:t> is </a:t>
            </a:r>
            <a:r>
              <a:rPr lang="sv-SE" sz="1200" dirty="0" err="1"/>
              <a:t>empty</a:t>
            </a:r>
            <a:r>
              <a:rPr lang="sv-SE" sz="1200" dirty="0"/>
              <a:t>?</a:t>
            </a:r>
            <a:endParaRPr lang="en-US" sz="12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B49430C-B298-4885-8B82-C12879B7CFAC}"/>
              </a:ext>
            </a:extLst>
          </p:cNvPr>
          <p:cNvCxnSpPr/>
          <p:nvPr/>
        </p:nvCxnSpPr>
        <p:spPr>
          <a:xfrm>
            <a:off x="8060656" y="2081857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02ADEBE-224C-4465-8F1B-C7BCF2D76691}"/>
              </a:ext>
            </a:extLst>
          </p:cNvPr>
          <p:cNvCxnSpPr/>
          <p:nvPr/>
        </p:nvCxnSpPr>
        <p:spPr>
          <a:xfrm>
            <a:off x="8060656" y="2915475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84E246D-16F6-40B4-A890-E2130977021E}"/>
              </a:ext>
            </a:extLst>
          </p:cNvPr>
          <p:cNvCxnSpPr>
            <a:cxnSpLocks/>
          </p:cNvCxnSpPr>
          <p:nvPr/>
        </p:nvCxnSpPr>
        <p:spPr>
          <a:xfrm>
            <a:off x="8376007" y="3625379"/>
            <a:ext cx="163361" cy="225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4FC907D-A9F9-4CED-8A23-0A0D57914EB7}"/>
              </a:ext>
            </a:extLst>
          </p:cNvPr>
          <p:cNvCxnSpPr/>
          <p:nvPr/>
        </p:nvCxnSpPr>
        <p:spPr>
          <a:xfrm>
            <a:off x="8798700" y="4365420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CF94EF2-6021-4CD5-A055-99261A82495C}"/>
              </a:ext>
            </a:extLst>
          </p:cNvPr>
          <p:cNvCxnSpPr/>
          <p:nvPr/>
        </p:nvCxnSpPr>
        <p:spPr>
          <a:xfrm>
            <a:off x="8824193" y="5047087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7561F3E-26C5-4C60-8197-D73B37CF9090}"/>
              </a:ext>
            </a:extLst>
          </p:cNvPr>
          <p:cNvSpPr txBox="1"/>
          <p:nvPr/>
        </p:nvSpPr>
        <p:spPr>
          <a:xfrm>
            <a:off x="7283972" y="3661858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46E126-9060-44E3-ADF2-1046DD31395F}"/>
              </a:ext>
            </a:extLst>
          </p:cNvPr>
          <p:cNvSpPr txBox="1"/>
          <p:nvPr/>
        </p:nvSpPr>
        <p:spPr>
          <a:xfrm>
            <a:off x="8587311" y="3539425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4F5012-61A9-47FD-8963-36AAD854AF0C}"/>
              </a:ext>
            </a:extLst>
          </p:cNvPr>
          <p:cNvSpPr txBox="1"/>
          <p:nvPr/>
        </p:nvSpPr>
        <p:spPr>
          <a:xfrm>
            <a:off x="8024868" y="5806248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6803F0-32E0-46EE-A570-C68F90D97652}"/>
              </a:ext>
            </a:extLst>
          </p:cNvPr>
          <p:cNvSpPr txBox="1"/>
          <p:nvPr/>
        </p:nvSpPr>
        <p:spPr>
          <a:xfrm>
            <a:off x="9163445" y="5775986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cxnSp>
        <p:nvCxnSpPr>
          <p:cNvPr id="48" name="Elbow Connector 42">
            <a:extLst>
              <a:ext uri="{FF2B5EF4-FFF2-40B4-BE49-F238E27FC236}">
                <a16:creationId xmlns:a16="http://schemas.microsoft.com/office/drawing/2014/main" id="{DCE65FAF-4AD1-4FB1-A23E-682A94297E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8982235" y="5262901"/>
            <a:ext cx="1067491" cy="235678"/>
          </a:xfrm>
          <a:prstGeom prst="bentConnector3">
            <a:avLst>
              <a:gd name="adj1" fmla="val 99898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18EA184-23D9-483D-BB12-8B500AD9F1BA}"/>
              </a:ext>
            </a:extLst>
          </p:cNvPr>
          <p:cNvCxnSpPr>
            <a:cxnSpLocks/>
          </p:cNvCxnSpPr>
          <p:nvPr/>
        </p:nvCxnSpPr>
        <p:spPr>
          <a:xfrm>
            <a:off x="9096775" y="5594158"/>
            <a:ext cx="163361" cy="225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9FF83F1-1E52-4298-8E14-815C4440EF22}"/>
              </a:ext>
            </a:extLst>
          </p:cNvPr>
          <p:cNvCxnSpPr>
            <a:cxnSpLocks/>
          </p:cNvCxnSpPr>
          <p:nvPr/>
        </p:nvCxnSpPr>
        <p:spPr>
          <a:xfrm flipH="1">
            <a:off x="8339841" y="5648542"/>
            <a:ext cx="107313" cy="170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42">
            <a:extLst>
              <a:ext uri="{FF2B5EF4-FFF2-40B4-BE49-F238E27FC236}">
                <a16:creationId xmlns:a16="http://schemas.microsoft.com/office/drawing/2014/main" id="{993295D2-FA95-43B7-8312-3E0A3A516916}"/>
              </a:ext>
            </a:extLst>
          </p:cNvPr>
          <p:cNvCxnSpPr>
            <a:cxnSpLocks/>
            <a:endCxn id="29" idx="1"/>
          </p:cNvCxnSpPr>
          <p:nvPr/>
        </p:nvCxnSpPr>
        <p:spPr>
          <a:xfrm rot="5400000" flipH="1" flipV="1">
            <a:off x="5522437" y="4144570"/>
            <a:ext cx="3323790" cy="276566"/>
          </a:xfrm>
          <a:prstGeom prst="bentConnector2">
            <a:avLst/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FC57225-FBAB-491A-ABB5-04226BA2B120}"/>
              </a:ext>
            </a:extLst>
          </p:cNvPr>
          <p:cNvCxnSpPr>
            <a:cxnSpLocks/>
          </p:cNvCxnSpPr>
          <p:nvPr/>
        </p:nvCxnSpPr>
        <p:spPr>
          <a:xfrm flipH="1">
            <a:off x="7615857" y="3476257"/>
            <a:ext cx="79608" cy="185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B1291C5-7235-451F-B051-DA8F79A71DD4}"/>
              </a:ext>
            </a:extLst>
          </p:cNvPr>
          <p:cNvCxnSpPr/>
          <p:nvPr/>
        </p:nvCxnSpPr>
        <p:spPr>
          <a:xfrm flipH="1">
            <a:off x="7084421" y="3811625"/>
            <a:ext cx="1995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8B447FE-BD69-4C81-917C-DB82F86AFB05}"/>
              </a:ext>
            </a:extLst>
          </p:cNvPr>
          <p:cNvCxnSpPr>
            <a:cxnSpLocks/>
            <a:stCxn id="44" idx="1"/>
          </p:cNvCxnSpPr>
          <p:nvPr/>
        </p:nvCxnSpPr>
        <p:spPr>
          <a:xfrm flipH="1">
            <a:off x="7123066" y="5944748"/>
            <a:ext cx="9018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A8FE18A-3138-4632-B4CC-AE9F66E524BC}"/>
              </a:ext>
            </a:extLst>
          </p:cNvPr>
          <p:cNvSpPr txBox="1"/>
          <p:nvPr/>
        </p:nvSpPr>
        <p:spPr>
          <a:xfrm>
            <a:off x="4165435" y="5526238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41492AF-382A-40B1-B21B-3E6F394126B9}"/>
              </a:ext>
            </a:extLst>
          </p:cNvPr>
          <p:cNvCxnSpPr>
            <a:cxnSpLocks/>
          </p:cNvCxnSpPr>
          <p:nvPr/>
        </p:nvCxnSpPr>
        <p:spPr>
          <a:xfrm flipH="1">
            <a:off x="2167854" y="5865148"/>
            <a:ext cx="2947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Arrow: Curved Down 11">
            <a:extLst>
              <a:ext uri="{FF2B5EF4-FFF2-40B4-BE49-F238E27FC236}">
                <a16:creationId xmlns:a16="http://schemas.microsoft.com/office/drawing/2014/main" id="{8AB88B02-79FC-48DE-B0AC-3236F34243D5}"/>
              </a:ext>
            </a:extLst>
          </p:cNvPr>
          <p:cNvSpPr/>
          <p:nvPr/>
        </p:nvSpPr>
        <p:spPr>
          <a:xfrm rot="20203652">
            <a:off x="3438168" y="1018583"/>
            <a:ext cx="4622063" cy="1340659"/>
          </a:xfrm>
          <a:prstGeom prst="curvedDownArrow">
            <a:avLst>
              <a:gd name="adj1" fmla="val 9765"/>
              <a:gd name="adj2" fmla="val 38219"/>
              <a:gd name="adj3" fmla="val 2133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132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Flow</a:t>
            </a:r>
            <a:r>
              <a:rPr lang="sv-SE" sz="3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sv-SE" sz="3000" dirty="0" err="1">
                <a:solidFill>
                  <a:schemeClr val="bg1"/>
                </a:solidFill>
              </a:rPr>
              <a:t>chart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Parallelogram 2"/>
          <p:cNvSpPr/>
          <p:nvPr/>
        </p:nvSpPr>
        <p:spPr>
          <a:xfrm>
            <a:off x="2456761" y="1136641"/>
            <a:ext cx="1573806" cy="449788"/>
          </a:xfrm>
          <a:prstGeom prst="parallelogram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</a:t>
            </a:r>
            <a:endParaRPr lang="en-US" sz="1200" dirty="0"/>
          </a:p>
        </p:txBody>
      </p:sp>
      <p:sp>
        <p:nvSpPr>
          <p:cNvPr id="5" name="Diamond 4"/>
          <p:cNvSpPr/>
          <p:nvPr/>
        </p:nvSpPr>
        <p:spPr>
          <a:xfrm>
            <a:off x="2332525" y="2933062"/>
            <a:ext cx="1795059" cy="793455"/>
          </a:xfrm>
          <a:prstGeom prst="diamond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 </a:t>
            </a:r>
            <a:r>
              <a:rPr lang="sv-SE" sz="1200" dirty="0" err="1"/>
              <a:t>decide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4612838" y="5626971"/>
            <a:ext cx="788066" cy="485646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Stop </a:t>
            </a:r>
            <a:r>
              <a:rPr lang="sv-SE" sz="1200" dirty="0" err="1"/>
              <a:t>model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2439529" y="2019237"/>
            <a:ext cx="1584358" cy="43536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Agents update happiness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3226430" y="2524156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229173" y="3853311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cxnSpLocks/>
          </p:cNvCxnSpPr>
          <p:nvPr/>
        </p:nvCxnSpPr>
        <p:spPr>
          <a:xfrm>
            <a:off x="4240408" y="5857091"/>
            <a:ext cx="2396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193732" y="5568551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3083064" y="4931674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cxnSp>
        <p:nvCxnSpPr>
          <p:cNvPr id="43" name="Elbow Connector 42"/>
          <p:cNvCxnSpPr>
            <a:cxnSpLocks/>
          </p:cNvCxnSpPr>
          <p:nvPr/>
        </p:nvCxnSpPr>
        <p:spPr>
          <a:xfrm rot="5400000" flipH="1" flipV="1">
            <a:off x="403022" y="3958575"/>
            <a:ext cx="3529665" cy="244286"/>
          </a:xfrm>
          <a:prstGeom prst="bentConnector3">
            <a:avLst>
              <a:gd name="adj1" fmla="val 100050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186125" y="4261120"/>
            <a:ext cx="2350455" cy="5858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All agents have decided?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41120" y="1129808"/>
            <a:ext cx="846707" cy="7694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100" b="1" dirty="0"/>
              <a:t>Agents</a:t>
            </a:r>
            <a:r>
              <a:rPr lang="sv-SE" sz="1100" dirty="0"/>
              <a:t>: </a:t>
            </a:r>
          </a:p>
          <a:p>
            <a:r>
              <a:rPr lang="sv-SE" sz="1100" dirty="0"/>
              <a:t>Colors</a:t>
            </a:r>
          </a:p>
          <a:p>
            <a:r>
              <a:rPr lang="sv-SE" sz="1100" dirty="0" err="1"/>
              <a:t>Location</a:t>
            </a:r>
            <a:endParaRPr lang="sv-SE" sz="1100" dirty="0"/>
          </a:p>
          <a:p>
            <a:r>
              <a:rPr lang="sv-SE" sz="1100" dirty="0"/>
              <a:t>distribution</a:t>
            </a:r>
            <a:endParaRPr lang="en-US" sz="1100" dirty="0"/>
          </a:p>
        </p:txBody>
      </p:sp>
      <p:sp>
        <p:nvSpPr>
          <p:cNvPr id="53" name="TextBox 52"/>
          <p:cNvSpPr txBox="1"/>
          <p:nvPr/>
        </p:nvSpPr>
        <p:spPr>
          <a:xfrm>
            <a:off x="2831509" y="5266038"/>
            <a:ext cx="918663" cy="369332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dirty="0"/>
              <a:t>output</a:t>
            </a:r>
            <a:endParaRPr lang="en-US" dirty="0"/>
          </a:p>
        </p:txBody>
      </p:sp>
      <p:sp>
        <p:nvSpPr>
          <p:cNvPr id="54" name="Rectangle 53"/>
          <p:cNvSpPr/>
          <p:nvPr/>
        </p:nvSpPr>
        <p:spPr>
          <a:xfrm>
            <a:off x="5937582" y="1282239"/>
            <a:ext cx="717069" cy="412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setup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5937582" y="3638910"/>
            <a:ext cx="717069" cy="96089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Go</a:t>
            </a:r>
            <a:endParaRPr lang="en-US" dirty="0"/>
          </a:p>
        </p:txBody>
      </p:sp>
      <p:sp>
        <p:nvSpPr>
          <p:cNvPr id="56" name="Right Brace 55"/>
          <p:cNvSpPr/>
          <p:nvPr/>
        </p:nvSpPr>
        <p:spPr>
          <a:xfrm>
            <a:off x="5571673" y="1273118"/>
            <a:ext cx="259012" cy="36600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Brace 56"/>
          <p:cNvSpPr/>
          <p:nvPr/>
        </p:nvSpPr>
        <p:spPr>
          <a:xfrm>
            <a:off x="5585875" y="2093632"/>
            <a:ext cx="264319" cy="401463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3255998" y="1652972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845175" y="3244850"/>
            <a:ext cx="5016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 </a:t>
            </a:r>
            <a:r>
              <a:rPr lang="en-US" dirty="0"/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4121DC-9D0B-46E2-A295-2B307D1D44A9}"/>
              </a:ext>
            </a:extLst>
          </p:cNvPr>
          <p:cNvSpPr txBox="1"/>
          <p:nvPr/>
        </p:nvSpPr>
        <p:spPr>
          <a:xfrm>
            <a:off x="2563165" y="5717450"/>
            <a:ext cx="1525855" cy="276999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sz="1200" dirty="0"/>
              <a:t>Are all agents happy?</a:t>
            </a:r>
            <a:endParaRPr lang="en-US" sz="1200" dirty="0"/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9970BD63-1467-4BDF-AC7B-5EFBDBB3F077}"/>
              </a:ext>
            </a:extLst>
          </p:cNvPr>
          <p:cNvSpPr/>
          <p:nvPr/>
        </p:nvSpPr>
        <p:spPr>
          <a:xfrm>
            <a:off x="7163129" y="1319303"/>
            <a:ext cx="1795059" cy="793455"/>
          </a:xfrm>
          <a:prstGeom prst="diamond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Agents </a:t>
            </a:r>
            <a:r>
              <a:rPr lang="sv-SE" sz="1200" dirty="0" err="1"/>
              <a:t>decide</a:t>
            </a:r>
            <a:endParaRPr lang="en-US" sz="1200" dirty="0"/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4F907D39-5EE8-4A72-95D8-485CDDBC4F0F}"/>
              </a:ext>
            </a:extLst>
          </p:cNvPr>
          <p:cNvSpPr/>
          <p:nvPr/>
        </p:nvSpPr>
        <p:spPr>
          <a:xfrm>
            <a:off x="7322615" y="2334665"/>
            <a:ext cx="1476085" cy="572586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Pick </a:t>
            </a:r>
            <a:r>
              <a:rPr lang="sv-SE" sz="1200" dirty="0" err="1"/>
              <a:t>one</a:t>
            </a:r>
            <a:r>
              <a:rPr lang="sv-SE" sz="1200" dirty="0"/>
              <a:t> agent</a:t>
            </a:r>
            <a:endParaRPr lang="en-US" sz="1200" dirty="0"/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669E50E3-3644-458D-BB06-5004300B84CD}"/>
              </a:ext>
            </a:extLst>
          </p:cNvPr>
          <p:cNvSpPr/>
          <p:nvPr/>
        </p:nvSpPr>
        <p:spPr>
          <a:xfrm>
            <a:off x="7360718" y="3094898"/>
            <a:ext cx="1399878" cy="572586"/>
          </a:xfrm>
          <a:prstGeom prst="diamond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Happy?</a:t>
            </a:r>
            <a:endParaRPr lang="en-US" sz="1200" dirty="0"/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C8A3B137-AC17-465F-B4B4-553DD1B53ECA}"/>
              </a:ext>
            </a:extLst>
          </p:cNvPr>
          <p:cNvSpPr/>
          <p:nvPr/>
        </p:nvSpPr>
        <p:spPr>
          <a:xfrm>
            <a:off x="7831319" y="3834479"/>
            <a:ext cx="1985750" cy="572586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Find</a:t>
            </a:r>
            <a:r>
              <a:rPr lang="sv-SE" sz="1200" dirty="0"/>
              <a:t> </a:t>
            </a:r>
            <a:r>
              <a:rPr lang="sv-SE" sz="1200" dirty="0" err="1"/>
              <a:t>another</a:t>
            </a:r>
            <a:r>
              <a:rPr lang="sv-SE" sz="1200" dirty="0"/>
              <a:t> </a:t>
            </a:r>
            <a:r>
              <a:rPr lang="sv-SE" sz="1200" dirty="0" err="1"/>
              <a:t>place</a:t>
            </a:r>
            <a:endParaRPr lang="en-US" sz="1200" dirty="0"/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64714884-753E-43CF-9893-5784DE44DB2A}"/>
              </a:ext>
            </a:extLst>
          </p:cNvPr>
          <p:cNvSpPr/>
          <p:nvPr/>
        </p:nvSpPr>
        <p:spPr>
          <a:xfrm>
            <a:off x="8124255" y="4560701"/>
            <a:ext cx="1399878" cy="572586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Move</a:t>
            </a:r>
            <a:endParaRPr lang="en-US" sz="1200" dirty="0"/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18AF843D-33B6-45FB-88AB-CDC2D80D33C2}"/>
              </a:ext>
            </a:extLst>
          </p:cNvPr>
          <p:cNvSpPr/>
          <p:nvPr/>
        </p:nvSpPr>
        <p:spPr>
          <a:xfrm>
            <a:off x="8124255" y="5260435"/>
            <a:ext cx="1399878" cy="572586"/>
          </a:xfrm>
          <a:prstGeom prst="diamon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Slot</a:t>
            </a:r>
            <a:r>
              <a:rPr lang="sv-SE" sz="1200" dirty="0"/>
              <a:t> is </a:t>
            </a:r>
            <a:r>
              <a:rPr lang="sv-SE" sz="1200" dirty="0" err="1"/>
              <a:t>empty</a:t>
            </a:r>
            <a:r>
              <a:rPr lang="sv-SE" sz="1200" dirty="0"/>
              <a:t>?</a:t>
            </a:r>
            <a:endParaRPr lang="en-US" sz="12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B49430C-B298-4885-8B82-C12879B7CFAC}"/>
              </a:ext>
            </a:extLst>
          </p:cNvPr>
          <p:cNvCxnSpPr/>
          <p:nvPr/>
        </p:nvCxnSpPr>
        <p:spPr>
          <a:xfrm>
            <a:off x="8060656" y="2081857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02ADEBE-224C-4465-8F1B-C7BCF2D76691}"/>
              </a:ext>
            </a:extLst>
          </p:cNvPr>
          <p:cNvCxnSpPr/>
          <p:nvPr/>
        </p:nvCxnSpPr>
        <p:spPr>
          <a:xfrm>
            <a:off x="8060656" y="2915475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84E246D-16F6-40B4-A890-E2130977021E}"/>
              </a:ext>
            </a:extLst>
          </p:cNvPr>
          <p:cNvCxnSpPr>
            <a:cxnSpLocks/>
          </p:cNvCxnSpPr>
          <p:nvPr/>
        </p:nvCxnSpPr>
        <p:spPr>
          <a:xfrm>
            <a:off x="8376007" y="3625379"/>
            <a:ext cx="163361" cy="225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4FC907D-A9F9-4CED-8A23-0A0D57914EB7}"/>
              </a:ext>
            </a:extLst>
          </p:cNvPr>
          <p:cNvCxnSpPr/>
          <p:nvPr/>
        </p:nvCxnSpPr>
        <p:spPr>
          <a:xfrm>
            <a:off x="8798700" y="4365420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CF94EF2-6021-4CD5-A055-99261A82495C}"/>
              </a:ext>
            </a:extLst>
          </p:cNvPr>
          <p:cNvCxnSpPr/>
          <p:nvPr/>
        </p:nvCxnSpPr>
        <p:spPr>
          <a:xfrm>
            <a:off x="8824193" y="5047087"/>
            <a:ext cx="1" cy="28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7561F3E-26C5-4C60-8197-D73B37CF9090}"/>
              </a:ext>
            </a:extLst>
          </p:cNvPr>
          <p:cNvSpPr txBox="1"/>
          <p:nvPr/>
        </p:nvSpPr>
        <p:spPr>
          <a:xfrm>
            <a:off x="7283972" y="3661858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46E126-9060-44E3-ADF2-1046DD31395F}"/>
              </a:ext>
            </a:extLst>
          </p:cNvPr>
          <p:cNvSpPr txBox="1"/>
          <p:nvPr/>
        </p:nvSpPr>
        <p:spPr>
          <a:xfrm>
            <a:off x="8587311" y="3539425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4F5012-61A9-47FD-8963-36AAD854AF0C}"/>
              </a:ext>
            </a:extLst>
          </p:cNvPr>
          <p:cNvSpPr txBox="1"/>
          <p:nvPr/>
        </p:nvSpPr>
        <p:spPr>
          <a:xfrm>
            <a:off x="8024868" y="5806248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6803F0-32E0-46EE-A570-C68F90D97652}"/>
              </a:ext>
            </a:extLst>
          </p:cNvPr>
          <p:cNvSpPr txBox="1"/>
          <p:nvPr/>
        </p:nvSpPr>
        <p:spPr>
          <a:xfrm>
            <a:off x="9163445" y="5775986"/>
            <a:ext cx="346570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/>
              <a:t>no</a:t>
            </a:r>
            <a:endParaRPr lang="en-US" sz="1200" dirty="0"/>
          </a:p>
        </p:txBody>
      </p:sp>
      <p:cxnSp>
        <p:nvCxnSpPr>
          <p:cNvPr id="48" name="Elbow Connector 42">
            <a:extLst>
              <a:ext uri="{FF2B5EF4-FFF2-40B4-BE49-F238E27FC236}">
                <a16:creationId xmlns:a16="http://schemas.microsoft.com/office/drawing/2014/main" id="{DCE65FAF-4AD1-4FB1-A23E-682A94297E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8982235" y="5262901"/>
            <a:ext cx="1067491" cy="235678"/>
          </a:xfrm>
          <a:prstGeom prst="bentConnector3">
            <a:avLst>
              <a:gd name="adj1" fmla="val 99898"/>
            </a:avLst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18EA184-23D9-483D-BB12-8B500AD9F1BA}"/>
              </a:ext>
            </a:extLst>
          </p:cNvPr>
          <p:cNvCxnSpPr>
            <a:cxnSpLocks/>
          </p:cNvCxnSpPr>
          <p:nvPr/>
        </p:nvCxnSpPr>
        <p:spPr>
          <a:xfrm>
            <a:off x="9096775" y="5594158"/>
            <a:ext cx="163361" cy="225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9FF83F1-1E52-4298-8E14-815C4440EF22}"/>
              </a:ext>
            </a:extLst>
          </p:cNvPr>
          <p:cNvCxnSpPr>
            <a:cxnSpLocks/>
          </p:cNvCxnSpPr>
          <p:nvPr/>
        </p:nvCxnSpPr>
        <p:spPr>
          <a:xfrm flipH="1">
            <a:off x="8339841" y="5648542"/>
            <a:ext cx="107313" cy="170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42">
            <a:extLst>
              <a:ext uri="{FF2B5EF4-FFF2-40B4-BE49-F238E27FC236}">
                <a16:creationId xmlns:a16="http://schemas.microsoft.com/office/drawing/2014/main" id="{993295D2-FA95-43B7-8312-3E0A3A516916}"/>
              </a:ext>
            </a:extLst>
          </p:cNvPr>
          <p:cNvCxnSpPr>
            <a:cxnSpLocks/>
            <a:endCxn id="29" idx="1"/>
          </p:cNvCxnSpPr>
          <p:nvPr/>
        </p:nvCxnSpPr>
        <p:spPr>
          <a:xfrm rot="5400000" flipH="1" flipV="1">
            <a:off x="5522437" y="4144570"/>
            <a:ext cx="3323790" cy="276566"/>
          </a:xfrm>
          <a:prstGeom prst="bentConnector2">
            <a:avLst/>
          </a:prstGeom>
          <a:ln>
            <a:prstDash val="dash"/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FC57225-FBAB-491A-ABB5-04226BA2B120}"/>
              </a:ext>
            </a:extLst>
          </p:cNvPr>
          <p:cNvCxnSpPr>
            <a:cxnSpLocks/>
          </p:cNvCxnSpPr>
          <p:nvPr/>
        </p:nvCxnSpPr>
        <p:spPr>
          <a:xfrm flipH="1">
            <a:off x="7615857" y="3476257"/>
            <a:ext cx="79608" cy="185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B1291C5-7235-451F-B051-DA8F79A71DD4}"/>
              </a:ext>
            </a:extLst>
          </p:cNvPr>
          <p:cNvCxnSpPr/>
          <p:nvPr/>
        </p:nvCxnSpPr>
        <p:spPr>
          <a:xfrm flipH="1">
            <a:off x="7084421" y="3811625"/>
            <a:ext cx="1995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8B447FE-BD69-4C81-917C-DB82F86AFB05}"/>
              </a:ext>
            </a:extLst>
          </p:cNvPr>
          <p:cNvCxnSpPr>
            <a:cxnSpLocks/>
            <a:stCxn id="44" idx="1"/>
          </p:cNvCxnSpPr>
          <p:nvPr/>
        </p:nvCxnSpPr>
        <p:spPr>
          <a:xfrm flipH="1">
            <a:off x="7123066" y="5944748"/>
            <a:ext cx="9018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A8FE18A-3138-4632-B4CC-AE9F66E524BC}"/>
              </a:ext>
            </a:extLst>
          </p:cNvPr>
          <p:cNvSpPr txBox="1"/>
          <p:nvPr/>
        </p:nvSpPr>
        <p:spPr>
          <a:xfrm>
            <a:off x="4165435" y="5526238"/>
            <a:ext cx="389594" cy="2769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sv-SE" sz="1200" dirty="0" err="1"/>
              <a:t>yes</a:t>
            </a:r>
            <a:endParaRPr lang="en-US" sz="12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41492AF-382A-40B1-B21B-3E6F394126B9}"/>
              </a:ext>
            </a:extLst>
          </p:cNvPr>
          <p:cNvCxnSpPr>
            <a:cxnSpLocks/>
          </p:cNvCxnSpPr>
          <p:nvPr/>
        </p:nvCxnSpPr>
        <p:spPr>
          <a:xfrm flipH="1">
            <a:off x="2167854" y="5865148"/>
            <a:ext cx="2947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Diamond 61">
            <a:extLst>
              <a:ext uri="{FF2B5EF4-FFF2-40B4-BE49-F238E27FC236}">
                <a16:creationId xmlns:a16="http://schemas.microsoft.com/office/drawing/2014/main" id="{EEE6B9F9-67F1-4E90-9493-2C0498A9CF19}"/>
              </a:ext>
            </a:extLst>
          </p:cNvPr>
          <p:cNvSpPr/>
          <p:nvPr/>
        </p:nvSpPr>
        <p:spPr>
          <a:xfrm>
            <a:off x="10218996" y="1931992"/>
            <a:ext cx="1399878" cy="572586"/>
          </a:xfrm>
          <a:prstGeom prst="diamond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/>
              <a:t>Happy?</a:t>
            </a:r>
            <a:endParaRPr lang="en-US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097764E-F67C-44D8-800E-5DDC8EFE07E2}"/>
              </a:ext>
            </a:extLst>
          </p:cNvPr>
          <p:cNvSpPr txBox="1"/>
          <p:nvPr/>
        </p:nvSpPr>
        <p:spPr>
          <a:xfrm>
            <a:off x="10089502" y="2601790"/>
            <a:ext cx="1791475" cy="1107996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dirty="0"/>
              <a:t>If %-similar agents in my neighborhood are greater of my tolerance level (threshold)?</a:t>
            </a:r>
          </a:p>
          <a:p>
            <a:r>
              <a:rPr lang="en-US" sz="1100" dirty="0">
                <a:solidFill>
                  <a:schemeClr val="tx1"/>
                </a:solidFill>
              </a:rPr>
              <a:t>Yes -&gt; Happy</a:t>
            </a:r>
          </a:p>
          <a:p>
            <a:r>
              <a:rPr lang="en-US" sz="1100" dirty="0">
                <a:solidFill>
                  <a:schemeClr val="tx1"/>
                </a:solidFill>
              </a:rPr>
              <a:t>No -&gt; Unhappy</a:t>
            </a:r>
          </a:p>
        </p:txBody>
      </p:sp>
      <p:sp>
        <p:nvSpPr>
          <p:cNvPr id="12" name="Arrow: Curved Down 11">
            <a:extLst>
              <a:ext uri="{FF2B5EF4-FFF2-40B4-BE49-F238E27FC236}">
                <a16:creationId xmlns:a16="http://schemas.microsoft.com/office/drawing/2014/main" id="{8AB88B02-79FC-48DE-B0AC-3236F34243D5}"/>
              </a:ext>
            </a:extLst>
          </p:cNvPr>
          <p:cNvSpPr/>
          <p:nvPr/>
        </p:nvSpPr>
        <p:spPr>
          <a:xfrm rot="20203652">
            <a:off x="3438168" y="1018583"/>
            <a:ext cx="4622063" cy="1340659"/>
          </a:xfrm>
          <a:prstGeom prst="curvedDownArrow">
            <a:avLst>
              <a:gd name="adj1" fmla="val 9765"/>
              <a:gd name="adj2" fmla="val 38219"/>
              <a:gd name="adj3" fmla="val 2133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  <p:sp>
        <p:nvSpPr>
          <p:cNvPr id="65" name="Arrow: Curved Down 64">
            <a:extLst>
              <a:ext uri="{FF2B5EF4-FFF2-40B4-BE49-F238E27FC236}">
                <a16:creationId xmlns:a16="http://schemas.microsoft.com/office/drawing/2014/main" id="{767C54B8-2726-4C22-903F-A340AD9B03AE}"/>
              </a:ext>
            </a:extLst>
          </p:cNvPr>
          <p:cNvSpPr/>
          <p:nvPr/>
        </p:nvSpPr>
        <p:spPr>
          <a:xfrm rot="20203652">
            <a:off x="7828699" y="1333875"/>
            <a:ext cx="3171542" cy="1340659"/>
          </a:xfrm>
          <a:prstGeom prst="curvedDownArrow">
            <a:avLst>
              <a:gd name="adj1" fmla="val 9765"/>
              <a:gd name="adj2" fmla="val 38219"/>
              <a:gd name="adj3" fmla="val 2133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155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3074" name="Picture 2" descr="Image result for crazy comp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010" y="2538579"/>
            <a:ext cx="2857500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B8751C3-D3B6-4088-AEF1-9AF1645360C5}"/>
              </a:ext>
            </a:extLst>
          </p:cNvPr>
          <p:cNvSpPr/>
          <p:nvPr/>
        </p:nvSpPr>
        <p:spPr>
          <a:xfrm>
            <a:off x="3739281" y="2529168"/>
            <a:ext cx="3299328" cy="231641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800" dirty="0" err="1"/>
              <a:t>Let’s</a:t>
            </a:r>
            <a:r>
              <a:rPr lang="sv-SE" sz="2800" dirty="0"/>
              <a:t> go to NetLogo!!!</a:t>
            </a:r>
          </a:p>
          <a:p>
            <a:pPr algn="ctr"/>
            <a:r>
              <a:rPr lang="en-US" sz="2800" dirty="0"/>
              <a:t>File: lab2_5.Nlogo</a:t>
            </a:r>
          </a:p>
        </p:txBody>
      </p:sp>
    </p:spTree>
    <p:extLst>
      <p:ext uri="{BB962C8B-B14F-4D97-AF65-F5344CB8AC3E}">
        <p14:creationId xmlns:p14="http://schemas.microsoft.com/office/powerpoint/2010/main" val="2871604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1026" name="Picture 2" descr="https://mitpress.mit.edu/sites/default/files/978026273189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281" y="998899"/>
            <a:ext cx="4794311" cy="5376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06"/>
          <a:stretch/>
        </p:blipFill>
        <p:spPr>
          <a:xfrm>
            <a:off x="6791592" y="1293395"/>
            <a:ext cx="5132187" cy="445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68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7BE0EE43B23043AFE79A610A7C27D2" ma:contentTypeVersion="5" ma:contentTypeDescription="Create a new document." ma:contentTypeScope="" ma:versionID="778329dbcf46a37d733c712f27d7b43b">
  <xsd:schema xmlns:xsd="http://www.w3.org/2001/XMLSchema" xmlns:xs="http://www.w3.org/2001/XMLSchema" xmlns:p="http://schemas.microsoft.com/office/2006/metadata/properties" xmlns:ns2="e45ff77a-a734-434e-b7dc-7ade962cb631" xmlns:ns3="2808f00f-3211-41a5-bfe5-d2c2468f696f" targetNamespace="http://schemas.microsoft.com/office/2006/metadata/properties" ma:root="true" ma:fieldsID="6127767fb6d362b6b9d04ae9972bdc25" ns2:_="" ns3:_="">
    <xsd:import namespace="e45ff77a-a734-434e-b7dc-7ade962cb631"/>
    <xsd:import namespace="2808f00f-3211-41a5-bfe5-d2c2468f696f"/>
    <xsd:element name="properties">
      <xsd:complexType>
        <xsd:sequence>
          <xsd:element name="documentManagement">
            <xsd:complexType>
              <xsd:all>
                <xsd:element ref="ns2:_lisam_Description" minOccurs="0"/>
                <xsd:element ref="ns3:_lisam_PublishedVersio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ff77a-a734-434e-b7dc-7ade962cb631" elementFormDefault="qualified">
    <xsd:import namespace="http://schemas.microsoft.com/office/2006/documentManagement/types"/>
    <xsd:import namespace="http://schemas.microsoft.com/office/infopath/2007/PartnerControls"/>
    <xsd:element name="_lisam_Description" ma:index="8" nillable="true" ma:displayName="Description" ma:internalName="_lisam_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08f00f-3211-41a5-bfe5-d2c2468f696f" elementFormDefault="qualified">
    <xsd:import namespace="http://schemas.microsoft.com/office/2006/documentManagement/types"/>
    <xsd:import namespace="http://schemas.microsoft.com/office/infopath/2007/PartnerControls"/>
    <xsd:element name="_lisam_PublishedVersion" ma:index="9" nillable="true" ma:displayName="Published Version" ma:internalName="_lisam_PublishedVersion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lisam_PublishedVersion xmlns="2808f00f-3211-41a5-bfe5-d2c2468f696f" xsi:nil="true"/>
    <_lisam_Description xmlns="e45ff77a-a734-434e-b7dc-7ade962cb631" xsi:nil="true"/>
  </documentManagement>
</p:properties>
</file>

<file path=customXml/itemProps1.xml><?xml version="1.0" encoding="utf-8"?>
<ds:datastoreItem xmlns:ds="http://schemas.openxmlformats.org/officeDocument/2006/customXml" ds:itemID="{35FA883D-4672-43FF-B965-76631877F8DC}"/>
</file>

<file path=customXml/itemProps2.xml><?xml version="1.0" encoding="utf-8"?>
<ds:datastoreItem xmlns:ds="http://schemas.openxmlformats.org/officeDocument/2006/customXml" ds:itemID="{A82FC720-40B3-4D24-BE4D-EDB8174B105E}"/>
</file>

<file path=customXml/itemProps3.xml><?xml version="1.0" encoding="utf-8"?>
<ds:datastoreItem xmlns:ds="http://schemas.openxmlformats.org/officeDocument/2006/customXml" ds:itemID="{AFB11711-B413-48EB-BA66-74EDAE2F56AF}"/>
</file>

<file path=docProps/app.xml><?xml version="1.0" encoding="utf-8"?>
<Properties xmlns="http://schemas.openxmlformats.org/officeDocument/2006/extended-properties" xmlns:vt="http://schemas.openxmlformats.org/officeDocument/2006/docPropsVTypes">
  <TotalTime>8438</TotalTime>
  <Words>1095</Words>
  <Application>Microsoft Office PowerPoint</Application>
  <PresentationFormat>Widescreen</PresentationFormat>
  <Paragraphs>233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Linköpings universitet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Eduardo Tapia</dc:creator>
  <cp:lastModifiedBy>Eduardo Tapia</cp:lastModifiedBy>
  <cp:revision>167</cp:revision>
  <dcterms:created xsi:type="dcterms:W3CDTF">2016-09-19T15:22:17Z</dcterms:created>
  <dcterms:modified xsi:type="dcterms:W3CDTF">2026-03-10T15:55:17Z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0x0101000B7BE0EE43B23043AFE79A610A7C27D2</vt:lpwstr>
  </property>
</Properties>
</file>