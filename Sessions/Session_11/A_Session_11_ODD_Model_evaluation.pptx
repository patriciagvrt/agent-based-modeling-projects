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44" r:id="rId2"/>
    <p:sldId id="445" r:id="rId3"/>
    <p:sldId id="440" r:id="rId4"/>
    <p:sldId id="404" r:id="rId5"/>
    <p:sldId id="406" r:id="rId6"/>
    <p:sldId id="405" r:id="rId7"/>
    <p:sldId id="361" r:id="rId8"/>
    <p:sldId id="407" r:id="rId9"/>
    <p:sldId id="408" r:id="rId10"/>
    <p:sldId id="409" r:id="rId11"/>
    <p:sldId id="410" r:id="rId12"/>
    <p:sldId id="443" r:id="rId13"/>
    <p:sldId id="431" r:id="rId14"/>
    <p:sldId id="412" r:id="rId15"/>
    <p:sldId id="422" r:id="rId16"/>
    <p:sldId id="424" r:id="rId17"/>
    <p:sldId id="425" r:id="rId18"/>
    <p:sldId id="426" r:id="rId19"/>
    <p:sldId id="401" r:id="rId20"/>
    <p:sldId id="427" r:id="rId21"/>
    <p:sldId id="428" r:id="rId22"/>
    <p:sldId id="414" r:id="rId23"/>
    <p:sldId id="415" r:id="rId24"/>
    <p:sldId id="416" r:id="rId25"/>
    <p:sldId id="417" r:id="rId26"/>
    <p:sldId id="419" r:id="rId27"/>
    <p:sldId id="42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9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0E6E59B-7513-4EDE-B2E2-29438AA372FB}"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3986017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E6E59B-7513-4EDE-B2E2-29438AA372FB}"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2239766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E6E59B-7513-4EDE-B2E2-29438AA372FB}"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1343978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E6E59B-7513-4EDE-B2E2-29438AA372FB}"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1977499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E6E59B-7513-4EDE-B2E2-29438AA372FB}"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1533689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0E6E59B-7513-4EDE-B2E2-29438AA372FB}"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375585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E6E59B-7513-4EDE-B2E2-29438AA372FB}"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1709823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E6E59B-7513-4EDE-B2E2-29438AA372FB}"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3198545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E6E59B-7513-4EDE-B2E2-29438AA372FB}"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4251544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E6E59B-7513-4EDE-B2E2-29438AA372FB}"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3222390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E6E59B-7513-4EDE-B2E2-29438AA372FB}"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6DEFEA-ABBC-4F81-8C65-303F609F623E}" type="slidenum">
              <a:rPr lang="en-US" smtClean="0"/>
              <a:t>‹#›</a:t>
            </a:fld>
            <a:endParaRPr lang="en-US"/>
          </a:p>
        </p:txBody>
      </p:sp>
    </p:spTree>
    <p:extLst>
      <p:ext uri="{BB962C8B-B14F-4D97-AF65-F5344CB8AC3E}">
        <p14:creationId xmlns:p14="http://schemas.microsoft.com/office/powerpoint/2010/main" val="1966090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E6E59B-7513-4EDE-B2E2-29438AA372FB}" type="datetimeFigureOut">
              <a:rPr lang="en-US" smtClean="0"/>
              <a:t>3/11/2026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6DEFEA-ABBC-4F81-8C65-303F609F623E}" type="slidenum">
              <a:rPr lang="en-US" smtClean="0"/>
              <a:t>‹#›</a:t>
            </a:fld>
            <a:endParaRPr lang="en-US"/>
          </a:p>
        </p:txBody>
      </p:sp>
    </p:spTree>
    <p:extLst>
      <p:ext uri="{BB962C8B-B14F-4D97-AF65-F5344CB8AC3E}">
        <p14:creationId xmlns:p14="http://schemas.microsoft.com/office/powerpoint/2010/main" val="2010059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086C4-0DEA-9629-F5B9-19A5D30289F4}"/>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9C27E2A4-E671-CD44-D905-1AEAD58B92EA}"/>
              </a:ext>
            </a:extLst>
          </p:cNvPr>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a:extLst>
              <a:ext uri="{FF2B5EF4-FFF2-40B4-BE49-F238E27FC236}">
                <a16:creationId xmlns:a16="http://schemas.microsoft.com/office/drawing/2014/main" id="{0828D335-D62E-7319-EC8E-94FBD19CD1C8}"/>
              </a:ext>
            </a:extLst>
          </p:cNvPr>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a:extLst>
              <a:ext uri="{FF2B5EF4-FFF2-40B4-BE49-F238E27FC236}">
                <a16:creationId xmlns:a16="http://schemas.microsoft.com/office/drawing/2014/main" id="{AA00A2E3-5580-2E69-FD84-681F7A09FDA5}"/>
              </a:ext>
            </a:extLst>
          </p:cNvPr>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a:extLst>
              <a:ext uri="{FF2B5EF4-FFF2-40B4-BE49-F238E27FC236}">
                <a16:creationId xmlns:a16="http://schemas.microsoft.com/office/drawing/2014/main" id="{24739CF3-1DD0-EACF-3163-4A23F96929B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sp>
        <p:nvSpPr>
          <p:cNvPr id="2" name="Rectangle 1">
            <a:extLst>
              <a:ext uri="{FF2B5EF4-FFF2-40B4-BE49-F238E27FC236}">
                <a16:creationId xmlns:a16="http://schemas.microsoft.com/office/drawing/2014/main" id="{3B1AEDA7-83E4-AFFF-9738-8DA3A92F917D}"/>
              </a:ext>
            </a:extLst>
          </p:cNvPr>
          <p:cNvSpPr/>
          <p:nvPr/>
        </p:nvSpPr>
        <p:spPr>
          <a:xfrm>
            <a:off x="2431890" y="1289194"/>
            <a:ext cx="5519414" cy="3785652"/>
          </a:xfrm>
          <a:prstGeom prst="rect">
            <a:avLst/>
          </a:prstGeom>
        </p:spPr>
        <p:txBody>
          <a:bodyPr wrap="square">
            <a:spAutoFit/>
          </a:bodyPr>
          <a:lstStyle/>
          <a:p>
            <a:r>
              <a:rPr lang="en-GB" sz="4000" b="1" dirty="0"/>
              <a:t>Outline of Session 11 </a:t>
            </a:r>
          </a:p>
          <a:p>
            <a:pPr marL="685800" indent="-685800">
              <a:buFont typeface="Arial" panose="020B0604020202020204" pitchFamily="34" charset="0"/>
              <a:buChar char="•"/>
            </a:pPr>
            <a:r>
              <a:rPr lang="en-GB" sz="4000" b="1" dirty="0"/>
              <a:t>ODD Protocol </a:t>
            </a:r>
          </a:p>
          <a:p>
            <a:pPr marL="685800" indent="-685800">
              <a:buFont typeface="Arial" panose="020B0604020202020204" pitchFamily="34" charset="0"/>
              <a:buChar char="•"/>
            </a:pPr>
            <a:r>
              <a:rPr lang="en-GB" sz="4000" b="1" dirty="0"/>
              <a:t>ABM Evaluation </a:t>
            </a:r>
          </a:p>
          <a:p>
            <a:pPr marL="685800" indent="-685800">
              <a:buFont typeface="Arial" panose="020B0604020202020204" pitchFamily="34" charset="0"/>
              <a:buChar char="•"/>
            </a:pPr>
            <a:r>
              <a:rPr lang="en-GB" sz="4000" b="1" dirty="0"/>
              <a:t>ECABM</a:t>
            </a:r>
          </a:p>
          <a:p>
            <a:pPr marL="685800" indent="-685800">
              <a:buFont typeface="Arial" panose="020B0604020202020204" pitchFamily="34" charset="0"/>
              <a:buChar char="•"/>
            </a:pPr>
            <a:r>
              <a:rPr lang="en-GB" sz="4000" b="1" dirty="0"/>
              <a:t>Final exam guidelines</a:t>
            </a:r>
          </a:p>
          <a:p>
            <a:pPr marL="685800" indent="-685800">
              <a:buFont typeface="Arial" panose="020B0604020202020204" pitchFamily="34" charset="0"/>
              <a:buChar char="•"/>
            </a:pPr>
            <a:r>
              <a:rPr lang="en-GB" sz="4000" b="1" dirty="0"/>
              <a:t>Mock exam</a:t>
            </a:r>
            <a:endParaRPr lang="en-GB" sz="4000" dirty="0"/>
          </a:p>
        </p:txBody>
      </p:sp>
    </p:spTree>
    <p:extLst>
      <p:ext uri="{BB962C8B-B14F-4D97-AF65-F5344CB8AC3E}">
        <p14:creationId xmlns:p14="http://schemas.microsoft.com/office/powerpoint/2010/main" val="252189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3D432-DB4C-9FE2-EA10-200E57083B3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7A9F20A9-34BF-0136-D57E-D7F662BF6AA4}"/>
              </a:ext>
            </a:extLst>
          </p:cNvPr>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a:extLst>
              <a:ext uri="{FF2B5EF4-FFF2-40B4-BE49-F238E27FC236}">
                <a16:creationId xmlns:a16="http://schemas.microsoft.com/office/drawing/2014/main" id="{CE0AB315-F9CF-53C2-0641-66A97475EF78}"/>
              </a:ext>
            </a:extLst>
          </p:cNvPr>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a:extLst>
              <a:ext uri="{FF2B5EF4-FFF2-40B4-BE49-F238E27FC236}">
                <a16:creationId xmlns:a16="http://schemas.microsoft.com/office/drawing/2014/main" id="{3EEC2152-BA5D-133B-73C9-EBAA40ABAA12}"/>
              </a:ext>
            </a:extLst>
          </p:cNvPr>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a:extLst>
              <a:ext uri="{FF2B5EF4-FFF2-40B4-BE49-F238E27FC236}">
                <a16:creationId xmlns:a16="http://schemas.microsoft.com/office/drawing/2014/main" id="{6C0C3B12-6976-615A-65A7-B43868EFBE1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sp>
        <p:nvSpPr>
          <p:cNvPr id="2" name="Rectangle 1">
            <a:extLst>
              <a:ext uri="{FF2B5EF4-FFF2-40B4-BE49-F238E27FC236}">
                <a16:creationId xmlns:a16="http://schemas.microsoft.com/office/drawing/2014/main" id="{2F121772-5163-1186-B3D1-77C7D8FFCC9B}"/>
              </a:ext>
            </a:extLst>
          </p:cNvPr>
          <p:cNvSpPr/>
          <p:nvPr/>
        </p:nvSpPr>
        <p:spPr>
          <a:xfrm>
            <a:off x="2638624" y="1315181"/>
            <a:ext cx="5105946" cy="861774"/>
          </a:xfrm>
          <a:prstGeom prst="rect">
            <a:avLst/>
          </a:prstGeom>
        </p:spPr>
        <p:txBody>
          <a:bodyPr wrap="square">
            <a:spAutoFit/>
          </a:bodyPr>
          <a:lstStyle/>
          <a:p>
            <a:r>
              <a:rPr lang="sv-SE" sz="5000" dirty="0"/>
              <a:t>The ODD </a:t>
            </a:r>
            <a:r>
              <a:rPr lang="sv-SE" sz="5000" dirty="0" err="1"/>
              <a:t>protocol</a:t>
            </a:r>
            <a:r>
              <a:rPr lang="sv-SE" sz="5000" dirty="0"/>
              <a:t> </a:t>
            </a:r>
          </a:p>
        </p:txBody>
      </p:sp>
    </p:spTree>
    <p:extLst>
      <p:ext uri="{BB962C8B-B14F-4D97-AF65-F5344CB8AC3E}">
        <p14:creationId xmlns:p14="http://schemas.microsoft.com/office/powerpoint/2010/main" val="2537471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pic>
        <p:nvPicPr>
          <p:cNvPr id="7" name="Picture 6">
            <a:extLst>
              <a:ext uri="{FF2B5EF4-FFF2-40B4-BE49-F238E27FC236}">
                <a16:creationId xmlns:a16="http://schemas.microsoft.com/office/drawing/2014/main" id="{3073753C-BF3B-4984-89BD-145EB1EF0C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55994" y="1291771"/>
            <a:ext cx="5552692" cy="4876800"/>
          </a:xfrm>
          <a:prstGeom prst="rect">
            <a:avLst/>
          </a:prstGeom>
          <a:noFill/>
          <a:ln>
            <a:noFill/>
          </a:ln>
        </p:spPr>
      </p:pic>
      <p:sp>
        <p:nvSpPr>
          <p:cNvPr id="2" name="Rectangle 1">
            <a:extLst>
              <a:ext uri="{FF2B5EF4-FFF2-40B4-BE49-F238E27FC236}">
                <a16:creationId xmlns:a16="http://schemas.microsoft.com/office/drawing/2014/main" id="{320D0315-6C8A-4666-8248-C66A227B29AF}"/>
              </a:ext>
            </a:extLst>
          </p:cNvPr>
          <p:cNvSpPr/>
          <p:nvPr/>
        </p:nvSpPr>
        <p:spPr>
          <a:xfrm>
            <a:off x="8017516" y="1540634"/>
            <a:ext cx="3861450" cy="4293483"/>
          </a:xfrm>
          <a:prstGeom prst="rect">
            <a:avLst/>
          </a:prstGeom>
        </p:spPr>
        <p:txBody>
          <a:bodyPr wrap="square">
            <a:spAutoFit/>
          </a:bodyPr>
          <a:lstStyle/>
          <a:p>
            <a:r>
              <a:rPr lang="sv-SE" sz="2100" dirty="0"/>
              <a:t>The ODD </a:t>
            </a:r>
            <a:r>
              <a:rPr lang="sv-SE" sz="2100" dirty="0" err="1"/>
              <a:t>protocol</a:t>
            </a:r>
            <a:r>
              <a:rPr lang="sv-SE" sz="2100" dirty="0"/>
              <a:t> is a template </a:t>
            </a:r>
            <a:r>
              <a:rPr lang="sv-SE" sz="2100" dirty="0" err="1"/>
              <a:t>that</a:t>
            </a:r>
            <a:r>
              <a:rPr lang="sv-SE" sz="2100" dirty="0"/>
              <a:t> researchers </a:t>
            </a:r>
            <a:r>
              <a:rPr lang="sv-SE" sz="2100" dirty="0" err="1"/>
              <a:t>use</a:t>
            </a:r>
            <a:r>
              <a:rPr lang="sv-SE" sz="2100" dirty="0"/>
              <a:t> to </a:t>
            </a:r>
            <a:r>
              <a:rPr lang="sv-SE" sz="2100" dirty="0" err="1"/>
              <a:t>summarize</a:t>
            </a:r>
            <a:r>
              <a:rPr lang="sv-SE" sz="2100" dirty="0"/>
              <a:t> </a:t>
            </a:r>
            <a:r>
              <a:rPr lang="sv-SE" sz="2100" dirty="0" err="1"/>
              <a:t>their</a:t>
            </a:r>
            <a:r>
              <a:rPr lang="sv-SE" sz="2100" dirty="0"/>
              <a:t> ABMs.</a:t>
            </a:r>
          </a:p>
          <a:p>
            <a:endParaRPr lang="sv-SE" sz="2100" dirty="0"/>
          </a:p>
          <a:p>
            <a:r>
              <a:rPr lang="sv-SE" sz="2100" dirty="0"/>
              <a:t>The </a:t>
            </a:r>
            <a:r>
              <a:rPr lang="sv-SE" sz="2100" dirty="0" err="1"/>
              <a:t>purpose</a:t>
            </a:r>
            <a:r>
              <a:rPr lang="sv-SE" sz="2100" dirty="0"/>
              <a:t> </a:t>
            </a:r>
            <a:r>
              <a:rPr lang="sv-SE" sz="2100" dirty="0" err="1"/>
              <a:t>of</a:t>
            </a:r>
            <a:r>
              <a:rPr lang="sv-SE" sz="2100" dirty="0"/>
              <a:t> the ODD is </a:t>
            </a:r>
            <a:r>
              <a:rPr lang="sv-SE" sz="2100" dirty="0" err="1"/>
              <a:t>only</a:t>
            </a:r>
            <a:r>
              <a:rPr lang="sv-SE" sz="2100" dirty="0"/>
              <a:t> to show the </a:t>
            </a:r>
            <a:r>
              <a:rPr lang="sv-SE" sz="2100" dirty="0" err="1"/>
              <a:t>most</a:t>
            </a:r>
            <a:r>
              <a:rPr lang="sv-SE" sz="2100" dirty="0"/>
              <a:t> relevant </a:t>
            </a:r>
            <a:r>
              <a:rPr lang="sv-SE" sz="2100" dirty="0" err="1"/>
              <a:t>aspect</a:t>
            </a:r>
            <a:r>
              <a:rPr lang="sv-SE" sz="2100" dirty="0"/>
              <a:t> </a:t>
            </a:r>
            <a:r>
              <a:rPr lang="sv-SE" sz="2100" dirty="0" err="1"/>
              <a:t>of</a:t>
            </a:r>
            <a:r>
              <a:rPr lang="sv-SE" sz="2100" dirty="0"/>
              <a:t> the </a:t>
            </a:r>
            <a:r>
              <a:rPr lang="sv-SE" sz="2100" dirty="0" err="1"/>
              <a:t>models</a:t>
            </a:r>
            <a:r>
              <a:rPr lang="sv-SE" sz="2100" dirty="0"/>
              <a:t> so </a:t>
            </a:r>
            <a:r>
              <a:rPr lang="sv-SE" sz="2100" dirty="0" err="1"/>
              <a:t>that</a:t>
            </a:r>
            <a:r>
              <a:rPr lang="sv-SE" sz="2100" dirty="0"/>
              <a:t> "</a:t>
            </a:r>
            <a:r>
              <a:rPr lang="sv-SE" sz="2100" dirty="0" err="1"/>
              <a:t>others</a:t>
            </a:r>
            <a:r>
              <a:rPr lang="sv-SE" sz="2100" dirty="0"/>
              <a:t>" </a:t>
            </a:r>
            <a:r>
              <a:rPr lang="sv-SE" sz="2100" dirty="0" err="1"/>
              <a:t>can</a:t>
            </a:r>
            <a:r>
              <a:rPr lang="sv-SE" sz="2100" dirty="0"/>
              <a:t> get a </a:t>
            </a:r>
            <a:r>
              <a:rPr lang="sv-SE" sz="2100" dirty="0" err="1"/>
              <a:t>clear</a:t>
            </a:r>
            <a:r>
              <a:rPr lang="sv-SE" sz="2100" dirty="0"/>
              <a:t> and general </a:t>
            </a:r>
            <a:r>
              <a:rPr lang="sv-SE" sz="2100" dirty="0" err="1"/>
              <a:t>picture</a:t>
            </a:r>
            <a:r>
              <a:rPr lang="sv-SE" sz="2100" dirty="0"/>
              <a:t> </a:t>
            </a:r>
            <a:r>
              <a:rPr lang="sv-SE" sz="2100" dirty="0" err="1"/>
              <a:t>of</a:t>
            </a:r>
            <a:r>
              <a:rPr lang="sv-SE" sz="2100" dirty="0"/>
              <a:t> </a:t>
            </a:r>
            <a:r>
              <a:rPr lang="sv-SE" sz="2100" dirty="0" err="1"/>
              <a:t>what</a:t>
            </a:r>
            <a:r>
              <a:rPr lang="sv-SE" sz="2100" dirty="0"/>
              <a:t> the </a:t>
            </a:r>
            <a:r>
              <a:rPr lang="sv-SE" sz="2100" dirty="0" err="1"/>
              <a:t>model</a:t>
            </a:r>
            <a:r>
              <a:rPr lang="sv-SE" sz="2100" dirty="0"/>
              <a:t> is </a:t>
            </a:r>
            <a:r>
              <a:rPr lang="sv-SE" sz="2100" dirty="0" err="1"/>
              <a:t>about</a:t>
            </a:r>
            <a:r>
              <a:rPr lang="sv-SE" sz="2100" dirty="0"/>
              <a:t>.</a:t>
            </a:r>
          </a:p>
          <a:p>
            <a:endParaRPr lang="sv-SE" sz="2100" dirty="0"/>
          </a:p>
          <a:p>
            <a:r>
              <a:rPr lang="sv-SE" sz="2100" dirty="0"/>
              <a:t>It is not a </a:t>
            </a:r>
            <a:r>
              <a:rPr lang="sv-SE" sz="2100" dirty="0" err="1"/>
              <a:t>fixed</a:t>
            </a:r>
            <a:r>
              <a:rPr lang="sv-SE" sz="2100" dirty="0"/>
              <a:t> template and </a:t>
            </a:r>
            <a:r>
              <a:rPr lang="sv-SE" sz="2100" dirty="0" err="1"/>
              <a:t>modelers</a:t>
            </a:r>
            <a:r>
              <a:rPr lang="sv-SE" sz="2100" dirty="0"/>
              <a:t> </a:t>
            </a:r>
            <a:r>
              <a:rPr lang="sv-SE" sz="2100" dirty="0" err="1"/>
              <a:t>are</a:t>
            </a:r>
            <a:r>
              <a:rPr lang="sv-SE" sz="2100" dirty="0"/>
              <a:t> </a:t>
            </a:r>
            <a:r>
              <a:rPr lang="sv-SE" sz="2100" dirty="0" err="1"/>
              <a:t>allowed</a:t>
            </a:r>
            <a:r>
              <a:rPr lang="sv-SE" sz="2100" dirty="0"/>
              <a:t> to </a:t>
            </a:r>
            <a:r>
              <a:rPr lang="sv-SE" sz="2100" dirty="0" err="1"/>
              <a:t>removing</a:t>
            </a:r>
            <a:r>
              <a:rPr lang="sv-SE" sz="2100" dirty="0"/>
              <a:t>/</a:t>
            </a:r>
            <a:r>
              <a:rPr lang="sv-SE" sz="2100" dirty="0" err="1"/>
              <a:t>adding</a:t>
            </a:r>
            <a:r>
              <a:rPr lang="sv-SE" sz="2100" dirty="0"/>
              <a:t> </a:t>
            </a:r>
            <a:r>
              <a:rPr lang="sv-SE" sz="2100" dirty="0" err="1"/>
              <a:t>other</a:t>
            </a:r>
            <a:r>
              <a:rPr lang="sv-SE" sz="2100" dirty="0"/>
              <a:t> </a:t>
            </a:r>
            <a:r>
              <a:rPr lang="sv-SE" sz="2100" dirty="0" err="1"/>
              <a:t>items</a:t>
            </a:r>
            <a:r>
              <a:rPr lang="sv-SE" sz="2100" dirty="0"/>
              <a:t>.</a:t>
            </a:r>
          </a:p>
        </p:txBody>
      </p:sp>
    </p:spTree>
    <p:extLst>
      <p:ext uri="{BB962C8B-B14F-4D97-AF65-F5344CB8AC3E}">
        <p14:creationId xmlns:p14="http://schemas.microsoft.com/office/powerpoint/2010/main" val="2747434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pic>
        <p:nvPicPr>
          <p:cNvPr id="7" name="Picture 6">
            <a:extLst>
              <a:ext uri="{FF2B5EF4-FFF2-40B4-BE49-F238E27FC236}">
                <a16:creationId xmlns:a16="http://schemas.microsoft.com/office/drawing/2014/main" id="{3073753C-BF3B-4984-89BD-145EB1EF0C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55994" y="1291771"/>
            <a:ext cx="5552692" cy="4876800"/>
          </a:xfrm>
          <a:prstGeom prst="rect">
            <a:avLst/>
          </a:prstGeom>
          <a:noFill/>
          <a:ln>
            <a:noFill/>
          </a:ln>
        </p:spPr>
      </p:pic>
      <p:sp>
        <p:nvSpPr>
          <p:cNvPr id="3" name="Rectangle 2">
            <a:extLst>
              <a:ext uri="{FF2B5EF4-FFF2-40B4-BE49-F238E27FC236}">
                <a16:creationId xmlns:a16="http://schemas.microsoft.com/office/drawing/2014/main" id="{64E6E39C-7DFB-4A25-A9E0-1C726E4DE86D}"/>
              </a:ext>
            </a:extLst>
          </p:cNvPr>
          <p:cNvSpPr/>
          <p:nvPr/>
        </p:nvSpPr>
        <p:spPr>
          <a:xfrm>
            <a:off x="8346691" y="1291771"/>
            <a:ext cx="3250223" cy="3477875"/>
          </a:xfrm>
          <a:prstGeom prst="rect">
            <a:avLst/>
          </a:prstGeom>
        </p:spPr>
        <p:txBody>
          <a:bodyPr wrap="square">
            <a:spAutoFit/>
          </a:bodyPr>
          <a:lstStyle/>
          <a:p>
            <a:r>
              <a:rPr lang="en-US" sz="2200" dirty="0"/>
              <a:t>What is the goal of your model?  Making predictions to inform policy decisions? Exploring theoretical insights about certain individual mechanisms or other aspects such as policy interventions, the physical environment, etc.? </a:t>
            </a:r>
            <a:endParaRPr lang="sv-SE" sz="2200" dirty="0"/>
          </a:p>
        </p:txBody>
      </p:sp>
      <p:sp>
        <p:nvSpPr>
          <p:cNvPr id="4" name="Arrow: Right 3">
            <a:extLst>
              <a:ext uri="{FF2B5EF4-FFF2-40B4-BE49-F238E27FC236}">
                <a16:creationId xmlns:a16="http://schemas.microsoft.com/office/drawing/2014/main" id="{6D41C97E-DEAE-45F5-901B-16D847A4A2DE}"/>
              </a:ext>
            </a:extLst>
          </p:cNvPr>
          <p:cNvSpPr/>
          <p:nvPr/>
        </p:nvSpPr>
        <p:spPr>
          <a:xfrm>
            <a:off x="7449213" y="1525450"/>
            <a:ext cx="718945" cy="28302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023252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pic>
        <p:nvPicPr>
          <p:cNvPr id="7" name="Picture 6">
            <a:extLst>
              <a:ext uri="{FF2B5EF4-FFF2-40B4-BE49-F238E27FC236}">
                <a16:creationId xmlns:a16="http://schemas.microsoft.com/office/drawing/2014/main" id="{3073753C-BF3B-4984-89BD-145EB1EF0C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55994" y="1291771"/>
            <a:ext cx="5552692" cy="4876800"/>
          </a:xfrm>
          <a:prstGeom prst="rect">
            <a:avLst/>
          </a:prstGeom>
          <a:noFill/>
          <a:ln>
            <a:noFill/>
          </a:ln>
        </p:spPr>
      </p:pic>
      <p:sp>
        <p:nvSpPr>
          <p:cNvPr id="3" name="Rectangle 2">
            <a:extLst>
              <a:ext uri="{FF2B5EF4-FFF2-40B4-BE49-F238E27FC236}">
                <a16:creationId xmlns:a16="http://schemas.microsoft.com/office/drawing/2014/main" id="{64E6E39C-7DFB-4A25-A9E0-1C726E4DE86D}"/>
              </a:ext>
            </a:extLst>
          </p:cNvPr>
          <p:cNvSpPr/>
          <p:nvPr/>
        </p:nvSpPr>
        <p:spPr>
          <a:xfrm>
            <a:off x="8346691" y="1291771"/>
            <a:ext cx="3250223" cy="4493538"/>
          </a:xfrm>
          <a:prstGeom prst="rect">
            <a:avLst/>
          </a:prstGeom>
        </p:spPr>
        <p:txBody>
          <a:bodyPr wrap="square">
            <a:spAutoFit/>
          </a:bodyPr>
          <a:lstStyle/>
          <a:p>
            <a:r>
              <a:rPr lang="en-US" sz="2200" dirty="0"/>
              <a:t>What kind of entities are in the system? Individuals? Houses? Stores?</a:t>
            </a:r>
          </a:p>
          <a:p>
            <a:r>
              <a:rPr lang="en-US" sz="2200" dirty="0"/>
              <a:t>What variables have those entities? (age, income, size, etc.) </a:t>
            </a:r>
          </a:p>
          <a:p>
            <a:endParaRPr lang="en-US" sz="2200" dirty="0"/>
          </a:p>
          <a:p>
            <a:r>
              <a:rPr lang="en-US" sz="2200" dirty="0"/>
              <a:t>How does the world look like? It is a lattice? network-based? Which variables do they have?</a:t>
            </a:r>
          </a:p>
          <a:p>
            <a:endParaRPr lang="en-US" sz="2200" dirty="0"/>
          </a:p>
          <a:p>
            <a:endParaRPr lang="en-US" sz="2200" dirty="0"/>
          </a:p>
        </p:txBody>
      </p:sp>
      <p:sp>
        <p:nvSpPr>
          <p:cNvPr id="4" name="Arrow: Right 3">
            <a:extLst>
              <a:ext uri="{FF2B5EF4-FFF2-40B4-BE49-F238E27FC236}">
                <a16:creationId xmlns:a16="http://schemas.microsoft.com/office/drawing/2014/main" id="{6D41C97E-DEAE-45F5-901B-16D847A4A2DE}"/>
              </a:ext>
            </a:extLst>
          </p:cNvPr>
          <p:cNvSpPr/>
          <p:nvPr/>
        </p:nvSpPr>
        <p:spPr>
          <a:xfrm>
            <a:off x="7358743" y="2181584"/>
            <a:ext cx="718945" cy="28302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94584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pic>
        <p:nvPicPr>
          <p:cNvPr id="7" name="Picture 6">
            <a:extLst>
              <a:ext uri="{FF2B5EF4-FFF2-40B4-BE49-F238E27FC236}">
                <a16:creationId xmlns:a16="http://schemas.microsoft.com/office/drawing/2014/main" id="{3073753C-BF3B-4984-89BD-145EB1EF0C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55994" y="1291771"/>
            <a:ext cx="5552692" cy="4876800"/>
          </a:xfrm>
          <a:prstGeom prst="rect">
            <a:avLst/>
          </a:prstGeom>
          <a:noFill/>
          <a:ln>
            <a:noFill/>
          </a:ln>
        </p:spPr>
      </p:pic>
      <p:sp>
        <p:nvSpPr>
          <p:cNvPr id="3" name="Rectangle 2">
            <a:extLst>
              <a:ext uri="{FF2B5EF4-FFF2-40B4-BE49-F238E27FC236}">
                <a16:creationId xmlns:a16="http://schemas.microsoft.com/office/drawing/2014/main" id="{64E6E39C-7DFB-4A25-A9E0-1C726E4DE86D}"/>
              </a:ext>
            </a:extLst>
          </p:cNvPr>
          <p:cNvSpPr/>
          <p:nvPr/>
        </p:nvSpPr>
        <p:spPr>
          <a:xfrm>
            <a:off x="8688265" y="2001690"/>
            <a:ext cx="2495481" cy="3139321"/>
          </a:xfrm>
          <a:prstGeom prst="rect">
            <a:avLst/>
          </a:prstGeom>
        </p:spPr>
        <p:txBody>
          <a:bodyPr wrap="square">
            <a:spAutoFit/>
          </a:bodyPr>
          <a:lstStyle/>
          <a:p>
            <a:r>
              <a:rPr lang="en-US" sz="2200" dirty="0">
                <a:highlight>
                  <a:srgbClr val="FFFF00"/>
                </a:highlight>
              </a:rPr>
              <a:t>Flow chart</a:t>
            </a:r>
          </a:p>
          <a:p>
            <a:endParaRPr lang="en-US" sz="2200" dirty="0"/>
          </a:p>
          <a:p>
            <a:r>
              <a:rPr lang="en-US" sz="2200" dirty="0">
                <a:highlight>
                  <a:srgbClr val="FFFF00"/>
                </a:highlight>
              </a:rPr>
              <a:t>Schedule</a:t>
            </a:r>
          </a:p>
          <a:p>
            <a:endParaRPr lang="en-US" sz="2200" dirty="0"/>
          </a:p>
          <a:p>
            <a:r>
              <a:rPr lang="en-US" sz="2200" dirty="0"/>
              <a:t>You do not have to specify in detail the processes but only give a general flow chart of the model.</a:t>
            </a:r>
          </a:p>
        </p:txBody>
      </p:sp>
      <p:sp>
        <p:nvSpPr>
          <p:cNvPr id="4" name="Arrow: Right 3">
            <a:extLst>
              <a:ext uri="{FF2B5EF4-FFF2-40B4-BE49-F238E27FC236}">
                <a16:creationId xmlns:a16="http://schemas.microsoft.com/office/drawing/2014/main" id="{6D41C97E-DEAE-45F5-901B-16D847A4A2DE}"/>
              </a:ext>
            </a:extLst>
          </p:cNvPr>
          <p:cNvSpPr/>
          <p:nvPr/>
        </p:nvSpPr>
        <p:spPr>
          <a:xfrm>
            <a:off x="7627746" y="2820213"/>
            <a:ext cx="718945" cy="28302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467765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3" name="Parallelogram 2"/>
          <p:cNvSpPr/>
          <p:nvPr/>
        </p:nvSpPr>
        <p:spPr>
          <a:xfrm>
            <a:off x="5972959" y="990024"/>
            <a:ext cx="1573806" cy="449788"/>
          </a:xfrm>
          <a:prstGeom prst="parallelogram">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a:t>Agents</a:t>
            </a:r>
            <a:endParaRPr lang="en-US" sz="1200" dirty="0"/>
          </a:p>
        </p:txBody>
      </p:sp>
      <p:sp>
        <p:nvSpPr>
          <p:cNvPr id="4" name="Rectangle 3"/>
          <p:cNvSpPr/>
          <p:nvPr/>
        </p:nvSpPr>
        <p:spPr>
          <a:xfrm>
            <a:off x="5812744" y="2638072"/>
            <a:ext cx="1949981" cy="31678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err="1"/>
              <a:t>Compare</a:t>
            </a:r>
            <a:r>
              <a:rPr lang="sv-SE" sz="1200" dirty="0"/>
              <a:t> </a:t>
            </a:r>
            <a:r>
              <a:rPr lang="sv-SE" sz="1200" dirty="0" err="1"/>
              <a:t>current</a:t>
            </a:r>
            <a:r>
              <a:rPr lang="sv-SE" sz="1200" dirty="0"/>
              <a:t> opinions</a:t>
            </a:r>
            <a:endParaRPr lang="en-US" sz="1200" dirty="0"/>
          </a:p>
        </p:txBody>
      </p:sp>
      <p:sp>
        <p:nvSpPr>
          <p:cNvPr id="5" name="Diamond 4"/>
          <p:cNvSpPr/>
          <p:nvPr/>
        </p:nvSpPr>
        <p:spPr>
          <a:xfrm>
            <a:off x="5699666" y="3282383"/>
            <a:ext cx="2120387" cy="1132513"/>
          </a:xfrm>
          <a:prstGeom prst="diamond">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err="1"/>
              <a:t>Abs</a:t>
            </a:r>
            <a:r>
              <a:rPr lang="sv-SE" sz="1200" dirty="0"/>
              <a:t> </a:t>
            </a:r>
            <a:r>
              <a:rPr lang="sv-SE" sz="1200" dirty="0" err="1"/>
              <a:t>diff</a:t>
            </a:r>
            <a:r>
              <a:rPr lang="sv-SE" sz="1200" dirty="0"/>
              <a:t> </a:t>
            </a:r>
            <a:r>
              <a:rPr lang="sv-SE" sz="1200" dirty="0" err="1"/>
              <a:t>current</a:t>
            </a:r>
            <a:r>
              <a:rPr lang="sv-SE" sz="1200" dirty="0"/>
              <a:t> opinions  i &amp; j &lt; d</a:t>
            </a:r>
            <a:endParaRPr lang="en-US" sz="1200" dirty="0"/>
          </a:p>
        </p:txBody>
      </p:sp>
      <p:sp>
        <p:nvSpPr>
          <p:cNvPr id="10" name="Rectangle 9"/>
          <p:cNvSpPr/>
          <p:nvPr/>
        </p:nvSpPr>
        <p:spPr>
          <a:xfrm>
            <a:off x="8097659" y="3752119"/>
            <a:ext cx="732988" cy="280423"/>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err="1"/>
              <a:t>nothing</a:t>
            </a:r>
            <a:endParaRPr lang="en-US" sz="1200" dirty="0"/>
          </a:p>
        </p:txBody>
      </p:sp>
      <p:sp>
        <p:nvSpPr>
          <p:cNvPr id="11" name="Rectangle 10"/>
          <p:cNvSpPr/>
          <p:nvPr/>
        </p:nvSpPr>
        <p:spPr>
          <a:xfrm>
            <a:off x="5832101" y="4920450"/>
            <a:ext cx="1949976" cy="65429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sv-SE" sz="1500" dirty="0" err="1"/>
              <a:t>Adjust</a:t>
            </a:r>
            <a:r>
              <a:rPr lang="sv-SE" sz="1500" dirty="0"/>
              <a:t> agents’ opinions (i ,j)</a:t>
            </a:r>
            <a:endParaRPr lang="en-US" sz="1500" dirty="0"/>
          </a:p>
        </p:txBody>
      </p:sp>
      <p:sp>
        <p:nvSpPr>
          <p:cNvPr id="18" name="Rectangle 17"/>
          <p:cNvSpPr/>
          <p:nvPr/>
        </p:nvSpPr>
        <p:spPr>
          <a:xfrm>
            <a:off x="5972960" y="1720368"/>
            <a:ext cx="1573806" cy="395293"/>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a:t>Pick </a:t>
            </a:r>
            <a:r>
              <a:rPr lang="sv-SE" sz="1200" dirty="0" err="1"/>
              <a:t>randomly</a:t>
            </a:r>
            <a:r>
              <a:rPr lang="sv-SE" sz="1200" dirty="0"/>
              <a:t> </a:t>
            </a:r>
            <a:r>
              <a:rPr lang="sv-SE" sz="1200" dirty="0" err="1"/>
              <a:t>one</a:t>
            </a:r>
            <a:r>
              <a:rPr lang="sv-SE" sz="1200" dirty="0"/>
              <a:t> agent(i)</a:t>
            </a:r>
            <a:endParaRPr lang="en-US" sz="1200" dirty="0"/>
          </a:p>
        </p:txBody>
      </p:sp>
      <p:cxnSp>
        <p:nvCxnSpPr>
          <p:cNvPr id="22" name="Straight Arrow Connector 21"/>
          <p:cNvCxnSpPr>
            <a:cxnSpLocks/>
            <a:stCxn id="3" idx="4"/>
            <a:endCxn id="18" idx="0"/>
          </p:cNvCxnSpPr>
          <p:nvPr/>
        </p:nvCxnSpPr>
        <p:spPr>
          <a:xfrm>
            <a:off x="6759862" y="1439812"/>
            <a:ext cx="1" cy="280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cxnSpLocks/>
          </p:cNvCxnSpPr>
          <p:nvPr/>
        </p:nvCxnSpPr>
        <p:spPr>
          <a:xfrm>
            <a:off x="6759859" y="2985425"/>
            <a:ext cx="346" cy="2311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a:off x="6759860" y="4448980"/>
            <a:ext cx="1" cy="28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a:off x="7754131" y="3895480"/>
            <a:ext cx="3761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p:cNvSpPr txBox="1"/>
          <p:nvPr/>
        </p:nvSpPr>
        <p:spPr>
          <a:xfrm>
            <a:off x="6193828" y="4444415"/>
            <a:ext cx="389594" cy="27699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err="1"/>
              <a:t>yes</a:t>
            </a:r>
            <a:endParaRPr lang="en-US" sz="1200" dirty="0"/>
          </a:p>
        </p:txBody>
      </p:sp>
      <p:sp>
        <p:nvSpPr>
          <p:cNvPr id="36" name="TextBox 35"/>
          <p:cNvSpPr txBox="1"/>
          <p:nvPr/>
        </p:nvSpPr>
        <p:spPr>
          <a:xfrm>
            <a:off x="7749644" y="3515000"/>
            <a:ext cx="346570" cy="27699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a:t>no</a:t>
            </a:r>
            <a:endParaRPr lang="en-US" sz="1200" dirty="0"/>
          </a:p>
        </p:txBody>
      </p:sp>
      <p:cxnSp>
        <p:nvCxnSpPr>
          <p:cNvPr id="38" name="Elbow Connector 37"/>
          <p:cNvCxnSpPr>
            <a:cxnSpLocks/>
          </p:cNvCxnSpPr>
          <p:nvPr/>
        </p:nvCxnSpPr>
        <p:spPr>
          <a:xfrm rot="16200000" flipV="1">
            <a:off x="7250596" y="2381038"/>
            <a:ext cx="1715018" cy="750189"/>
          </a:xfrm>
          <a:prstGeom prst="bentConnector3">
            <a:avLst>
              <a:gd name="adj1" fmla="val 100355"/>
            </a:avLst>
          </a:prstGeom>
          <a:ln>
            <a:prstDash val="dash"/>
            <a:headEnd type="oval" w="med" len="med"/>
            <a:tailEnd type="triangle" w="med" len="med"/>
          </a:ln>
        </p:spPr>
        <p:style>
          <a:lnRef idx="1">
            <a:schemeClr val="dk1"/>
          </a:lnRef>
          <a:fillRef idx="0">
            <a:schemeClr val="dk1"/>
          </a:fillRef>
          <a:effectRef idx="0">
            <a:schemeClr val="dk1"/>
          </a:effectRef>
          <a:fontRef idx="minor">
            <a:schemeClr val="tx1"/>
          </a:fontRef>
        </p:style>
      </p:cxnSp>
      <p:cxnSp>
        <p:nvCxnSpPr>
          <p:cNvPr id="43" name="Elbow Connector 42"/>
          <p:cNvCxnSpPr>
            <a:cxnSpLocks/>
          </p:cNvCxnSpPr>
          <p:nvPr/>
        </p:nvCxnSpPr>
        <p:spPr>
          <a:xfrm rot="5400000" flipH="1" flipV="1">
            <a:off x="3632045" y="3818821"/>
            <a:ext cx="4151116" cy="231645"/>
          </a:xfrm>
          <a:prstGeom prst="bentConnector3">
            <a:avLst>
              <a:gd name="adj1" fmla="val 99960"/>
            </a:avLst>
          </a:prstGeom>
          <a:ln>
            <a:prstDash val="dash"/>
            <a:headEnd type="oval" w="med" len="med"/>
            <a:tailEnd type="triangle" w="med" len="med"/>
          </a:ln>
        </p:spPr>
        <p:style>
          <a:lnRef idx="1">
            <a:schemeClr val="dk1"/>
          </a:lnRef>
          <a:fillRef idx="0">
            <a:schemeClr val="dk1"/>
          </a:fillRef>
          <a:effectRef idx="0">
            <a:schemeClr val="dk1"/>
          </a:effectRef>
          <a:fontRef idx="minor">
            <a:schemeClr val="tx1"/>
          </a:fontRef>
        </p:style>
      </p:cxnSp>
      <p:sp>
        <p:nvSpPr>
          <p:cNvPr id="45" name="Rectangle 44"/>
          <p:cNvSpPr/>
          <p:nvPr/>
        </p:nvSpPr>
        <p:spPr>
          <a:xfrm>
            <a:off x="8367362" y="5686980"/>
            <a:ext cx="1141358" cy="600163"/>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a:t>opinion </a:t>
            </a:r>
          </a:p>
          <a:p>
            <a:pPr algn="ctr"/>
            <a:r>
              <a:rPr lang="sv-SE" sz="1200" dirty="0"/>
              <a:t>distribution</a:t>
            </a:r>
            <a:endParaRPr lang="en-US" sz="1200" dirty="0"/>
          </a:p>
        </p:txBody>
      </p:sp>
      <p:cxnSp>
        <p:nvCxnSpPr>
          <p:cNvPr id="49" name="Straight Arrow Connector 48"/>
          <p:cNvCxnSpPr>
            <a:cxnSpLocks/>
          </p:cNvCxnSpPr>
          <p:nvPr/>
        </p:nvCxnSpPr>
        <p:spPr>
          <a:xfrm>
            <a:off x="7711788" y="6010200"/>
            <a:ext cx="4185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7499623" y="818606"/>
            <a:ext cx="1906163" cy="646331"/>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pPr marL="171450" indent="-171450">
              <a:buFont typeface="Arial" panose="020B0604020202020204" pitchFamily="34" charset="0"/>
              <a:buChar char="•"/>
            </a:pPr>
            <a:r>
              <a:rPr lang="sv-SE" sz="1200" dirty="0"/>
              <a:t>Global </a:t>
            </a:r>
            <a:r>
              <a:rPr lang="sv-SE" sz="1200" dirty="0" err="1"/>
              <a:t>variable</a:t>
            </a:r>
            <a:r>
              <a:rPr lang="sv-SE" sz="1200" dirty="0"/>
              <a:t> d &amp; u</a:t>
            </a:r>
          </a:p>
          <a:p>
            <a:pPr marL="171450" indent="-171450">
              <a:buFont typeface="Arial" panose="020B0604020202020204" pitchFamily="34" charset="0"/>
              <a:buChar char="•"/>
            </a:pPr>
            <a:r>
              <a:rPr lang="sv-SE" sz="1200" dirty="0"/>
              <a:t># Agents</a:t>
            </a:r>
            <a:endParaRPr lang="en-US" sz="1200" dirty="0"/>
          </a:p>
          <a:p>
            <a:pPr marL="171450" indent="-171450">
              <a:buFont typeface="Arial" panose="020B0604020202020204" pitchFamily="34" charset="0"/>
              <a:buChar char="•"/>
            </a:pPr>
            <a:r>
              <a:rPr lang="sv-SE" sz="1200" dirty="0"/>
              <a:t>Agents’ </a:t>
            </a:r>
            <a:r>
              <a:rPr lang="sv-SE" sz="1200" dirty="0" err="1"/>
              <a:t>variable</a:t>
            </a:r>
            <a:r>
              <a:rPr lang="sv-SE" sz="1200" dirty="0"/>
              <a:t>: opinion</a:t>
            </a:r>
          </a:p>
        </p:txBody>
      </p:sp>
      <p:sp>
        <p:nvSpPr>
          <p:cNvPr id="53" name="TextBox 52"/>
          <p:cNvSpPr txBox="1"/>
          <p:nvPr/>
        </p:nvSpPr>
        <p:spPr>
          <a:xfrm>
            <a:off x="8567620" y="5228591"/>
            <a:ext cx="609462" cy="27699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a:t>output</a:t>
            </a:r>
            <a:endParaRPr lang="en-US" sz="1200" dirty="0"/>
          </a:p>
        </p:txBody>
      </p:sp>
      <p:sp>
        <p:nvSpPr>
          <p:cNvPr id="32" name="Rectangle 31">
            <a:extLst>
              <a:ext uri="{FF2B5EF4-FFF2-40B4-BE49-F238E27FC236}">
                <a16:creationId xmlns:a16="http://schemas.microsoft.com/office/drawing/2014/main" id="{5CA792B7-2EA9-4446-AC10-327DC84DA6C8}"/>
              </a:ext>
            </a:extLst>
          </p:cNvPr>
          <p:cNvSpPr/>
          <p:nvPr/>
        </p:nvSpPr>
        <p:spPr>
          <a:xfrm>
            <a:off x="6241578" y="5651905"/>
            <a:ext cx="1205409" cy="654292"/>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a:t>All agents </a:t>
            </a:r>
            <a:r>
              <a:rPr lang="sv-SE" sz="1200" dirty="0" err="1"/>
              <a:t>have</a:t>
            </a:r>
            <a:r>
              <a:rPr lang="sv-SE" sz="1200" dirty="0"/>
              <a:t> </a:t>
            </a:r>
            <a:r>
              <a:rPr lang="sv-SE" sz="1200" dirty="0" err="1"/>
              <a:t>selected</a:t>
            </a:r>
            <a:r>
              <a:rPr lang="sv-SE" sz="1200" dirty="0"/>
              <a:t> </a:t>
            </a:r>
            <a:r>
              <a:rPr lang="sv-SE" sz="1200" dirty="0" err="1"/>
              <a:t>other</a:t>
            </a:r>
            <a:r>
              <a:rPr lang="sv-SE" sz="1200" dirty="0"/>
              <a:t>?</a:t>
            </a:r>
            <a:endParaRPr lang="en-US" sz="1200" dirty="0"/>
          </a:p>
        </p:txBody>
      </p:sp>
      <p:sp>
        <p:nvSpPr>
          <p:cNvPr id="34" name="TextBox 33">
            <a:extLst>
              <a:ext uri="{FF2B5EF4-FFF2-40B4-BE49-F238E27FC236}">
                <a16:creationId xmlns:a16="http://schemas.microsoft.com/office/drawing/2014/main" id="{35FE93AC-2129-4D3A-A078-1AC80505F429}"/>
              </a:ext>
            </a:extLst>
          </p:cNvPr>
          <p:cNvSpPr txBox="1"/>
          <p:nvPr/>
        </p:nvSpPr>
        <p:spPr>
          <a:xfrm>
            <a:off x="7740717" y="6049310"/>
            <a:ext cx="389594" cy="27699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err="1"/>
              <a:t>yes</a:t>
            </a:r>
            <a:endParaRPr lang="en-US" sz="1200" dirty="0"/>
          </a:p>
        </p:txBody>
      </p:sp>
      <p:sp>
        <p:nvSpPr>
          <p:cNvPr id="37" name="TextBox 36">
            <a:extLst>
              <a:ext uri="{FF2B5EF4-FFF2-40B4-BE49-F238E27FC236}">
                <a16:creationId xmlns:a16="http://schemas.microsoft.com/office/drawing/2014/main" id="{C04B37EB-48D0-4D4C-91D9-4952E12D3AF2}"/>
              </a:ext>
            </a:extLst>
          </p:cNvPr>
          <p:cNvSpPr txBox="1"/>
          <p:nvPr/>
        </p:nvSpPr>
        <p:spPr>
          <a:xfrm>
            <a:off x="5714714" y="5871700"/>
            <a:ext cx="346570" cy="27699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a:t>no</a:t>
            </a:r>
            <a:endParaRPr lang="en-US" sz="1200" dirty="0"/>
          </a:p>
        </p:txBody>
      </p:sp>
      <p:sp>
        <p:nvSpPr>
          <p:cNvPr id="39" name="Rectangle 38">
            <a:extLst>
              <a:ext uri="{FF2B5EF4-FFF2-40B4-BE49-F238E27FC236}">
                <a16:creationId xmlns:a16="http://schemas.microsoft.com/office/drawing/2014/main" id="{6C53AEE6-F2ED-475D-83F3-7880CC6F3B3C}"/>
              </a:ext>
            </a:extLst>
          </p:cNvPr>
          <p:cNvSpPr/>
          <p:nvPr/>
        </p:nvSpPr>
        <p:spPr>
          <a:xfrm>
            <a:off x="5972959" y="2193064"/>
            <a:ext cx="1573806" cy="395293"/>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a:t>Agent i </a:t>
            </a:r>
            <a:r>
              <a:rPr lang="sv-SE" sz="1200" dirty="0" err="1"/>
              <a:t>selects</a:t>
            </a:r>
            <a:r>
              <a:rPr lang="sv-SE" sz="1200" dirty="0"/>
              <a:t> </a:t>
            </a:r>
            <a:r>
              <a:rPr lang="sv-SE" sz="1200" dirty="0" err="1"/>
              <a:t>other</a:t>
            </a:r>
            <a:r>
              <a:rPr lang="sv-SE" sz="1200" dirty="0"/>
              <a:t> agent (j)</a:t>
            </a:r>
            <a:endParaRPr lang="en-US" sz="1200" dirty="0"/>
          </a:p>
        </p:txBody>
      </p:sp>
      <p:cxnSp>
        <p:nvCxnSpPr>
          <p:cNvPr id="40" name="Straight Arrow Connector 39">
            <a:extLst>
              <a:ext uri="{FF2B5EF4-FFF2-40B4-BE49-F238E27FC236}">
                <a16:creationId xmlns:a16="http://schemas.microsoft.com/office/drawing/2014/main" id="{6D9F3A43-A420-4B3D-B7FB-D2C69D655BE6}"/>
              </a:ext>
            </a:extLst>
          </p:cNvPr>
          <p:cNvCxnSpPr>
            <a:cxnSpLocks/>
          </p:cNvCxnSpPr>
          <p:nvPr/>
        </p:nvCxnSpPr>
        <p:spPr>
          <a:xfrm flipH="1">
            <a:off x="5667732" y="6190494"/>
            <a:ext cx="3645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9" name="Picture 28">
            <a:extLst>
              <a:ext uri="{FF2B5EF4-FFF2-40B4-BE49-F238E27FC236}">
                <a16:creationId xmlns:a16="http://schemas.microsoft.com/office/drawing/2014/main" id="{1A494DAF-30D7-4E92-BB8B-980C7D7AFAA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24136" y="1635587"/>
            <a:ext cx="3840006" cy="3450894"/>
          </a:xfrm>
          <a:prstGeom prst="rect">
            <a:avLst/>
          </a:prstGeom>
        </p:spPr>
      </p:pic>
    </p:spTree>
    <p:extLst>
      <p:ext uri="{BB962C8B-B14F-4D97-AF65-F5344CB8AC3E}">
        <p14:creationId xmlns:p14="http://schemas.microsoft.com/office/powerpoint/2010/main" val="3577381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pic>
        <p:nvPicPr>
          <p:cNvPr id="7" name="Picture 6">
            <a:extLst>
              <a:ext uri="{FF2B5EF4-FFF2-40B4-BE49-F238E27FC236}">
                <a16:creationId xmlns:a16="http://schemas.microsoft.com/office/drawing/2014/main" id="{3073753C-BF3B-4984-89BD-145EB1EF0C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55994" y="1291771"/>
            <a:ext cx="5552692" cy="4876800"/>
          </a:xfrm>
          <a:prstGeom prst="rect">
            <a:avLst/>
          </a:prstGeom>
          <a:noFill/>
          <a:ln>
            <a:noFill/>
          </a:ln>
        </p:spPr>
      </p:pic>
      <p:sp>
        <p:nvSpPr>
          <p:cNvPr id="3" name="Rectangle 2">
            <a:extLst>
              <a:ext uri="{FF2B5EF4-FFF2-40B4-BE49-F238E27FC236}">
                <a16:creationId xmlns:a16="http://schemas.microsoft.com/office/drawing/2014/main" id="{64E6E39C-7DFB-4A25-A9E0-1C726E4DE86D}"/>
              </a:ext>
            </a:extLst>
          </p:cNvPr>
          <p:cNvSpPr/>
          <p:nvPr/>
        </p:nvSpPr>
        <p:spPr>
          <a:xfrm>
            <a:off x="8578920" y="1786936"/>
            <a:ext cx="2988966" cy="3816429"/>
          </a:xfrm>
          <a:prstGeom prst="rect">
            <a:avLst/>
          </a:prstGeom>
        </p:spPr>
        <p:txBody>
          <a:bodyPr wrap="square">
            <a:spAutoFit/>
          </a:bodyPr>
          <a:lstStyle/>
          <a:p>
            <a:r>
              <a:rPr lang="en-US" sz="2200" dirty="0"/>
              <a:t>Key outcome in the model?</a:t>
            </a:r>
          </a:p>
          <a:p>
            <a:endParaRPr lang="sv-SE" sz="2200" dirty="0"/>
          </a:p>
          <a:p>
            <a:r>
              <a:rPr lang="en-US" sz="2200" dirty="0"/>
              <a:t>What is the main interaction(s) in your model?</a:t>
            </a:r>
          </a:p>
          <a:p>
            <a:endParaRPr lang="sv-SE" sz="2200" dirty="0"/>
          </a:p>
          <a:p>
            <a:r>
              <a:rPr lang="en-US" sz="2200" dirty="0"/>
              <a:t>Describe the decision rule? How is it works? Is it deterministic or stochastic?</a:t>
            </a:r>
            <a:endParaRPr lang="sv-SE" sz="2200" dirty="0"/>
          </a:p>
        </p:txBody>
      </p:sp>
      <p:sp>
        <p:nvSpPr>
          <p:cNvPr id="4" name="Arrow: Right 3">
            <a:extLst>
              <a:ext uri="{FF2B5EF4-FFF2-40B4-BE49-F238E27FC236}">
                <a16:creationId xmlns:a16="http://schemas.microsoft.com/office/drawing/2014/main" id="{6D41C97E-DEAE-45F5-901B-16D847A4A2DE}"/>
              </a:ext>
            </a:extLst>
          </p:cNvPr>
          <p:cNvSpPr/>
          <p:nvPr/>
        </p:nvSpPr>
        <p:spPr>
          <a:xfrm>
            <a:off x="7590971" y="3588656"/>
            <a:ext cx="718945" cy="28302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168958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pic>
        <p:nvPicPr>
          <p:cNvPr id="7" name="Picture 6">
            <a:extLst>
              <a:ext uri="{FF2B5EF4-FFF2-40B4-BE49-F238E27FC236}">
                <a16:creationId xmlns:a16="http://schemas.microsoft.com/office/drawing/2014/main" id="{3073753C-BF3B-4984-89BD-145EB1EF0C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55994" y="1291771"/>
            <a:ext cx="5552692" cy="4876800"/>
          </a:xfrm>
          <a:prstGeom prst="rect">
            <a:avLst/>
          </a:prstGeom>
          <a:noFill/>
          <a:ln>
            <a:noFill/>
          </a:ln>
        </p:spPr>
      </p:pic>
      <p:sp>
        <p:nvSpPr>
          <p:cNvPr id="3" name="Rectangle 2">
            <a:extLst>
              <a:ext uri="{FF2B5EF4-FFF2-40B4-BE49-F238E27FC236}">
                <a16:creationId xmlns:a16="http://schemas.microsoft.com/office/drawing/2014/main" id="{64E6E39C-7DFB-4A25-A9E0-1C726E4DE86D}"/>
              </a:ext>
            </a:extLst>
          </p:cNvPr>
          <p:cNvSpPr/>
          <p:nvPr/>
        </p:nvSpPr>
        <p:spPr>
          <a:xfrm>
            <a:off x="8636977" y="3579113"/>
            <a:ext cx="2988966" cy="1785104"/>
          </a:xfrm>
          <a:prstGeom prst="rect">
            <a:avLst/>
          </a:prstGeom>
        </p:spPr>
        <p:txBody>
          <a:bodyPr wrap="square">
            <a:spAutoFit/>
          </a:bodyPr>
          <a:lstStyle/>
          <a:p>
            <a:r>
              <a:rPr lang="sv-SE" sz="2200" dirty="0" err="1"/>
              <a:t>Key</a:t>
            </a:r>
            <a:r>
              <a:rPr lang="sv-SE" sz="2200" dirty="0"/>
              <a:t> </a:t>
            </a:r>
            <a:r>
              <a:rPr lang="sv-SE" sz="2200" dirty="0" err="1"/>
              <a:t>model</a:t>
            </a:r>
            <a:r>
              <a:rPr lang="sv-SE" sz="2200" dirty="0"/>
              <a:t> parameters:</a:t>
            </a:r>
          </a:p>
          <a:p>
            <a:endParaRPr lang="sv-SE" sz="2200" dirty="0"/>
          </a:p>
          <a:p>
            <a:r>
              <a:rPr lang="en-US" sz="2200" dirty="0"/>
              <a:t>What are the parameter values used to initialize your model?</a:t>
            </a:r>
            <a:endParaRPr lang="sv-SE" sz="2200" dirty="0"/>
          </a:p>
        </p:txBody>
      </p:sp>
      <p:sp>
        <p:nvSpPr>
          <p:cNvPr id="4" name="Arrow: Right 3">
            <a:extLst>
              <a:ext uri="{FF2B5EF4-FFF2-40B4-BE49-F238E27FC236}">
                <a16:creationId xmlns:a16="http://schemas.microsoft.com/office/drawing/2014/main" id="{6D41C97E-DEAE-45F5-901B-16D847A4A2DE}"/>
              </a:ext>
            </a:extLst>
          </p:cNvPr>
          <p:cNvSpPr/>
          <p:nvPr/>
        </p:nvSpPr>
        <p:spPr>
          <a:xfrm>
            <a:off x="7449213" y="4357913"/>
            <a:ext cx="718945" cy="28302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381995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pic>
        <p:nvPicPr>
          <p:cNvPr id="7" name="Picture 6">
            <a:extLst>
              <a:ext uri="{FF2B5EF4-FFF2-40B4-BE49-F238E27FC236}">
                <a16:creationId xmlns:a16="http://schemas.microsoft.com/office/drawing/2014/main" id="{3073753C-BF3B-4984-89BD-145EB1EF0C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55994" y="1291771"/>
            <a:ext cx="5552692" cy="4876800"/>
          </a:xfrm>
          <a:prstGeom prst="rect">
            <a:avLst/>
          </a:prstGeom>
          <a:noFill/>
          <a:ln>
            <a:noFill/>
          </a:ln>
        </p:spPr>
      </p:pic>
      <p:sp>
        <p:nvSpPr>
          <p:cNvPr id="3" name="Rectangle 2">
            <a:extLst>
              <a:ext uri="{FF2B5EF4-FFF2-40B4-BE49-F238E27FC236}">
                <a16:creationId xmlns:a16="http://schemas.microsoft.com/office/drawing/2014/main" id="{64E6E39C-7DFB-4A25-A9E0-1C726E4DE86D}"/>
              </a:ext>
            </a:extLst>
          </p:cNvPr>
          <p:cNvSpPr/>
          <p:nvPr/>
        </p:nvSpPr>
        <p:spPr>
          <a:xfrm>
            <a:off x="8636977" y="3579113"/>
            <a:ext cx="2988966" cy="2123658"/>
          </a:xfrm>
          <a:prstGeom prst="rect">
            <a:avLst/>
          </a:prstGeom>
        </p:spPr>
        <p:txBody>
          <a:bodyPr wrap="square">
            <a:spAutoFit/>
          </a:bodyPr>
          <a:lstStyle/>
          <a:p>
            <a:r>
              <a:rPr lang="en-US" sz="2200" dirty="0"/>
              <a:t>Are you using empirical data to adjust your parameters? Which ones? Or theoretical distributions?</a:t>
            </a:r>
            <a:endParaRPr lang="sv-SE" sz="2200" dirty="0"/>
          </a:p>
          <a:p>
            <a:endParaRPr lang="sv-SE" sz="2200" dirty="0"/>
          </a:p>
        </p:txBody>
      </p:sp>
      <p:sp>
        <p:nvSpPr>
          <p:cNvPr id="4" name="Arrow: Right 3">
            <a:extLst>
              <a:ext uri="{FF2B5EF4-FFF2-40B4-BE49-F238E27FC236}">
                <a16:creationId xmlns:a16="http://schemas.microsoft.com/office/drawing/2014/main" id="{6D41C97E-DEAE-45F5-901B-16D847A4A2DE}"/>
              </a:ext>
            </a:extLst>
          </p:cNvPr>
          <p:cNvSpPr/>
          <p:nvPr/>
        </p:nvSpPr>
        <p:spPr>
          <a:xfrm>
            <a:off x="7449213" y="5054599"/>
            <a:ext cx="718945" cy="28302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358224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pic>
        <p:nvPicPr>
          <p:cNvPr id="7" name="Picture 6">
            <a:extLst>
              <a:ext uri="{FF2B5EF4-FFF2-40B4-BE49-F238E27FC236}">
                <a16:creationId xmlns:a16="http://schemas.microsoft.com/office/drawing/2014/main" id="{3073753C-BF3B-4984-89BD-145EB1EF0C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55994" y="1291771"/>
            <a:ext cx="5552692" cy="4876800"/>
          </a:xfrm>
          <a:prstGeom prst="rect">
            <a:avLst/>
          </a:prstGeom>
          <a:noFill/>
          <a:ln>
            <a:noFill/>
          </a:ln>
        </p:spPr>
      </p:pic>
      <p:sp>
        <p:nvSpPr>
          <p:cNvPr id="3" name="Rectangle 2">
            <a:extLst>
              <a:ext uri="{FF2B5EF4-FFF2-40B4-BE49-F238E27FC236}">
                <a16:creationId xmlns:a16="http://schemas.microsoft.com/office/drawing/2014/main" id="{64E6E39C-7DFB-4A25-A9E0-1C726E4DE86D}"/>
              </a:ext>
            </a:extLst>
          </p:cNvPr>
          <p:cNvSpPr/>
          <p:nvPr/>
        </p:nvSpPr>
        <p:spPr>
          <a:xfrm>
            <a:off x="8441523" y="3806143"/>
            <a:ext cx="2988966" cy="2462213"/>
          </a:xfrm>
          <a:prstGeom prst="rect">
            <a:avLst/>
          </a:prstGeom>
        </p:spPr>
        <p:txBody>
          <a:bodyPr wrap="square">
            <a:spAutoFit/>
          </a:bodyPr>
          <a:lstStyle/>
          <a:p>
            <a:r>
              <a:rPr lang="en-US" sz="2200" dirty="0"/>
              <a:t>If in your flow chart you describe two main processes (e.g., evaluate and move). In this section, you describe the details of each of them</a:t>
            </a:r>
            <a:endParaRPr lang="sv-SE" sz="2200" dirty="0"/>
          </a:p>
        </p:txBody>
      </p:sp>
      <p:sp>
        <p:nvSpPr>
          <p:cNvPr id="4" name="Arrow: Right 3">
            <a:extLst>
              <a:ext uri="{FF2B5EF4-FFF2-40B4-BE49-F238E27FC236}">
                <a16:creationId xmlns:a16="http://schemas.microsoft.com/office/drawing/2014/main" id="{6D41C97E-DEAE-45F5-901B-16D847A4A2DE}"/>
              </a:ext>
            </a:extLst>
          </p:cNvPr>
          <p:cNvSpPr/>
          <p:nvPr/>
        </p:nvSpPr>
        <p:spPr>
          <a:xfrm>
            <a:off x="7449213" y="5678713"/>
            <a:ext cx="718945" cy="28302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872641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3" name="Parallelogram 2"/>
          <p:cNvSpPr/>
          <p:nvPr/>
        </p:nvSpPr>
        <p:spPr>
          <a:xfrm>
            <a:off x="5105220" y="1028645"/>
            <a:ext cx="1573806" cy="449788"/>
          </a:xfrm>
          <a:prstGeom prst="parallelogram">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a:t>Agents</a:t>
            </a:r>
            <a:endParaRPr lang="en-US" sz="1200" dirty="0"/>
          </a:p>
        </p:txBody>
      </p:sp>
      <p:sp>
        <p:nvSpPr>
          <p:cNvPr id="4" name="Rectangle 3"/>
          <p:cNvSpPr/>
          <p:nvPr/>
        </p:nvSpPr>
        <p:spPr>
          <a:xfrm>
            <a:off x="4945005" y="2676693"/>
            <a:ext cx="1949981" cy="31678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err="1"/>
              <a:t>Compare</a:t>
            </a:r>
            <a:r>
              <a:rPr lang="sv-SE" sz="1200" dirty="0"/>
              <a:t> </a:t>
            </a:r>
            <a:r>
              <a:rPr lang="sv-SE" sz="1200" dirty="0" err="1"/>
              <a:t>current</a:t>
            </a:r>
            <a:r>
              <a:rPr lang="sv-SE" sz="1200" dirty="0"/>
              <a:t> opinions</a:t>
            </a:r>
            <a:endParaRPr lang="en-US" sz="1200" dirty="0"/>
          </a:p>
        </p:txBody>
      </p:sp>
      <p:sp>
        <p:nvSpPr>
          <p:cNvPr id="5" name="Diamond 4"/>
          <p:cNvSpPr/>
          <p:nvPr/>
        </p:nvSpPr>
        <p:spPr>
          <a:xfrm>
            <a:off x="4831927" y="3321004"/>
            <a:ext cx="2120387" cy="1132513"/>
          </a:xfrm>
          <a:prstGeom prst="diamond">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err="1"/>
              <a:t>Abs</a:t>
            </a:r>
            <a:r>
              <a:rPr lang="sv-SE" sz="1200" dirty="0"/>
              <a:t> </a:t>
            </a:r>
            <a:r>
              <a:rPr lang="sv-SE" sz="1200" dirty="0" err="1"/>
              <a:t>diff</a:t>
            </a:r>
            <a:r>
              <a:rPr lang="sv-SE" sz="1200" dirty="0"/>
              <a:t> </a:t>
            </a:r>
            <a:r>
              <a:rPr lang="sv-SE" sz="1200" dirty="0" err="1"/>
              <a:t>current</a:t>
            </a:r>
            <a:r>
              <a:rPr lang="sv-SE" sz="1200" dirty="0"/>
              <a:t> opinions  i &amp; j &lt; d</a:t>
            </a:r>
            <a:endParaRPr lang="en-US" sz="1200" dirty="0"/>
          </a:p>
        </p:txBody>
      </p:sp>
      <p:sp>
        <p:nvSpPr>
          <p:cNvPr id="10" name="Rectangle 9"/>
          <p:cNvSpPr/>
          <p:nvPr/>
        </p:nvSpPr>
        <p:spPr>
          <a:xfrm>
            <a:off x="7229920" y="3790740"/>
            <a:ext cx="732988" cy="280423"/>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err="1"/>
              <a:t>nothing</a:t>
            </a:r>
            <a:endParaRPr lang="en-US" sz="1200" dirty="0"/>
          </a:p>
        </p:txBody>
      </p:sp>
      <p:sp>
        <p:nvSpPr>
          <p:cNvPr id="11" name="Rectangle 10"/>
          <p:cNvSpPr/>
          <p:nvPr/>
        </p:nvSpPr>
        <p:spPr>
          <a:xfrm>
            <a:off x="4964362" y="4959071"/>
            <a:ext cx="1949976" cy="65429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sv-SE" sz="1500" dirty="0" err="1"/>
              <a:t>Adjust</a:t>
            </a:r>
            <a:r>
              <a:rPr lang="sv-SE" sz="1500" dirty="0"/>
              <a:t> agents’ opinions (i ,j)</a:t>
            </a:r>
            <a:endParaRPr lang="en-US" sz="1500" dirty="0"/>
          </a:p>
        </p:txBody>
      </p:sp>
      <p:sp>
        <p:nvSpPr>
          <p:cNvPr id="18" name="Rectangle 17"/>
          <p:cNvSpPr/>
          <p:nvPr/>
        </p:nvSpPr>
        <p:spPr>
          <a:xfrm>
            <a:off x="5105221" y="1758989"/>
            <a:ext cx="1573806" cy="395293"/>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a:t>Pick </a:t>
            </a:r>
            <a:r>
              <a:rPr lang="sv-SE" sz="1200" dirty="0" err="1"/>
              <a:t>randomly</a:t>
            </a:r>
            <a:r>
              <a:rPr lang="sv-SE" sz="1200" dirty="0"/>
              <a:t> </a:t>
            </a:r>
            <a:r>
              <a:rPr lang="sv-SE" sz="1200" dirty="0" err="1"/>
              <a:t>one</a:t>
            </a:r>
            <a:r>
              <a:rPr lang="sv-SE" sz="1200" dirty="0"/>
              <a:t> agent(i)</a:t>
            </a:r>
            <a:endParaRPr lang="en-US" sz="1200" dirty="0"/>
          </a:p>
        </p:txBody>
      </p:sp>
      <p:cxnSp>
        <p:nvCxnSpPr>
          <p:cNvPr id="22" name="Straight Arrow Connector 21"/>
          <p:cNvCxnSpPr>
            <a:cxnSpLocks/>
            <a:stCxn id="3" idx="4"/>
            <a:endCxn id="18" idx="0"/>
          </p:cNvCxnSpPr>
          <p:nvPr/>
        </p:nvCxnSpPr>
        <p:spPr>
          <a:xfrm>
            <a:off x="5892123" y="1478433"/>
            <a:ext cx="1" cy="280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cxnSpLocks/>
          </p:cNvCxnSpPr>
          <p:nvPr/>
        </p:nvCxnSpPr>
        <p:spPr>
          <a:xfrm>
            <a:off x="5892120" y="3024046"/>
            <a:ext cx="346" cy="2311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a:off x="5892121" y="4487601"/>
            <a:ext cx="1" cy="28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a:off x="6886392" y="3934101"/>
            <a:ext cx="3761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p:cNvSpPr txBox="1"/>
          <p:nvPr/>
        </p:nvSpPr>
        <p:spPr>
          <a:xfrm>
            <a:off x="5326089" y="4483036"/>
            <a:ext cx="389594" cy="27699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err="1"/>
              <a:t>yes</a:t>
            </a:r>
            <a:endParaRPr lang="en-US" sz="1200" dirty="0"/>
          </a:p>
        </p:txBody>
      </p:sp>
      <p:sp>
        <p:nvSpPr>
          <p:cNvPr id="36" name="TextBox 35"/>
          <p:cNvSpPr txBox="1"/>
          <p:nvPr/>
        </p:nvSpPr>
        <p:spPr>
          <a:xfrm>
            <a:off x="6881905" y="3553621"/>
            <a:ext cx="346570" cy="27699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a:t>no</a:t>
            </a:r>
            <a:endParaRPr lang="en-US" sz="1200" dirty="0"/>
          </a:p>
        </p:txBody>
      </p:sp>
      <p:cxnSp>
        <p:nvCxnSpPr>
          <p:cNvPr id="38" name="Elbow Connector 37"/>
          <p:cNvCxnSpPr>
            <a:cxnSpLocks/>
          </p:cNvCxnSpPr>
          <p:nvPr/>
        </p:nvCxnSpPr>
        <p:spPr>
          <a:xfrm rot="16200000" flipV="1">
            <a:off x="6382857" y="2419659"/>
            <a:ext cx="1715018" cy="750189"/>
          </a:xfrm>
          <a:prstGeom prst="bentConnector3">
            <a:avLst>
              <a:gd name="adj1" fmla="val 100355"/>
            </a:avLst>
          </a:prstGeom>
          <a:ln>
            <a:prstDash val="dash"/>
            <a:headEnd type="oval" w="med" len="med"/>
            <a:tailEnd type="triangle" w="med" len="med"/>
          </a:ln>
        </p:spPr>
        <p:style>
          <a:lnRef idx="1">
            <a:schemeClr val="dk1"/>
          </a:lnRef>
          <a:fillRef idx="0">
            <a:schemeClr val="dk1"/>
          </a:fillRef>
          <a:effectRef idx="0">
            <a:schemeClr val="dk1"/>
          </a:effectRef>
          <a:fontRef idx="minor">
            <a:schemeClr val="tx1"/>
          </a:fontRef>
        </p:style>
      </p:cxnSp>
      <p:cxnSp>
        <p:nvCxnSpPr>
          <p:cNvPr id="43" name="Elbow Connector 42"/>
          <p:cNvCxnSpPr>
            <a:cxnSpLocks/>
          </p:cNvCxnSpPr>
          <p:nvPr/>
        </p:nvCxnSpPr>
        <p:spPr>
          <a:xfrm rot="5400000" flipH="1" flipV="1">
            <a:off x="2764306" y="3857442"/>
            <a:ext cx="4151116" cy="231645"/>
          </a:xfrm>
          <a:prstGeom prst="bentConnector3">
            <a:avLst>
              <a:gd name="adj1" fmla="val 99960"/>
            </a:avLst>
          </a:prstGeom>
          <a:ln>
            <a:prstDash val="dash"/>
            <a:headEnd type="oval" w="med" len="med"/>
            <a:tailEnd type="triangle" w="med" len="med"/>
          </a:ln>
        </p:spPr>
        <p:style>
          <a:lnRef idx="1">
            <a:schemeClr val="dk1"/>
          </a:lnRef>
          <a:fillRef idx="0">
            <a:schemeClr val="dk1"/>
          </a:fillRef>
          <a:effectRef idx="0">
            <a:schemeClr val="dk1"/>
          </a:effectRef>
          <a:fontRef idx="minor">
            <a:schemeClr val="tx1"/>
          </a:fontRef>
        </p:style>
      </p:cxnSp>
      <p:sp>
        <p:nvSpPr>
          <p:cNvPr id="45" name="Rectangle 44"/>
          <p:cNvSpPr/>
          <p:nvPr/>
        </p:nvSpPr>
        <p:spPr>
          <a:xfrm>
            <a:off x="7499623" y="5725601"/>
            <a:ext cx="1141358" cy="600163"/>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a:t>opinion </a:t>
            </a:r>
          </a:p>
          <a:p>
            <a:pPr algn="ctr"/>
            <a:r>
              <a:rPr lang="sv-SE" sz="1200" dirty="0"/>
              <a:t>distribution</a:t>
            </a:r>
            <a:endParaRPr lang="en-US" sz="1200" dirty="0"/>
          </a:p>
        </p:txBody>
      </p:sp>
      <p:cxnSp>
        <p:nvCxnSpPr>
          <p:cNvPr id="49" name="Straight Arrow Connector 48"/>
          <p:cNvCxnSpPr>
            <a:cxnSpLocks/>
          </p:cNvCxnSpPr>
          <p:nvPr/>
        </p:nvCxnSpPr>
        <p:spPr>
          <a:xfrm>
            <a:off x="6844049" y="6048821"/>
            <a:ext cx="4185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6754313" y="1022255"/>
            <a:ext cx="1906163" cy="646331"/>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pPr marL="171450" indent="-171450">
              <a:buFont typeface="Arial" panose="020B0604020202020204" pitchFamily="34" charset="0"/>
              <a:buChar char="•"/>
            </a:pPr>
            <a:r>
              <a:rPr lang="sv-SE" sz="1200" dirty="0"/>
              <a:t>Global </a:t>
            </a:r>
            <a:r>
              <a:rPr lang="sv-SE" sz="1200" dirty="0" err="1"/>
              <a:t>variable</a:t>
            </a:r>
            <a:r>
              <a:rPr lang="sv-SE" sz="1200" dirty="0"/>
              <a:t> d &amp; u</a:t>
            </a:r>
          </a:p>
          <a:p>
            <a:pPr marL="171450" indent="-171450">
              <a:buFont typeface="Arial" panose="020B0604020202020204" pitchFamily="34" charset="0"/>
              <a:buChar char="•"/>
            </a:pPr>
            <a:r>
              <a:rPr lang="sv-SE" sz="1200" dirty="0"/>
              <a:t># Agents</a:t>
            </a:r>
            <a:endParaRPr lang="en-US" sz="1200" dirty="0"/>
          </a:p>
          <a:p>
            <a:pPr marL="171450" indent="-171450">
              <a:buFont typeface="Arial" panose="020B0604020202020204" pitchFamily="34" charset="0"/>
              <a:buChar char="•"/>
            </a:pPr>
            <a:r>
              <a:rPr lang="sv-SE" sz="1200" dirty="0"/>
              <a:t>Agents’ </a:t>
            </a:r>
            <a:r>
              <a:rPr lang="sv-SE" sz="1200" dirty="0" err="1"/>
              <a:t>variable</a:t>
            </a:r>
            <a:r>
              <a:rPr lang="sv-SE" sz="1200" dirty="0"/>
              <a:t>: opinion</a:t>
            </a:r>
          </a:p>
        </p:txBody>
      </p:sp>
      <p:sp>
        <p:nvSpPr>
          <p:cNvPr id="53" name="TextBox 52"/>
          <p:cNvSpPr txBox="1"/>
          <p:nvPr/>
        </p:nvSpPr>
        <p:spPr>
          <a:xfrm>
            <a:off x="7699881" y="5267212"/>
            <a:ext cx="609462" cy="27699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a:t>output</a:t>
            </a:r>
            <a:endParaRPr lang="en-US" sz="1200" dirty="0"/>
          </a:p>
        </p:txBody>
      </p:sp>
      <p:sp>
        <p:nvSpPr>
          <p:cNvPr id="32" name="Rectangle 31">
            <a:extLst>
              <a:ext uri="{FF2B5EF4-FFF2-40B4-BE49-F238E27FC236}">
                <a16:creationId xmlns:a16="http://schemas.microsoft.com/office/drawing/2014/main" id="{5CA792B7-2EA9-4446-AC10-327DC84DA6C8}"/>
              </a:ext>
            </a:extLst>
          </p:cNvPr>
          <p:cNvSpPr/>
          <p:nvPr/>
        </p:nvSpPr>
        <p:spPr>
          <a:xfrm>
            <a:off x="5373839" y="5690526"/>
            <a:ext cx="1205409" cy="654292"/>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a:t>All agents </a:t>
            </a:r>
            <a:r>
              <a:rPr lang="sv-SE" sz="1200" dirty="0" err="1"/>
              <a:t>have</a:t>
            </a:r>
            <a:r>
              <a:rPr lang="sv-SE" sz="1200" dirty="0"/>
              <a:t> </a:t>
            </a:r>
            <a:r>
              <a:rPr lang="sv-SE" sz="1200" dirty="0" err="1"/>
              <a:t>selected</a:t>
            </a:r>
            <a:r>
              <a:rPr lang="sv-SE" sz="1200" dirty="0"/>
              <a:t> </a:t>
            </a:r>
            <a:r>
              <a:rPr lang="sv-SE" sz="1200" dirty="0" err="1"/>
              <a:t>other</a:t>
            </a:r>
            <a:r>
              <a:rPr lang="sv-SE" sz="1200" dirty="0"/>
              <a:t>?</a:t>
            </a:r>
            <a:endParaRPr lang="en-US" sz="1200" dirty="0"/>
          </a:p>
        </p:txBody>
      </p:sp>
      <p:sp>
        <p:nvSpPr>
          <p:cNvPr id="34" name="TextBox 33">
            <a:extLst>
              <a:ext uri="{FF2B5EF4-FFF2-40B4-BE49-F238E27FC236}">
                <a16:creationId xmlns:a16="http://schemas.microsoft.com/office/drawing/2014/main" id="{35FE93AC-2129-4D3A-A078-1AC80505F429}"/>
              </a:ext>
            </a:extLst>
          </p:cNvPr>
          <p:cNvSpPr txBox="1"/>
          <p:nvPr/>
        </p:nvSpPr>
        <p:spPr>
          <a:xfrm>
            <a:off x="6872978" y="6087931"/>
            <a:ext cx="389594" cy="27699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err="1"/>
              <a:t>yes</a:t>
            </a:r>
            <a:endParaRPr lang="en-US" sz="1200" dirty="0"/>
          </a:p>
        </p:txBody>
      </p:sp>
      <p:sp>
        <p:nvSpPr>
          <p:cNvPr id="37" name="TextBox 36">
            <a:extLst>
              <a:ext uri="{FF2B5EF4-FFF2-40B4-BE49-F238E27FC236}">
                <a16:creationId xmlns:a16="http://schemas.microsoft.com/office/drawing/2014/main" id="{C04B37EB-48D0-4D4C-91D9-4952E12D3AF2}"/>
              </a:ext>
            </a:extLst>
          </p:cNvPr>
          <p:cNvSpPr txBox="1"/>
          <p:nvPr/>
        </p:nvSpPr>
        <p:spPr>
          <a:xfrm>
            <a:off x="4846975" y="5910321"/>
            <a:ext cx="346570" cy="27699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a:t>no</a:t>
            </a:r>
            <a:endParaRPr lang="en-US" sz="1200" dirty="0"/>
          </a:p>
        </p:txBody>
      </p:sp>
      <p:sp>
        <p:nvSpPr>
          <p:cNvPr id="39" name="Rectangle 38">
            <a:extLst>
              <a:ext uri="{FF2B5EF4-FFF2-40B4-BE49-F238E27FC236}">
                <a16:creationId xmlns:a16="http://schemas.microsoft.com/office/drawing/2014/main" id="{6C53AEE6-F2ED-475D-83F3-7880CC6F3B3C}"/>
              </a:ext>
            </a:extLst>
          </p:cNvPr>
          <p:cNvSpPr/>
          <p:nvPr/>
        </p:nvSpPr>
        <p:spPr>
          <a:xfrm>
            <a:off x="5105220" y="2231685"/>
            <a:ext cx="1573806" cy="395293"/>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sv-SE" sz="1200" dirty="0"/>
              <a:t>Agent i </a:t>
            </a:r>
            <a:r>
              <a:rPr lang="sv-SE" sz="1200" dirty="0" err="1"/>
              <a:t>selects</a:t>
            </a:r>
            <a:r>
              <a:rPr lang="sv-SE" sz="1200" dirty="0"/>
              <a:t> </a:t>
            </a:r>
            <a:r>
              <a:rPr lang="sv-SE" sz="1200" dirty="0" err="1"/>
              <a:t>other</a:t>
            </a:r>
            <a:r>
              <a:rPr lang="sv-SE" sz="1200" dirty="0"/>
              <a:t> agent (j)</a:t>
            </a:r>
            <a:endParaRPr lang="en-US" sz="1200" dirty="0"/>
          </a:p>
        </p:txBody>
      </p:sp>
      <p:cxnSp>
        <p:nvCxnSpPr>
          <p:cNvPr id="40" name="Straight Arrow Connector 39">
            <a:extLst>
              <a:ext uri="{FF2B5EF4-FFF2-40B4-BE49-F238E27FC236}">
                <a16:creationId xmlns:a16="http://schemas.microsoft.com/office/drawing/2014/main" id="{6D9F3A43-A420-4B3D-B7FB-D2C69D655BE6}"/>
              </a:ext>
            </a:extLst>
          </p:cNvPr>
          <p:cNvCxnSpPr>
            <a:cxnSpLocks/>
          </p:cNvCxnSpPr>
          <p:nvPr/>
        </p:nvCxnSpPr>
        <p:spPr>
          <a:xfrm flipH="1">
            <a:off x="4799993" y="6229115"/>
            <a:ext cx="3645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9" name="Picture 28">
            <a:extLst>
              <a:ext uri="{FF2B5EF4-FFF2-40B4-BE49-F238E27FC236}">
                <a16:creationId xmlns:a16="http://schemas.microsoft.com/office/drawing/2014/main" id="{1A494DAF-30D7-4E92-BB8B-980C7D7AFAA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24136" y="1635587"/>
            <a:ext cx="3840006" cy="3450894"/>
          </a:xfrm>
          <a:prstGeom prst="rect">
            <a:avLst/>
          </a:prstGeom>
        </p:spPr>
      </p:pic>
      <p:pic>
        <p:nvPicPr>
          <p:cNvPr id="2" name="Picture 1">
            <a:extLst>
              <a:ext uri="{FF2B5EF4-FFF2-40B4-BE49-F238E27FC236}">
                <a16:creationId xmlns:a16="http://schemas.microsoft.com/office/drawing/2014/main" id="{18467CC1-3B03-4A71-A8CA-A8B81890BFD6}"/>
              </a:ext>
            </a:extLst>
          </p:cNvPr>
          <p:cNvPicPr>
            <a:picLocks noChangeAspect="1"/>
          </p:cNvPicPr>
          <p:nvPr/>
        </p:nvPicPr>
        <p:blipFill>
          <a:blip r:embed="rId3"/>
          <a:stretch>
            <a:fillRect/>
          </a:stretch>
        </p:blipFill>
        <p:spPr>
          <a:xfrm>
            <a:off x="8453202" y="2248670"/>
            <a:ext cx="3507963" cy="2508791"/>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447428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pic>
        <p:nvPicPr>
          <p:cNvPr id="11" name="Picture 10">
            <a:extLst>
              <a:ext uri="{FF2B5EF4-FFF2-40B4-BE49-F238E27FC236}">
                <a16:creationId xmlns:a16="http://schemas.microsoft.com/office/drawing/2014/main" id="{B06C5045-C9DC-4E13-8D27-270A9CF585F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2147410" y="888273"/>
            <a:ext cx="9202761" cy="5617030"/>
          </a:xfrm>
          <a:prstGeom prst="rect">
            <a:avLst/>
          </a:prstGeom>
        </p:spPr>
      </p:pic>
      <p:cxnSp>
        <p:nvCxnSpPr>
          <p:cNvPr id="8" name="Straight Arrow Connector 7">
            <a:extLst>
              <a:ext uri="{FF2B5EF4-FFF2-40B4-BE49-F238E27FC236}">
                <a16:creationId xmlns:a16="http://schemas.microsoft.com/office/drawing/2014/main" id="{CF5D7B35-C4F5-4914-A61D-4DE95E66BE51}"/>
              </a:ext>
            </a:extLst>
          </p:cNvPr>
          <p:cNvCxnSpPr/>
          <p:nvPr/>
        </p:nvCxnSpPr>
        <p:spPr>
          <a:xfrm flipV="1">
            <a:off x="4557486" y="2220686"/>
            <a:ext cx="1756228" cy="26996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80313C2-B7DA-46E6-A360-3CC8D65D6249}"/>
              </a:ext>
            </a:extLst>
          </p:cNvPr>
          <p:cNvCxnSpPr>
            <a:cxnSpLocks/>
          </p:cNvCxnSpPr>
          <p:nvPr/>
        </p:nvCxnSpPr>
        <p:spPr>
          <a:xfrm flipV="1">
            <a:off x="7220857" y="1746068"/>
            <a:ext cx="1124857" cy="9535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4774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17" name="Rectangle 16"/>
          <p:cNvSpPr/>
          <p:nvPr/>
        </p:nvSpPr>
        <p:spPr>
          <a:xfrm>
            <a:off x="0" y="869449"/>
            <a:ext cx="2047164" cy="563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3000" dirty="0">
              <a:solidFill>
                <a:schemeClr val="bg1"/>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830" y="1027523"/>
            <a:ext cx="1437090" cy="1437090"/>
          </a:xfrm>
          <a:prstGeom prst="rect">
            <a:avLst/>
          </a:prstGeom>
        </p:spPr>
      </p:pic>
      <p:sp>
        <p:nvSpPr>
          <p:cNvPr id="3" name="Rectangle 2">
            <a:extLst>
              <a:ext uri="{FF2B5EF4-FFF2-40B4-BE49-F238E27FC236}">
                <a16:creationId xmlns:a16="http://schemas.microsoft.com/office/drawing/2014/main" id="{4106DB35-9ABD-C2FF-39E4-85FB7DC5FFF9}"/>
              </a:ext>
            </a:extLst>
          </p:cNvPr>
          <p:cNvSpPr/>
          <p:nvPr/>
        </p:nvSpPr>
        <p:spPr>
          <a:xfrm>
            <a:off x="2312620" y="1195912"/>
            <a:ext cx="5105946" cy="923330"/>
          </a:xfrm>
          <a:prstGeom prst="rect">
            <a:avLst/>
          </a:prstGeom>
        </p:spPr>
        <p:txBody>
          <a:bodyPr wrap="square">
            <a:spAutoFit/>
          </a:bodyPr>
          <a:lstStyle/>
          <a:p>
            <a:pPr algn="ctr"/>
            <a:r>
              <a:rPr lang="sv-SE" sz="5400" dirty="0" err="1"/>
              <a:t>Evaluating</a:t>
            </a:r>
            <a:r>
              <a:rPr lang="sv-SE" sz="5400" dirty="0"/>
              <a:t> ABM</a:t>
            </a:r>
          </a:p>
        </p:txBody>
      </p:sp>
    </p:spTree>
    <p:extLst>
      <p:ext uri="{BB962C8B-B14F-4D97-AF65-F5344CB8AC3E}">
        <p14:creationId xmlns:p14="http://schemas.microsoft.com/office/powerpoint/2010/main" val="4111234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The cycle of modeling</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36900"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 (</a:t>
            </a:r>
            <a:r>
              <a:rPr lang="sv-SE" dirty="0" err="1">
                <a:latin typeface="Calibri" panose="020F0502020204030204" pitchFamily="34" charset="0"/>
                <a:ea typeface="Calibri" panose="020F0502020204030204" pitchFamily="34" charset="0"/>
                <a:cs typeface="Times New Roman" panose="02020603050405020304" pitchFamily="18" charset="0"/>
              </a:rPr>
              <a:t>target</a:t>
            </a:r>
            <a:r>
              <a:rPr lang="sv-SE" dirty="0">
                <a:latin typeface="Calibri" panose="020F0502020204030204" pitchFamily="34" charset="0"/>
                <a:ea typeface="Calibri" panose="020F0502020204030204" pitchFamily="34" charset="0"/>
                <a:cs typeface="Times New Roman" panose="02020603050405020304" pitchFamily="18" charset="0"/>
              </a:rPr>
              <a:t> system)</a:t>
            </a:r>
          </a:p>
        </p:txBody>
      </p:sp>
      <p:sp>
        <p:nvSpPr>
          <p:cNvPr id="9" name="Rectangle 8">
            <a:extLst>
              <a:ext uri="{FF2B5EF4-FFF2-40B4-BE49-F238E27FC236}">
                <a16:creationId xmlns:a16="http://schemas.microsoft.com/office/drawing/2014/main" id="{C45138C1-8B11-4FBE-862C-50D47BA7B85A}"/>
              </a:ext>
            </a:extLst>
          </p:cNvPr>
          <p:cNvSpPr/>
          <p:nvPr/>
        </p:nvSpPr>
        <p:spPr>
          <a:xfrm>
            <a:off x="636899"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9" name="Rectangle 18">
            <a:extLst>
              <a:ext uri="{FF2B5EF4-FFF2-40B4-BE49-F238E27FC236}">
                <a16:creationId xmlns:a16="http://schemas.microsoft.com/office/drawing/2014/main" id="{EAE68038-D734-4EC6-A801-05B86D804BBD}"/>
              </a:ext>
            </a:extLst>
          </p:cNvPr>
          <p:cNvSpPr/>
          <p:nvPr/>
        </p:nvSpPr>
        <p:spPr>
          <a:xfrm>
            <a:off x="636898" y="1908650"/>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70901"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48233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The cycle of modeling</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36900"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 (</a:t>
            </a:r>
            <a:r>
              <a:rPr lang="sv-SE" dirty="0" err="1">
                <a:latin typeface="Calibri" panose="020F0502020204030204" pitchFamily="34" charset="0"/>
                <a:ea typeface="Calibri" panose="020F0502020204030204" pitchFamily="34" charset="0"/>
                <a:cs typeface="Times New Roman" panose="02020603050405020304" pitchFamily="18" charset="0"/>
              </a:rPr>
              <a:t>target</a:t>
            </a:r>
            <a:r>
              <a:rPr lang="sv-SE" dirty="0">
                <a:latin typeface="Calibri" panose="020F0502020204030204" pitchFamily="34" charset="0"/>
                <a:ea typeface="Calibri" panose="020F0502020204030204" pitchFamily="34" charset="0"/>
                <a:cs typeface="Times New Roman" panose="02020603050405020304" pitchFamily="18" charset="0"/>
              </a:rPr>
              <a:t> system)</a:t>
            </a:r>
          </a:p>
        </p:txBody>
      </p:sp>
      <p:sp>
        <p:nvSpPr>
          <p:cNvPr id="9" name="Rectangle 8">
            <a:extLst>
              <a:ext uri="{FF2B5EF4-FFF2-40B4-BE49-F238E27FC236}">
                <a16:creationId xmlns:a16="http://schemas.microsoft.com/office/drawing/2014/main" id="{C45138C1-8B11-4FBE-862C-50D47BA7B85A}"/>
              </a:ext>
            </a:extLst>
          </p:cNvPr>
          <p:cNvSpPr/>
          <p:nvPr/>
        </p:nvSpPr>
        <p:spPr>
          <a:xfrm>
            <a:off x="636899"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36898" y="3225337"/>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9" name="Rectangle 18">
            <a:extLst>
              <a:ext uri="{FF2B5EF4-FFF2-40B4-BE49-F238E27FC236}">
                <a16:creationId xmlns:a16="http://schemas.microsoft.com/office/drawing/2014/main" id="{EAE68038-D734-4EC6-A801-05B86D804BBD}"/>
              </a:ext>
            </a:extLst>
          </p:cNvPr>
          <p:cNvSpPr/>
          <p:nvPr/>
        </p:nvSpPr>
        <p:spPr>
          <a:xfrm>
            <a:off x="636898" y="1908650"/>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70901"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2B5D39DF-1432-4C7F-BE0C-C8D5A59E41C0}"/>
              </a:ext>
            </a:extLst>
          </p:cNvPr>
          <p:cNvCxnSpPr/>
          <p:nvPr/>
        </p:nvCxnSpPr>
        <p:spPr>
          <a:xfrm>
            <a:off x="1109478"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66FF28FC-2ACC-4D81-9F38-9B4A07692586}"/>
              </a:ext>
            </a:extLst>
          </p:cNvPr>
          <p:cNvCxnSpPr/>
          <p:nvPr/>
        </p:nvCxnSpPr>
        <p:spPr>
          <a:xfrm>
            <a:off x="22198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53222CFD-A07F-4B33-A039-BEE4299045CB}"/>
              </a:ext>
            </a:extLst>
          </p:cNvPr>
          <p:cNvCxnSpPr/>
          <p:nvPr/>
        </p:nvCxnSpPr>
        <p:spPr>
          <a:xfrm>
            <a:off x="32866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00568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The cycle of modeling</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36900"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 (</a:t>
            </a:r>
            <a:r>
              <a:rPr lang="sv-SE" dirty="0" err="1">
                <a:latin typeface="Calibri" panose="020F0502020204030204" pitchFamily="34" charset="0"/>
                <a:ea typeface="Calibri" panose="020F0502020204030204" pitchFamily="34" charset="0"/>
                <a:cs typeface="Times New Roman" panose="02020603050405020304" pitchFamily="18" charset="0"/>
              </a:rPr>
              <a:t>target</a:t>
            </a:r>
            <a:r>
              <a:rPr lang="sv-SE" dirty="0">
                <a:latin typeface="Calibri" panose="020F0502020204030204" pitchFamily="34" charset="0"/>
                <a:ea typeface="Calibri" panose="020F0502020204030204" pitchFamily="34" charset="0"/>
                <a:cs typeface="Times New Roman" panose="02020603050405020304" pitchFamily="18" charset="0"/>
              </a:rPr>
              <a:t> system)</a:t>
            </a:r>
          </a:p>
        </p:txBody>
      </p:sp>
      <p:sp>
        <p:nvSpPr>
          <p:cNvPr id="9" name="Rectangle 8">
            <a:extLst>
              <a:ext uri="{FF2B5EF4-FFF2-40B4-BE49-F238E27FC236}">
                <a16:creationId xmlns:a16="http://schemas.microsoft.com/office/drawing/2014/main" id="{C45138C1-8B11-4FBE-862C-50D47BA7B85A}"/>
              </a:ext>
            </a:extLst>
          </p:cNvPr>
          <p:cNvSpPr/>
          <p:nvPr/>
        </p:nvSpPr>
        <p:spPr>
          <a:xfrm>
            <a:off x="636899"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36898" y="3225337"/>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3" name="Rectangle 12">
            <a:extLst>
              <a:ext uri="{FF2B5EF4-FFF2-40B4-BE49-F238E27FC236}">
                <a16:creationId xmlns:a16="http://schemas.microsoft.com/office/drawing/2014/main" id="{7632F341-B7E7-46C2-A810-EDE568AFFDFB}"/>
              </a:ext>
            </a:extLst>
          </p:cNvPr>
          <p:cNvSpPr/>
          <p:nvPr/>
        </p:nvSpPr>
        <p:spPr>
          <a:xfrm>
            <a:off x="636897" y="4249858"/>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636898" y="493486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636898" y="1908650"/>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70901"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30102968-C663-47D6-A49D-6DEA3836B19E}"/>
              </a:ext>
            </a:extLst>
          </p:cNvPr>
          <p:cNvCxnSpPr/>
          <p:nvPr/>
        </p:nvCxnSpPr>
        <p:spPr>
          <a:xfrm flipV="1">
            <a:off x="2219821"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C8A5678F-4F00-4A3E-86CB-A97738DDF7AA}"/>
              </a:ext>
            </a:extLst>
          </p:cNvPr>
          <p:cNvCxnSpPr/>
          <p:nvPr/>
        </p:nvCxnSpPr>
        <p:spPr>
          <a:xfrm flipV="1">
            <a:off x="3286621"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10E2BA10-B059-42E6-B9FC-DB6CDD3F8574}"/>
              </a:ext>
            </a:extLst>
          </p:cNvPr>
          <p:cNvCxnSpPr/>
          <p:nvPr/>
        </p:nvCxnSpPr>
        <p:spPr>
          <a:xfrm flipV="1">
            <a:off x="1109478"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2B5D39DF-1432-4C7F-BE0C-C8D5A59E41C0}"/>
              </a:ext>
            </a:extLst>
          </p:cNvPr>
          <p:cNvCxnSpPr/>
          <p:nvPr/>
        </p:nvCxnSpPr>
        <p:spPr>
          <a:xfrm>
            <a:off x="1109478"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66FF28FC-2ACC-4D81-9F38-9B4A07692586}"/>
              </a:ext>
            </a:extLst>
          </p:cNvPr>
          <p:cNvCxnSpPr/>
          <p:nvPr/>
        </p:nvCxnSpPr>
        <p:spPr>
          <a:xfrm>
            <a:off x="22198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53222CFD-A07F-4B33-A039-BEE4299045CB}"/>
              </a:ext>
            </a:extLst>
          </p:cNvPr>
          <p:cNvCxnSpPr/>
          <p:nvPr/>
        </p:nvCxnSpPr>
        <p:spPr>
          <a:xfrm>
            <a:off x="32866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58729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The cycle of modeling</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36900"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 (</a:t>
            </a:r>
            <a:r>
              <a:rPr lang="sv-SE" dirty="0" err="1">
                <a:latin typeface="Calibri" panose="020F0502020204030204" pitchFamily="34" charset="0"/>
                <a:ea typeface="Calibri" panose="020F0502020204030204" pitchFamily="34" charset="0"/>
                <a:cs typeface="Times New Roman" panose="02020603050405020304" pitchFamily="18" charset="0"/>
              </a:rPr>
              <a:t>target</a:t>
            </a:r>
            <a:r>
              <a:rPr lang="sv-SE" dirty="0">
                <a:latin typeface="Calibri" panose="020F0502020204030204" pitchFamily="34" charset="0"/>
                <a:ea typeface="Calibri" panose="020F0502020204030204" pitchFamily="34" charset="0"/>
                <a:cs typeface="Times New Roman" panose="02020603050405020304" pitchFamily="18" charset="0"/>
              </a:rPr>
              <a:t> system)</a:t>
            </a:r>
          </a:p>
        </p:txBody>
      </p:sp>
      <p:sp>
        <p:nvSpPr>
          <p:cNvPr id="9" name="Rectangle 8">
            <a:extLst>
              <a:ext uri="{FF2B5EF4-FFF2-40B4-BE49-F238E27FC236}">
                <a16:creationId xmlns:a16="http://schemas.microsoft.com/office/drawing/2014/main" id="{C45138C1-8B11-4FBE-862C-50D47BA7B85A}"/>
              </a:ext>
            </a:extLst>
          </p:cNvPr>
          <p:cNvSpPr/>
          <p:nvPr/>
        </p:nvSpPr>
        <p:spPr>
          <a:xfrm>
            <a:off x="636899"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36898" y="3225337"/>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7DCA8B9A-B964-449F-959C-2CE5CC9F487D}"/>
              </a:ext>
            </a:extLst>
          </p:cNvPr>
          <p:cNvSpPr/>
          <p:nvPr/>
        </p:nvSpPr>
        <p:spPr>
          <a:xfrm>
            <a:off x="4978400" y="3224872"/>
            <a:ext cx="2177143"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Results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7632F341-B7E7-46C2-A810-EDE568AFFDFB}"/>
              </a:ext>
            </a:extLst>
          </p:cNvPr>
          <p:cNvSpPr/>
          <p:nvPr/>
        </p:nvSpPr>
        <p:spPr>
          <a:xfrm>
            <a:off x="636897" y="4249858"/>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636898" y="493486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636898" y="1908650"/>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70901"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B16B8E-5BD0-4DE5-B0C2-D60E2CD07461}"/>
              </a:ext>
            </a:extLst>
          </p:cNvPr>
          <p:cNvCxnSpPr/>
          <p:nvPr/>
        </p:nvCxnSpPr>
        <p:spPr>
          <a:xfrm>
            <a:off x="4310743" y="3434226"/>
            <a:ext cx="435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ABB3EFE-9A3C-434D-A264-34F57E97F1B9}"/>
              </a:ext>
            </a:extLst>
          </p:cNvPr>
          <p:cNvCxnSpPr>
            <a:cxnSpLocks/>
          </p:cNvCxnSpPr>
          <p:nvPr/>
        </p:nvCxnSpPr>
        <p:spPr>
          <a:xfrm>
            <a:off x="6035565" y="3803409"/>
            <a:ext cx="0" cy="1507005"/>
          </a:xfrm>
          <a:prstGeom prst="straightConnector1">
            <a:avLst/>
          </a:prstGeom>
          <a:ln w="28575">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0102968-C663-47D6-A49D-6DEA3836B19E}"/>
              </a:ext>
            </a:extLst>
          </p:cNvPr>
          <p:cNvCxnSpPr/>
          <p:nvPr/>
        </p:nvCxnSpPr>
        <p:spPr>
          <a:xfrm flipV="1">
            <a:off x="2219821"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C8A5678F-4F00-4A3E-86CB-A97738DDF7AA}"/>
              </a:ext>
            </a:extLst>
          </p:cNvPr>
          <p:cNvCxnSpPr/>
          <p:nvPr/>
        </p:nvCxnSpPr>
        <p:spPr>
          <a:xfrm flipV="1">
            <a:off x="3286621"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10E2BA10-B059-42E6-B9FC-DB6CDD3F8574}"/>
              </a:ext>
            </a:extLst>
          </p:cNvPr>
          <p:cNvCxnSpPr/>
          <p:nvPr/>
        </p:nvCxnSpPr>
        <p:spPr>
          <a:xfrm flipV="1">
            <a:off x="1109478"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2B5D39DF-1432-4C7F-BE0C-C8D5A59E41C0}"/>
              </a:ext>
            </a:extLst>
          </p:cNvPr>
          <p:cNvCxnSpPr/>
          <p:nvPr/>
        </p:nvCxnSpPr>
        <p:spPr>
          <a:xfrm>
            <a:off x="1109478"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66FF28FC-2ACC-4D81-9F38-9B4A07692586}"/>
              </a:ext>
            </a:extLst>
          </p:cNvPr>
          <p:cNvCxnSpPr/>
          <p:nvPr/>
        </p:nvCxnSpPr>
        <p:spPr>
          <a:xfrm>
            <a:off x="22198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53222CFD-A07F-4B33-A039-BEE4299045CB}"/>
              </a:ext>
            </a:extLst>
          </p:cNvPr>
          <p:cNvCxnSpPr/>
          <p:nvPr/>
        </p:nvCxnSpPr>
        <p:spPr>
          <a:xfrm>
            <a:off x="32866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DF0122EB-F06A-4E0E-A1AB-57AA05422572}"/>
              </a:ext>
            </a:extLst>
          </p:cNvPr>
          <p:cNvSpPr/>
          <p:nvPr/>
        </p:nvSpPr>
        <p:spPr>
          <a:xfrm>
            <a:off x="8605502" y="1817967"/>
            <a:ext cx="2733354" cy="12003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sv-SE" sz="2400" dirty="0" err="1"/>
              <a:t>Broadly</a:t>
            </a:r>
            <a:r>
              <a:rPr lang="sv-SE" sz="2400" dirty="0"/>
              <a:t>, </a:t>
            </a:r>
            <a:r>
              <a:rPr lang="sv-SE" sz="2400" dirty="0" err="1"/>
              <a:t>we</a:t>
            </a:r>
            <a:r>
              <a:rPr lang="sv-SE" sz="2400" dirty="0"/>
              <a:t> </a:t>
            </a:r>
            <a:r>
              <a:rPr lang="sv-SE" sz="2400" dirty="0" err="1"/>
              <a:t>evaluate</a:t>
            </a:r>
            <a:r>
              <a:rPr lang="sv-SE" sz="2400" dirty="0"/>
              <a:t> </a:t>
            </a:r>
            <a:r>
              <a:rPr lang="sv-SE" sz="2400" dirty="0" err="1"/>
              <a:t>models</a:t>
            </a:r>
            <a:r>
              <a:rPr lang="sv-SE" sz="2400" dirty="0"/>
              <a:t> in </a:t>
            </a:r>
            <a:r>
              <a:rPr lang="sv-SE" sz="2400" dirty="0" err="1"/>
              <a:t>three</a:t>
            </a:r>
            <a:r>
              <a:rPr lang="sv-SE" sz="2400" dirty="0"/>
              <a:t> </a:t>
            </a:r>
            <a:r>
              <a:rPr lang="sv-SE" sz="2400" dirty="0" err="1"/>
              <a:t>levels</a:t>
            </a:r>
            <a:endParaRPr lang="sv-SE" sz="2400" dirty="0"/>
          </a:p>
        </p:txBody>
      </p:sp>
      <p:sp>
        <p:nvSpPr>
          <p:cNvPr id="23" name="TextBox 22">
            <a:extLst>
              <a:ext uri="{FF2B5EF4-FFF2-40B4-BE49-F238E27FC236}">
                <a16:creationId xmlns:a16="http://schemas.microsoft.com/office/drawing/2014/main" id="{B74F9A49-7365-4D54-AA64-4DC84EADA417}"/>
              </a:ext>
            </a:extLst>
          </p:cNvPr>
          <p:cNvSpPr txBox="1"/>
          <p:nvPr/>
        </p:nvSpPr>
        <p:spPr>
          <a:xfrm>
            <a:off x="4262673" y="3105165"/>
            <a:ext cx="591886" cy="323165"/>
          </a:xfrm>
          <a:prstGeom prst="rect">
            <a:avLst/>
          </a:prstGeom>
          <a:noFill/>
        </p:spPr>
        <p:txBody>
          <a:bodyPr wrap="square">
            <a:spAutoFit/>
          </a:bodyPr>
          <a:lstStyle/>
          <a:p>
            <a:r>
              <a:rPr lang="sv-SE" sz="1500" dirty="0" err="1"/>
              <a:t>run</a:t>
            </a:r>
            <a:endParaRPr lang="sv-SE" sz="1500" dirty="0"/>
          </a:p>
        </p:txBody>
      </p:sp>
    </p:spTree>
    <p:extLst>
      <p:ext uri="{BB962C8B-B14F-4D97-AF65-F5344CB8AC3E}">
        <p14:creationId xmlns:p14="http://schemas.microsoft.com/office/powerpoint/2010/main" val="2582375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The cycle of modeling</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36900" y="5715454"/>
            <a:ext cx="6516266" cy="37555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 (</a:t>
            </a:r>
            <a:r>
              <a:rPr lang="sv-SE" dirty="0" err="1">
                <a:latin typeface="Calibri" panose="020F0502020204030204" pitchFamily="34" charset="0"/>
                <a:ea typeface="Calibri" panose="020F0502020204030204" pitchFamily="34" charset="0"/>
                <a:cs typeface="Times New Roman" panose="02020603050405020304" pitchFamily="18" charset="0"/>
              </a:rPr>
              <a:t>target</a:t>
            </a:r>
            <a:r>
              <a:rPr lang="sv-SE" dirty="0">
                <a:latin typeface="Calibri" panose="020F0502020204030204" pitchFamily="34" charset="0"/>
                <a:ea typeface="Calibri" panose="020F0502020204030204" pitchFamily="34" charset="0"/>
                <a:cs typeface="Times New Roman" panose="02020603050405020304" pitchFamily="18" charset="0"/>
              </a:rPr>
              <a:t> system)</a:t>
            </a:r>
          </a:p>
        </p:txBody>
      </p:sp>
      <p:sp>
        <p:nvSpPr>
          <p:cNvPr id="9" name="Rectangle 8">
            <a:extLst>
              <a:ext uri="{FF2B5EF4-FFF2-40B4-BE49-F238E27FC236}">
                <a16:creationId xmlns:a16="http://schemas.microsoft.com/office/drawing/2014/main" id="{C45138C1-8B11-4FBE-862C-50D47BA7B85A}"/>
              </a:ext>
            </a:extLst>
          </p:cNvPr>
          <p:cNvSpPr/>
          <p:nvPr/>
        </p:nvSpPr>
        <p:spPr>
          <a:xfrm>
            <a:off x="636899" y="1302570"/>
            <a:ext cx="3456131" cy="37555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36898" y="3225337"/>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7DCA8B9A-B964-449F-959C-2CE5CC9F487D}"/>
              </a:ext>
            </a:extLst>
          </p:cNvPr>
          <p:cNvSpPr/>
          <p:nvPr/>
        </p:nvSpPr>
        <p:spPr>
          <a:xfrm>
            <a:off x="4978400" y="3224872"/>
            <a:ext cx="2177143"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Results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7632F341-B7E7-46C2-A810-EDE568AFFDFB}"/>
              </a:ext>
            </a:extLst>
          </p:cNvPr>
          <p:cNvSpPr/>
          <p:nvPr/>
        </p:nvSpPr>
        <p:spPr>
          <a:xfrm>
            <a:off x="636897" y="4249858"/>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636898" y="493486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636898" y="1908650"/>
            <a:ext cx="3456132" cy="37555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70901" y="3596901"/>
            <a:ext cx="4412884" cy="199775"/>
          </a:xfrm>
          <a:prstGeom prst="bentConnector3">
            <a:avLst>
              <a:gd name="adj1" fmla="val 99994"/>
            </a:avLst>
          </a:prstGeom>
          <a:ln w="1905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B16B8E-5BD0-4DE5-B0C2-D60E2CD07461}"/>
              </a:ext>
            </a:extLst>
          </p:cNvPr>
          <p:cNvCxnSpPr/>
          <p:nvPr/>
        </p:nvCxnSpPr>
        <p:spPr>
          <a:xfrm>
            <a:off x="4310743" y="3434226"/>
            <a:ext cx="435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ABB3EFE-9A3C-434D-A264-34F57E97F1B9}"/>
              </a:ext>
            </a:extLst>
          </p:cNvPr>
          <p:cNvCxnSpPr>
            <a:cxnSpLocks/>
          </p:cNvCxnSpPr>
          <p:nvPr/>
        </p:nvCxnSpPr>
        <p:spPr>
          <a:xfrm>
            <a:off x="6035565" y="3803409"/>
            <a:ext cx="0" cy="1507005"/>
          </a:xfrm>
          <a:prstGeom prst="straightConnector1">
            <a:avLst/>
          </a:prstGeom>
          <a:ln w="28575">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0102968-C663-47D6-A49D-6DEA3836B19E}"/>
              </a:ext>
            </a:extLst>
          </p:cNvPr>
          <p:cNvCxnSpPr/>
          <p:nvPr/>
        </p:nvCxnSpPr>
        <p:spPr>
          <a:xfrm flipV="1">
            <a:off x="2219821"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C8A5678F-4F00-4A3E-86CB-A97738DDF7AA}"/>
              </a:ext>
            </a:extLst>
          </p:cNvPr>
          <p:cNvCxnSpPr/>
          <p:nvPr/>
        </p:nvCxnSpPr>
        <p:spPr>
          <a:xfrm flipV="1">
            <a:off x="3286621"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10E2BA10-B059-42E6-B9FC-DB6CDD3F8574}"/>
              </a:ext>
            </a:extLst>
          </p:cNvPr>
          <p:cNvCxnSpPr/>
          <p:nvPr/>
        </p:nvCxnSpPr>
        <p:spPr>
          <a:xfrm flipV="1">
            <a:off x="1109478"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2B5D39DF-1432-4C7F-BE0C-C8D5A59E41C0}"/>
              </a:ext>
            </a:extLst>
          </p:cNvPr>
          <p:cNvCxnSpPr/>
          <p:nvPr/>
        </p:nvCxnSpPr>
        <p:spPr>
          <a:xfrm>
            <a:off x="1109478"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66FF28FC-2ACC-4D81-9F38-9B4A07692586}"/>
              </a:ext>
            </a:extLst>
          </p:cNvPr>
          <p:cNvCxnSpPr/>
          <p:nvPr/>
        </p:nvCxnSpPr>
        <p:spPr>
          <a:xfrm>
            <a:off x="22198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53222CFD-A07F-4B33-A039-BEE4299045CB}"/>
              </a:ext>
            </a:extLst>
          </p:cNvPr>
          <p:cNvCxnSpPr/>
          <p:nvPr/>
        </p:nvCxnSpPr>
        <p:spPr>
          <a:xfrm>
            <a:off x="32866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83DB7092-DAE1-4988-A33D-03863131FCED}"/>
              </a:ext>
            </a:extLst>
          </p:cNvPr>
          <p:cNvSpPr/>
          <p:nvPr/>
        </p:nvSpPr>
        <p:spPr>
          <a:xfrm>
            <a:off x="4499428" y="1552461"/>
            <a:ext cx="1955586"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sv-SE" dirty="0" err="1"/>
              <a:t>Characterization</a:t>
            </a:r>
            <a:endParaRPr lang="sv-SE" dirty="0"/>
          </a:p>
        </p:txBody>
      </p:sp>
    </p:spTree>
    <p:extLst>
      <p:ext uri="{BB962C8B-B14F-4D97-AF65-F5344CB8AC3E}">
        <p14:creationId xmlns:p14="http://schemas.microsoft.com/office/powerpoint/2010/main" val="3916026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The cycle of modeling</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36900" y="5715454"/>
            <a:ext cx="6516266" cy="37555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 (</a:t>
            </a:r>
            <a:r>
              <a:rPr lang="sv-SE" dirty="0" err="1">
                <a:latin typeface="Calibri" panose="020F0502020204030204" pitchFamily="34" charset="0"/>
                <a:ea typeface="Calibri" panose="020F0502020204030204" pitchFamily="34" charset="0"/>
                <a:cs typeface="Times New Roman" panose="02020603050405020304" pitchFamily="18" charset="0"/>
              </a:rPr>
              <a:t>target</a:t>
            </a:r>
            <a:r>
              <a:rPr lang="sv-SE" dirty="0">
                <a:latin typeface="Calibri" panose="020F0502020204030204" pitchFamily="34" charset="0"/>
                <a:ea typeface="Calibri" panose="020F0502020204030204" pitchFamily="34" charset="0"/>
                <a:cs typeface="Times New Roman" panose="02020603050405020304" pitchFamily="18" charset="0"/>
              </a:rPr>
              <a:t> system)</a:t>
            </a:r>
          </a:p>
        </p:txBody>
      </p:sp>
      <p:sp>
        <p:nvSpPr>
          <p:cNvPr id="9" name="Rectangle 8">
            <a:extLst>
              <a:ext uri="{FF2B5EF4-FFF2-40B4-BE49-F238E27FC236}">
                <a16:creationId xmlns:a16="http://schemas.microsoft.com/office/drawing/2014/main" id="{C45138C1-8B11-4FBE-862C-50D47BA7B85A}"/>
              </a:ext>
            </a:extLst>
          </p:cNvPr>
          <p:cNvSpPr/>
          <p:nvPr/>
        </p:nvSpPr>
        <p:spPr>
          <a:xfrm>
            <a:off x="636899"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36898" y="3225337"/>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7DCA8B9A-B964-449F-959C-2CE5CC9F487D}"/>
              </a:ext>
            </a:extLst>
          </p:cNvPr>
          <p:cNvSpPr/>
          <p:nvPr/>
        </p:nvSpPr>
        <p:spPr>
          <a:xfrm>
            <a:off x="4978400" y="3224872"/>
            <a:ext cx="2177143"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Results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7632F341-B7E7-46C2-A810-EDE568AFFDFB}"/>
              </a:ext>
            </a:extLst>
          </p:cNvPr>
          <p:cNvSpPr/>
          <p:nvPr/>
        </p:nvSpPr>
        <p:spPr>
          <a:xfrm>
            <a:off x="636897" y="4249858"/>
            <a:ext cx="3456132" cy="375552"/>
          </a:xfrm>
          <a:prstGeom prst="rect">
            <a:avLst/>
          </a:prstGeom>
          <a:solidFill>
            <a:srgbClr val="FFC000"/>
          </a:solidFill>
          <a:ln>
            <a:solidFill>
              <a:srgbClr val="FF0000"/>
            </a:solidFill>
          </a:ln>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636898" y="4934862"/>
            <a:ext cx="3456132" cy="37555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636898" y="1908650"/>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70901"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B16B8E-5BD0-4DE5-B0C2-D60E2CD07461}"/>
              </a:ext>
            </a:extLst>
          </p:cNvPr>
          <p:cNvCxnSpPr/>
          <p:nvPr/>
        </p:nvCxnSpPr>
        <p:spPr>
          <a:xfrm>
            <a:off x="4310743" y="3434226"/>
            <a:ext cx="435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ABB3EFE-9A3C-434D-A264-34F57E97F1B9}"/>
              </a:ext>
            </a:extLst>
          </p:cNvPr>
          <p:cNvCxnSpPr>
            <a:cxnSpLocks/>
          </p:cNvCxnSpPr>
          <p:nvPr/>
        </p:nvCxnSpPr>
        <p:spPr>
          <a:xfrm>
            <a:off x="6035565" y="3803409"/>
            <a:ext cx="0" cy="1507005"/>
          </a:xfrm>
          <a:prstGeom prst="straightConnector1">
            <a:avLst/>
          </a:prstGeom>
          <a:ln w="28575">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0102968-C663-47D6-A49D-6DEA3836B19E}"/>
              </a:ext>
            </a:extLst>
          </p:cNvPr>
          <p:cNvCxnSpPr/>
          <p:nvPr/>
        </p:nvCxnSpPr>
        <p:spPr>
          <a:xfrm flipV="1">
            <a:off x="2219821"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C8A5678F-4F00-4A3E-86CB-A97738DDF7AA}"/>
              </a:ext>
            </a:extLst>
          </p:cNvPr>
          <p:cNvCxnSpPr/>
          <p:nvPr/>
        </p:nvCxnSpPr>
        <p:spPr>
          <a:xfrm flipV="1">
            <a:off x="3286621"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10E2BA10-B059-42E6-B9FC-DB6CDD3F8574}"/>
              </a:ext>
            </a:extLst>
          </p:cNvPr>
          <p:cNvCxnSpPr/>
          <p:nvPr/>
        </p:nvCxnSpPr>
        <p:spPr>
          <a:xfrm flipV="1">
            <a:off x="1109478"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2B5D39DF-1432-4C7F-BE0C-C8D5A59E41C0}"/>
              </a:ext>
            </a:extLst>
          </p:cNvPr>
          <p:cNvCxnSpPr/>
          <p:nvPr/>
        </p:nvCxnSpPr>
        <p:spPr>
          <a:xfrm>
            <a:off x="1109478"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66FF28FC-2ACC-4D81-9F38-9B4A07692586}"/>
              </a:ext>
            </a:extLst>
          </p:cNvPr>
          <p:cNvCxnSpPr/>
          <p:nvPr/>
        </p:nvCxnSpPr>
        <p:spPr>
          <a:xfrm>
            <a:off x="22198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53222CFD-A07F-4B33-A039-BEE4299045CB}"/>
              </a:ext>
            </a:extLst>
          </p:cNvPr>
          <p:cNvCxnSpPr/>
          <p:nvPr/>
        </p:nvCxnSpPr>
        <p:spPr>
          <a:xfrm>
            <a:off x="32866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Rectangle 39">
            <a:extLst>
              <a:ext uri="{FF2B5EF4-FFF2-40B4-BE49-F238E27FC236}">
                <a16:creationId xmlns:a16="http://schemas.microsoft.com/office/drawing/2014/main" id="{AD9B613C-217F-4BFA-A341-25C2D68D766A}"/>
              </a:ext>
            </a:extLst>
          </p:cNvPr>
          <p:cNvSpPr/>
          <p:nvPr/>
        </p:nvSpPr>
        <p:spPr>
          <a:xfrm>
            <a:off x="3743740" y="4256078"/>
            <a:ext cx="183470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sv-SE" dirty="0" err="1"/>
              <a:t>Parameterization</a:t>
            </a:r>
            <a:endParaRPr lang="sv-SE" dirty="0"/>
          </a:p>
        </p:txBody>
      </p:sp>
    </p:spTree>
    <p:extLst>
      <p:ext uri="{BB962C8B-B14F-4D97-AF65-F5344CB8AC3E}">
        <p14:creationId xmlns:p14="http://schemas.microsoft.com/office/powerpoint/2010/main" val="545160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The cycle of modeling</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36900"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 (</a:t>
            </a:r>
            <a:r>
              <a:rPr lang="sv-SE" dirty="0" err="1">
                <a:latin typeface="Calibri" panose="020F0502020204030204" pitchFamily="34" charset="0"/>
                <a:ea typeface="Calibri" panose="020F0502020204030204" pitchFamily="34" charset="0"/>
                <a:cs typeface="Times New Roman" panose="02020603050405020304" pitchFamily="18" charset="0"/>
              </a:rPr>
              <a:t>target</a:t>
            </a:r>
            <a:r>
              <a:rPr lang="sv-SE" dirty="0">
                <a:latin typeface="Calibri" panose="020F0502020204030204" pitchFamily="34" charset="0"/>
                <a:ea typeface="Calibri" panose="020F0502020204030204" pitchFamily="34" charset="0"/>
                <a:cs typeface="Times New Roman" panose="02020603050405020304" pitchFamily="18" charset="0"/>
              </a:rPr>
              <a:t> system)</a:t>
            </a:r>
          </a:p>
        </p:txBody>
      </p:sp>
      <p:sp>
        <p:nvSpPr>
          <p:cNvPr id="9" name="Rectangle 8">
            <a:extLst>
              <a:ext uri="{FF2B5EF4-FFF2-40B4-BE49-F238E27FC236}">
                <a16:creationId xmlns:a16="http://schemas.microsoft.com/office/drawing/2014/main" id="{C45138C1-8B11-4FBE-862C-50D47BA7B85A}"/>
              </a:ext>
            </a:extLst>
          </p:cNvPr>
          <p:cNvSpPr/>
          <p:nvPr/>
        </p:nvSpPr>
        <p:spPr>
          <a:xfrm>
            <a:off x="636899"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36898" y="3225337"/>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7DCA8B9A-B964-449F-959C-2CE5CC9F487D}"/>
              </a:ext>
            </a:extLst>
          </p:cNvPr>
          <p:cNvSpPr/>
          <p:nvPr/>
        </p:nvSpPr>
        <p:spPr>
          <a:xfrm>
            <a:off x="4978400" y="3224872"/>
            <a:ext cx="2177143"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Results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7632F341-B7E7-46C2-A810-EDE568AFFDFB}"/>
              </a:ext>
            </a:extLst>
          </p:cNvPr>
          <p:cNvSpPr/>
          <p:nvPr/>
        </p:nvSpPr>
        <p:spPr>
          <a:xfrm>
            <a:off x="636897" y="4249858"/>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636898" y="493486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636898" y="1908650"/>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70901"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B16B8E-5BD0-4DE5-B0C2-D60E2CD07461}"/>
              </a:ext>
            </a:extLst>
          </p:cNvPr>
          <p:cNvCxnSpPr/>
          <p:nvPr/>
        </p:nvCxnSpPr>
        <p:spPr>
          <a:xfrm>
            <a:off x="4310743" y="3434226"/>
            <a:ext cx="435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ABB3EFE-9A3C-434D-A264-34F57E97F1B9}"/>
              </a:ext>
            </a:extLst>
          </p:cNvPr>
          <p:cNvCxnSpPr>
            <a:cxnSpLocks/>
          </p:cNvCxnSpPr>
          <p:nvPr/>
        </p:nvCxnSpPr>
        <p:spPr>
          <a:xfrm>
            <a:off x="6035565" y="3803409"/>
            <a:ext cx="0" cy="1507005"/>
          </a:xfrm>
          <a:prstGeom prst="straightConnector1">
            <a:avLst/>
          </a:prstGeom>
          <a:ln w="28575">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0102968-C663-47D6-A49D-6DEA3836B19E}"/>
              </a:ext>
            </a:extLst>
          </p:cNvPr>
          <p:cNvCxnSpPr/>
          <p:nvPr/>
        </p:nvCxnSpPr>
        <p:spPr>
          <a:xfrm flipV="1">
            <a:off x="2219821"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C8A5678F-4F00-4A3E-86CB-A97738DDF7AA}"/>
              </a:ext>
            </a:extLst>
          </p:cNvPr>
          <p:cNvCxnSpPr/>
          <p:nvPr/>
        </p:nvCxnSpPr>
        <p:spPr>
          <a:xfrm flipV="1">
            <a:off x="3286621"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10E2BA10-B059-42E6-B9FC-DB6CDD3F8574}"/>
              </a:ext>
            </a:extLst>
          </p:cNvPr>
          <p:cNvCxnSpPr/>
          <p:nvPr/>
        </p:nvCxnSpPr>
        <p:spPr>
          <a:xfrm flipV="1">
            <a:off x="1109478"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2B5D39DF-1432-4C7F-BE0C-C8D5A59E41C0}"/>
              </a:ext>
            </a:extLst>
          </p:cNvPr>
          <p:cNvCxnSpPr/>
          <p:nvPr/>
        </p:nvCxnSpPr>
        <p:spPr>
          <a:xfrm>
            <a:off x="1109478"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66FF28FC-2ACC-4D81-9F38-9B4A07692586}"/>
              </a:ext>
            </a:extLst>
          </p:cNvPr>
          <p:cNvCxnSpPr/>
          <p:nvPr/>
        </p:nvCxnSpPr>
        <p:spPr>
          <a:xfrm>
            <a:off x="22198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53222CFD-A07F-4B33-A039-BEE4299045CB}"/>
              </a:ext>
            </a:extLst>
          </p:cNvPr>
          <p:cNvCxnSpPr/>
          <p:nvPr/>
        </p:nvCxnSpPr>
        <p:spPr>
          <a:xfrm>
            <a:off x="3286621" y="2510971"/>
            <a:ext cx="0" cy="46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Rectangle 40">
            <a:extLst>
              <a:ext uri="{FF2B5EF4-FFF2-40B4-BE49-F238E27FC236}">
                <a16:creationId xmlns:a16="http://schemas.microsoft.com/office/drawing/2014/main" id="{BE0A9413-9C5E-4AFC-9AB2-37DA6CAC0B9F}"/>
              </a:ext>
            </a:extLst>
          </p:cNvPr>
          <p:cNvSpPr/>
          <p:nvPr/>
        </p:nvSpPr>
        <p:spPr>
          <a:xfrm>
            <a:off x="10212032" y="2322865"/>
            <a:ext cx="1955586"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sv-SE" dirty="0" err="1"/>
              <a:t>Calibration</a:t>
            </a:r>
            <a:r>
              <a:rPr lang="sv-SE" dirty="0"/>
              <a:t> (</a:t>
            </a:r>
            <a:r>
              <a:rPr lang="sv-SE" dirty="0" err="1"/>
              <a:t>tuning</a:t>
            </a:r>
            <a:r>
              <a:rPr lang="sv-SE" dirty="0"/>
              <a:t>)</a:t>
            </a:r>
          </a:p>
        </p:txBody>
      </p:sp>
      <p:grpSp>
        <p:nvGrpSpPr>
          <p:cNvPr id="42" name="Group 41">
            <a:extLst>
              <a:ext uri="{FF2B5EF4-FFF2-40B4-BE49-F238E27FC236}">
                <a16:creationId xmlns:a16="http://schemas.microsoft.com/office/drawing/2014/main" id="{16A7AE3D-B7DE-4890-92DB-B09D0B5CA6D5}"/>
              </a:ext>
            </a:extLst>
          </p:cNvPr>
          <p:cNvGrpSpPr/>
          <p:nvPr/>
        </p:nvGrpSpPr>
        <p:grpSpPr>
          <a:xfrm>
            <a:off x="7416823" y="3359469"/>
            <a:ext cx="1977368" cy="2715838"/>
            <a:chOff x="897134" y="1262744"/>
            <a:chExt cx="1954625" cy="1578708"/>
          </a:xfrm>
        </p:grpSpPr>
        <p:cxnSp>
          <p:nvCxnSpPr>
            <p:cNvPr id="43" name="Straight Connector 42">
              <a:extLst>
                <a:ext uri="{FF2B5EF4-FFF2-40B4-BE49-F238E27FC236}">
                  <a16:creationId xmlns:a16="http://schemas.microsoft.com/office/drawing/2014/main" id="{F7F0DE2E-6412-4AD5-B0DC-9E9FC9693521}"/>
                </a:ext>
              </a:extLst>
            </p:cNvPr>
            <p:cNvCxnSpPr/>
            <p:nvPr/>
          </p:nvCxnSpPr>
          <p:spPr>
            <a:xfrm>
              <a:off x="1218344" y="1262744"/>
              <a:ext cx="0" cy="1578708"/>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1390D-A118-440B-B14A-4F87C0FA162E}"/>
                </a:ext>
              </a:extLst>
            </p:cNvPr>
            <p:cNvCxnSpPr>
              <a:cxnSpLocks/>
            </p:cNvCxnSpPr>
            <p:nvPr/>
          </p:nvCxnSpPr>
          <p:spPr>
            <a:xfrm flipH="1">
              <a:off x="1050313" y="2696868"/>
              <a:ext cx="1801446" cy="0"/>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C4E09FA-4E1E-40B6-A10C-6841268148FC}"/>
                </a:ext>
              </a:extLst>
            </p:cNvPr>
            <p:cNvCxnSpPr>
              <a:cxnSpLocks/>
            </p:cNvCxnSpPr>
            <p:nvPr/>
          </p:nvCxnSpPr>
          <p:spPr>
            <a:xfrm flipH="1">
              <a:off x="1370745" y="1403421"/>
              <a:ext cx="1277814" cy="1076569"/>
            </a:xfrm>
            <a:prstGeom prst="line">
              <a:avLst/>
            </a:prstGeom>
          </p:spPr>
          <p:style>
            <a:lnRef idx="1">
              <a:schemeClr val="dk1"/>
            </a:lnRef>
            <a:fillRef idx="0">
              <a:schemeClr val="dk1"/>
            </a:fillRef>
            <a:effectRef idx="0">
              <a:schemeClr val="dk1"/>
            </a:effectRef>
            <a:fontRef idx="minor">
              <a:schemeClr val="tx1"/>
            </a:fontRef>
          </p:style>
        </p:cxnSp>
        <p:sp>
          <p:nvSpPr>
            <p:cNvPr id="46" name="Rectangle 45">
              <a:extLst>
                <a:ext uri="{FF2B5EF4-FFF2-40B4-BE49-F238E27FC236}">
                  <a16:creationId xmlns:a16="http://schemas.microsoft.com/office/drawing/2014/main" id="{6AAFBE25-AC9D-4AD8-AD4F-F60BADBDABCE}"/>
                </a:ext>
              </a:extLst>
            </p:cNvPr>
            <p:cNvSpPr/>
            <p:nvPr/>
          </p:nvSpPr>
          <p:spPr>
            <a:xfrm rot="16200000">
              <a:off x="798536" y="1788525"/>
              <a:ext cx="503553" cy="306358"/>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Measure</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grpSp>
      <p:cxnSp>
        <p:nvCxnSpPr>
          <p:cNvPr id="49" name="Straight Connector 48">
            <a:extLst>
              <a:ext uri="{FF2B5EF4-FFF2-40B4-BE49-F238E27FC236}">
                <a16:creationId xmlns:a16="http://schemas.microsoft.com/office/drawing/2014/main" id="{C0D3E7B3-90AB-4E3D-8675-56D0022DD74C}"/>
              </a:ext>
            </a:extLst>
          </p:cNvPr>
          <p:cNvCxnSpPr>
            <a:cxnSpLocks/>
          </p:cNvCxnSpPr>
          <p:nvPr/>
        </p:nvCxnSpPr>
        <p:spPr>
          <a:xfrm flipH="1">
            <a:off x="7938885" y="5078191"/>
            <a:ext cx="1288303" cy="626377"/>
          </a:xfrm>
          <a:prstGeom prst="line">
            <a:avLst/>
          </a:prstGeom>
          <a:ln w="38100"/>
        </p:spPr>
        <p:style>
          <a:lnRef idx="3">
            <a:schemeClr val="accent2"/>
          </a:lnRef>
          <a:fillRef idx="0">
            <a:schemeClr val="accent2"/>
          </a:fillRef>
          <a:effectRef idx="2">
            <a:schemeClr val="accent2"/>
          </a:effectRef>
          <a:fontRef idx="minor">
            <a:schemeClr val="tx1"/>
          </a:fontRef>
        </p:style>
      </p:cxnSp>
      <p:grpSp>
        <p:nvGrpSpPr>
          <p:cNvPr id="51" name="Group 50">
            <a:extLst>
              <a:ext uri="{FF2B5EF4-FFF2-40B4-BE49-F238E27FC236}">
                <a16:creationId xmlns:a16="http://schemas.microsoft.com/office/drawing/2014/main" id="{E66521D9-B53E-4E82-B797-9E2AF14F912B}"/>
              </a:ext>
            </a:extLst>
          </p:cNvPr>
          <p:cNvGrpSpPr/>
          <p:nvPr/>
        </p:nvGrpSpPr>
        <p:grpSpPr>
          <a:xfrm>
            <a:off x="9902109" y="3359469"/>
            <a:ext cx="1977368" cy="2715838"/>
            <a:chOff x="897134" y="1262744"/>
            <a:chExt cx="1954625" cy="1578708"/>
          </a:xfrm>
        </p:grpSpPr>
        <p:cxnSp>
          <p:nvCxnSpPr>
            <p:cNvPr id="52" name="Straight Connector 51">
              <a:extLst>
                <a:ext uri="{FF2B5EF4-FFF2-40B4-BE49-F238E27FC236}">
                  <a16:creationId xmlns:a16="http://schemas.microsoft.com/office/drawing/2014/main" id="{194BD457-0298-4DEE-A9F2-CB466B5865D7}"/>
                </a:ext>
              </a:extLst>
            </p:cNvPr>
            <p:cNvCxnSpPr/>
            <p:nvPr/>
          </p:nvCxnSpPr>
          <p:spPr>
            <a:xfrm>
              <a:off x="1218344" y="1262744"/>
              <a:ext cx="0" cy="1578708"/>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ED3BD52C-E1D5-4BCC-948D-901A0EBF1424}"/>
                </a:ext>
              </a:extLst>
            </p:cNvPr>
            <p:cNvCxnSpPr>
              <a:cxnSpLocks/>
            </p:cNvCxnSpPr>
            <p:nvPr/>
          </p:nvCxnSpPr>
          <p:spPr>
            <a:xfrm flipH="1">
              <a:off x="1050313" y="2696868"/>
              <a:ext cx="1801446" cy="0"/>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1922149B-FF1F-4913-AF43-D8FD0C5D2657}"/>
                </a:ext>
              </a:extLst>
            </p:cNvPr>
            <p:cNvCxnSpPr>
              <a:cxnSpLocks/>
            </p:cNvCxnSpPr>
            <p:nvPr/>
          </p:nvCxnSpPr>
          <p:spPr>
            <a:xfrm flipH="1">
              <a:off x="1370745" y="1403421"/>
              <a:ext cx="1277814" cy="1076569"/>
            </a:xfrm>
            <a:prstGeom prst="line">
              <a:avLst/>
            </a:prstGeom>
          </p:spPr>
          <p:style>
            <a:lnRef idx="1">
              <a:schemeClr val="dk1"/>
            </a:lnRef>
            <a:fillRef idx="0">
              <a:schemeClr val="dk1"/>
            </a:fillRef>
            <a:effectRef idx="0">
              <a:schemeClr val="dk1"/>
            </a:effectRef>
            <a:fontRef idx="minor">
              <a:schemeClr val="tx1"/>
            </a:fontRef>
          </p:style>
        </p:cxnSp>
        <p:sp>
          <p:nvSpPr>
            <p:cNvPr id="55" name="Rectangle 54">
              <a:extLst>
                <a:ext uri="{FF2B5EF4-FFF2-40B4-BE49-F238E27FC236}">
                  <a16:creationId xmlns:a16="http://schemas.microsoft.com/office/drawing/2014/main" id="{480AE5B4-C99D-4385-93F4-FC6204962645}"/>
                </a:ext>
              </a:extLst>
            </p:cNvPr>
            <p:cNvSpPr/>
            <p:nvPr/>
          </p:nvSpPr>
          <p:spPr>
            <a:xfrm rot="16200000">
              <a:off x="798536" y="1788525"/>
              <a:ext cx="503553" cy="306358"/>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Measure</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grpSp>
      <p:cxnSp>
        <p:nvCxnSpPr>
          <p:cNvPr id="56" name="Straight Connector 55">
            <a:extLst>
              <a:ext uri="{FF2B5EF4-FFF2-40B4-BE49-F238E27FC236}">
                <a16:creationId xmlns:a16="http://schemas.microsoft.com/office/drawing/2014/main" id="{45BCE61F-55FC-416C-B415-DF50D0640891}"/>
              </a:ext>
            </a:extLst>
          </p:cNvPr>
          <p:cNvCxnSpPr>
            <a:cxnSpLocks/>
          </p:cNvCxnSpPr>
          <p:nvPr/>
        </p:nvCxnSpPr>
        <p:spPr>
          <a:xfrm flipH="1">
            <a:off x="10424172" y="3676089"/>
            <a:ext cx="1274342" cy="2028479"/>
          </a:xfrm>
          <a:prstGeom prst="line">
            <a:avLst/>
          </a:prstGeom>
          <a:ln w="38100"/>
        </p:spPr>
        <p:style>
          <a:lnRef idx="3">
            <a:schemeClr val="accent2"/>
          </a:lnRef>
          <a:fillRef idx="0">
            <a:schemeClr val="accent2"/>
          </a:fillRef>
          <a:effectRef idx="2">
            <a:schemeClr val="accent2"/>
          </a:effectRef>
          <a:fontRef idx="minor">
            <a:schemeClr val="tx1"/>
          </a:fontRef>
        </p:style>
      </p:cxnSp>
      <p:pic>
        <p:nvPicPr>
          <p:cNvPr id="35" name="Picture 34">
            <a:extLst>
              <a:ext uri="{FF2B5EF4-FFF2-40B4-BE49-F238E27FC236}">
                <a16:creationId xmlns:a16="http://schemas.microsoft.com/office/drawing/2014/main" id="{F4B2CCA7-D7DE-46B3-934E-3538DF3DC42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4547287" y="386641"/>
            <a:ext cx="1761902" cy="1703863"/>
          </a:xfrm>
          <a:prstGeom prst="rect">
            <a:avLst/>
          </a:prstGeom>
        </p:spPr>
      </p:pic>
      <p:pic>
        <p:nvPicPr>
          <p:cNvPr id="47" name="Picture 46">
            <a:extLst>
              <a:ext uri="{FF2B5EF4-FFF2-40B4-BE49-F238E27FC236}">
                <a16:creationId xmlns:a16="http://schemas.microsoft.com/office/drawing/2014/main" id="{F1654116-ACF8-487F-9D54-11DDB54EABA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6437097" y="386640"/>
            <a:ext cx="1761902" cy="1703863"/>
          </a:xfrm>
          <a:prstGeom prst="rect">
            <a:avLst/>
          </a:prstGeom>
        </p:spPr>
      </p:pic>
      <p:pic>
        <p:nvPicPr>
          <p:cNvPr id="48" name="Picture 47">
            <a:extLst>
              <a:ext uri="{FF2B5EF4-FFF2-40B4-BE49-F238E27FC236}">
                <a16:creationId xmlns:a16="http://schemas.microsoft.com/office/drawing/2014/main" id="{9AC9DEC0-0F61-4DA4-BC53-2186AC11937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8346237" y="381198"/>
            <a:ext cx="1761902" cy="1703863"/>
          </a:xfrm>
          <a:prstGeom prst="rect">
            <a:avLst/>
          </a:prstGeom>
        </p:spPr>
      </p:pic>
      <p:pic>
        <p:nvPicPr>
          <p:cNvPr id="50" name="Picture 49">
            <a:extLst>
              <a:ext uri="{FF2B5EF4-FFF2-40B4-BE49-F238E27FC236}">
                <a16:creationId xmlns:a16="http://schemas.microsoft.com/office/drawing/2014/main" id="{16485D1C-CA55-409E-97A7-8E72FD6573F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0255377" y="381197"/>
            <a:ext cx="1761902" cy="1703863"/>
          </a:xfrm>
          <a:prstGeom prst="rect">
            <a:avLst/>
          </a:prstGeom>
        </p:spPr>
      </p:pic>
      <p:sp>
        <p:nvSpPr>
          <p:cNvPr id="57" name="Rectangle 56">
            <a:extLst>
              <a:ext uri="{FF2B5EF4-FFF2-40B4-BE49-F238E27FC236}">
                <a16:creationId xmlns:a16="http://schemas.microsoft.com/office/drawing/2014/main" id="{801E9132-8D7B-4DBE-8035-1ED1B7F53B83}"/>
              </a:ext>
            </a:extLst>
          </p:cNvPr>
          <p:cNvSpPr/>
          <p:nvPr/>
        </p:nvSpPr>
        <p:spPr>
          <a:xfrm>
            <a:off x="4900429" y="909962"/>
            <a:ext cx="1032655" cy="646331"/>
          </a:xfrm>
          <a:prstGeom prst="rect">
            <a:avLst/>
          </a:prstGeom>
        </p:spPr>
        <p:txBody>
          <a:bodyPr wrap="square">
            <a:spAutoFit/>
          </a:bodyPr>
          <a:lstStyle/>
          <a:p>
            <a:pPr algn="ctr"/>
            <a:r>
              <a:rPr lang="sv-SE" dirty="0"/>
              <a:t>Decision </a:t>
            </a:r>
          </a:p>
          <a:p>
            <a:pPr algn="ctr"/>
            <a:r>
              <a:rPr lang="sv-SE" dirty="0" err="1"/>
              <a:t>factors</a:t>
            </a:r>
            <a:endParaRPr lang="sv-SE" dirty="0"/>
          </a:p>
        </p:txBody>
      </p:sp>
      <p:sp>
        <p:nvSpPr>
          <p:cNvPr id="58" name="Rectangle 57">
            <a:extLst>
              <a:ext uri="{FF2B5EF4-FFF2-40B4-BE49-F238E27FC236}">
                <a16:creationId xmlns:a16="http://schemas.microsoft.com/office/drawing/2014/main" id="{DA2012C1-6D00-4160-9DB1-044BFAE1F1CD}"/>
              </a:ext>
            </a:extLst>
          </p:cNvPr>
          <p:cNvSpPr/>
          <p:nvPr/>
        </p:nvSpPr>
        <p:spPr>
          <a:xfrm>
            <a:off x="6783176" y="858397"/>
            <a:ext cx="1069744" cy="646331"/>
          </a:xfrm>
          <a:prstGeom prst="rect">
            <a:avLst/>
          </a:prstGeom>
        </p:spPr>
        <p:txBody>
          <a:bodyPr wrap="square">
            <a:spAutoFit/>
          </a:bodyPr>
          <a:lstStyle/>
          <a:p>
            <a:pPr algn="ctr"/>
            <a:r>
              <a:rPr lang="sv-SE" dirty="0" err="1"/>
              <a:t>Schelling</a:t>
            </a:r>
            <a:r>
              <a:rPr lang="sv-SE" dirty="0"/>
              <a:t> </a:t>
            </a:r>
          </a:p>
          <a:p>
            <a:pPr algn="ctr"/>
            <a:r>
              <a:rPr lang="sv-SE" dirty="0" err="1"/>
              <a:t>types</a:t>
            </a:r>
            <a:endParaRPr lang="sv-SE" dirty="0"/>
          </a:p>
        </p:txBody>
      </p:sp>
      <p:sp>
        <p:nvSpPr>
          <p:cNvPr id="59" name="Rectangle 58">
            <a:extLst>
              <a:ext uri="{FF2B5EF4-FFF2-40B4-BE49-F238E27FC236}">
                <a16:creationId xmlns:a16="http://schemas.microsoft.com/office/drawing/2014/main" id="{09918375-CF34-4217-BBFA-697F022FFC78}"/>
              </a:ext>
            </a:extLst>
          </p:cNvPr>
          <p:cNvSpPr/>
          <p:nvPr/>
        </p:nvSpPr>
        <p:spPr>
          <a:xfrm>
            <a:off x="8610695" y="990419"/>
            <a:ext cx="1217000" cy="369332"/>
          </a:xfrm>
          <a:prstGeom prst="rect">
            <a:avLst/>
          </a:prstGeom>
        </p:spPr>
        <p:txBody>
          <a:bodyPr wrap="square">
            <a:spAutoFit/>
          </a:bodyPr>
          <a:lstStyle/>
          <a:p>
            <a:r>
              <a:rPr lang="sv-SE"/>
              <a:t># decisions</a:t>
            </a:r>
            <a:endParaRPr lang="sv-SE" dirty="0"/>
          </a:p>
        </p:txBody>
      </p:sp>
      <p:sp>
        <p:nvSpPr>
          <p:cNvPr id="60" name="Rectangle 59">
            <a:extLst>
              <a:ext uri="{FF2B5EF4-FFF2-40B4-BE49-F238E27FC236}">
                <a16:creationId xmlns:a16="http://schemas.microsoft.com/office/drawing/2014/main" id="{1E605F19-01BF-42B8-BC3C-51ADF2FE576E}"/>
              </a:ext>
            </a:extLst>
          </p:cNvPr>
          <p:cNvSpPr/>
          <p:nvPr/>
        </p:nvSpPr>
        <p:spPr>
          <a:xfrm>
            <a:off x="10681716" y="990419"/>
            <a:ext cx="909223" cy="369332"/>
          </a:xfrm>
          <a:prstGeom prst="rect">
            <a:avLst/>
          </a:prstGeom>
        </p:spPr>
        <p:txBody>
          <a:bodyPr wrap="square">
            <a:spAutoFit/>
          </a:bodyPr>
          <a:lstStyle/>
          <a:p>
            <a:r>
              <a:rPr lang="sv-SE" dirty="0"/>
              <a:t># non-X</a:t>
            </a:r>
          </a:p>
        </p:txBody>
      </p:sp>
    </p:spTree>
    <p:extLst>
      <p:ext uri="{BB962C8B-B14F-4D97-AF65-F5344CB8AC3E}">
        <p14:creationId xmlns:p14="http://schemas.microsoft.com/office/powerpoint/2010/main" val="4239607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65928"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a:t>
            </a:r>
          </a:p>
        </p:txBody>
      </p:sp>
      <p:sp>
        <p:nvSpPr>
          <p:cNvPr id="9" name="Rectangle 8">
            <a:extLst>
              <a:ext uri="{FF2B5EF4-FFF2-40B4-BE49-F238E27FC236}">
                <a16:creationId xmlns:a16="http://schemas.microsoft.com/office/drawing/2014/main" id="{C45138C1-8B11-4FBE-862C-50D47BA7B85A}"/>
              </a:ext>
            </a:extLst>
          </p:cNvPr>
          <p:cNvSpPr/>
          <p:nvPr/>
        </p:nvSpPr>
        <p:spPr>
          <a:xfrm>
            <a:off x="665927"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65927" y="2461720"/>
            <a:ext cx="3456131" cy="375552"/>
          </a:xfrm>
          <a:prstGeom prst="rect">
            <a:avLst/>
          </a:prstGeom>
          <a:solidFill>
            <a:srgbClr val="FF0000"/>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7DCA8B9A-B964-449F-959C-2CE5CC9F487D}"/>
              </a:ext>
            </a:extLst>
          </p:cNvPr>
          <p:cNvSpPr/>
          <p:nvPr/>
        </p:nvSpPr>
        <p:spPr>
          <a:xfrm>
            <a:off x="4946993" y="2461720"/>
            <a:ext cx="2235200"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Results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7632F341-B7E7-46C2-A810-EDE568AFFDFB}"/>
              </a:ext>
            </a:extLst>
          </p:cNvPr>
          <p:cNvSpPr/>
          <p:nvPr/>
        </p:nvSpPr>
        <p:spPr>
          <a:xfrm>
            <a:off x="665926" y="333511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665926" y="493486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665926" y="4216317"/>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41873"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B16B8E-5BD0-4DE5-B0C2-D60E2CD07461}"/>
              </a:ext>
            </a:extLst>
          </p:cNvPr>
          <p:cNvCxnSpPr/>
          <p:nvPr/>
        </p:nvCxnSpPr>
        <p:spPr>
          <a:xfrm>
            <a:off x="4354285" y="2649496"/>
            <a:ext cx="435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ABB3EFE-9A3C-434D-A264-34F57E97F1B9}"/>
              </a:ext>
            </a:extLst>
          </p:cNvPr>
          <p:cNvCxnSpPr/>
          <p:nvPr/>
        </p:nvCxnSpPr>
        <p:spPr>
          <a:xfrm>
            <a:off x="6064593" y="3185431"/>
            <a:ext cx="0" cy="2124983"/>
          </a:xfrm>
          <a:prstGeom prst="straightConnector1">
            <a:avLst/>
          </a:prstGeom>
          <a:ln w="28575">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187D4E2-D4D5-4F83-A1AB-7105699F0030}"/>
              </a:ext>
            </a:extLst>
          </p:cNvPr>
          <p:cNvCxnSpPr/>
          <p:nvPr/>
        </p:nvCxnSpPr>
        <p:spPr>
          <a:xfrm>
            <a:off x="1494971" y="1835602"/>
            <a:ext cx="0" cy="49348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05F66E11-7EEE-4EE1-9B4B-FB0D8D116453}"/>
              </a:ext>
            </a:extLst>
          </p:cNvPr>
          <p:cNvSpPr/>
          <p:nvPr/>
        </p:nvSpPr>
        <p:spPr>
          <a:xfrm>
            <a:off x="4789714" y="1308665"/>
            <a:ext cx="3456131" cy="375552"/>
          </a:xfrm>
          <a:prstGeom prst="rect">
            <a:avLst/>
          </a:prstGeom>
          <a:solidFill>
            <a:srgbClr val="FF0000"/>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i </a:t>
            </a:r>
          </a:p>
        </p:txBody>
      </p:sp>
      <p:cxnSp>
        <p:nvCxnSpPr>
          <p:cNvPr id="21" name="Straight Arrow Connector 20">
            <a:extLst>
              <a:ext uri="{FF2B5EF4-FFF2-40B4-BE49-F238E27FC236}">
                <a16:creationId xmlns:a16="http://schemas.microsoft.com/office/drawing/2014/main" id="{1DD06BB0-E3BE-49E2-B4BB-4D8A926BB2F9}"/>
              </a:ext>
            </a:extLst>
          </p:cNvPr>
          <p:cNvCxnSpPr/>
          <p:nvPr/>
        </p:nvCxnSpPr>
        <p:spPr>
          <a:xfrm>
            <a:off x="6064593" y="1835602"/>
            <a:ext cx="0" cy="49348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D1AB753A-181A-4BB5-BC82-AA8321A3BDE2}"/>
              </a:ext>
            </a:extLst>
          </p:cNvPr>
          <p:cNvSpPr/>
          <p:nvPr/>
        </p:nvSpPr>
        <p:spPr>
          <a:xfrm>
            <a:off x="8007128" y="2381271"/>
            <a:ext cx="1635860" cy="67191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Replication</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robustness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4161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07872"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a:t>
            </a:r>
          </a:p>
        </p:txBody>
      </p:sp>
      <p:sp>
        <p:nvSpPr>
          <p:cNvPr id="9" name="Rectangle 8">
            <a:extLst>
              <a:ext uri="{FF2B5EF4-FFF2-40B4-BE49-F238E27FC236}">
                <a16:creationId xmlns:a16="http://schemas.microsoft.com/office/drawing/2014/main" id="{C45138C1-8B11-4FBE-862C-50D47BA7B85A}"/>
              </a:ext>
            </a:extLst>
          </p:cNvPr>
          <p:cNvSpPr/>
          <p:nvPr/>
        </p:nvSpPr>
        <p:spPr>
          <a:xfrm>
            <a:off x="607871"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07871" y="246172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7DCA8B9A-B964-449F-959C-2CE5CC9F487D}"/>
              </a:ext>
            </a:extLst>
          </p:cNvPr>
          <p:cNvSpPr/>
          <p:nvPr/>
        </p:nvSpPr>
        <p:spPr>
          <a:xfrm>
            <a:off x="4888937" y="2461720"/>
            <a:ext cx="2235200"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Results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7632F341-B7E7-46C2-A810-EDE568AFFDFB}"/>
              </a:ext>
            </a:extLst>
          </p:cNvPr>
          <p:cNvSpPr/>
          <p:nvPr/>
        </p:nvSpPr>
        <p:spPr>
          <a:xfrm>
            <a:off x="607870" y="333511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607870" y="493486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607870" y="4216317"/>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99929"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B16B8E-5BD0-4DE5-B0C2-D60E2CD07461}"/>
              </a:ext>
            </a:extLst>
          </p:cNvPr>
          <p:cNvCxnSpPr/>
          <p:nvPr/>
        </p:nvCxnSpPr>
        <p:spPr>
          <a:xfrm>
            <a:off x="4296229" y="2649496"/>
            <a:ext cx="435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ABB3EFE-9A3C-434D-A264-34F57E97F1B9}"/>
              </a:ext>
            </a:extLst>
          </p:cNvPr>
          <p:cNvCxnSpPr/>
          <p:nvPr/>
        </p:nvCxnSpPr>
        <p:spPr>
          <a:xfrm>
            <a:off x="6006537" y="3185431"/>
            <a:ext cx="0" cy="2124983"/>
          </a:xfrm>
          <a:prstGeom prst="straightConnector1">
            <a:avLst/>
          </a:prstGeom>
          <a:ln w="28575">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187D4E2-D4D5-4F83-A1AB-7105699F0030}"/>
              </a:ext>
            </a:extLst>
          </p:cNvPr>
          <p:cNvCxnSpPr/>
          <p:nvPr/>
        </p:nvCxnSpPr>
        <p:spPr>
          <a:xfrm>
            <a:off x="1436915" y="1835602"/>
            <a:ext cx="0" cy="49348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92C3A6D-618D-489E-B2BD-377B208CAA7E}"/>
              </a:ext>
            </a:extLst>
          </p:cNvPr>
          <p:cNvCxnSpPr/>
          <p:nvPr/>
        </p:nvCxnSpPr>
        <p:spPr>
          <a:xfrm flipV="1">
            <a:off x="2190793"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4761FE15-66D1-4C95-8953-CEF236ADFAB1}"/>
              </a:ext>
            </a:extLst>
          </p:cNvPr>
          <p:cNvCxnSpPr/>
          <p:nvPr/>
        </p:nvCxnSpPr>
        <p:spPr>
          <a:xfrm flipV="1">
            <a:off x="3257593"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9AF07267-B5D4-4FA7-B4BE-E4DEF3D98268}"/>
              </a:ext>
            </a:extLst>
          </p:cNvPr>
          <p:cNvCxnSpPr/>
          <p:nvPr/>
        </p:nvCxnSpPr>
        <p:spPr>
          <a:xfrm flipV="1">
            <a:off x="1080450"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FC8F6E16-934B-4F8A-85B8-C810C2C98024}"/>
              </a:ext>
            </a:extLst>
          </p:cNvPr>
          <p:cNvSpPr/>
          <p:nvPr/>
        </p:nvSpPr>
        <p:spPr>
          <a:xfrm>
            <a:off x="8044325" y="2127127"/>
            <a:ext cx="3573886" cy="34163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sv-SE" b="1" dirty="0" err="1">
                <a:highlight>
                  <a:srgbClr val="FFFF00"/>
                </a:highlight>
              </a:rPr>
              <a:t>Uncertainty</a:t>
            </a:r>
            <a:endParaRPr lang="sv-SE" b="1" dirty="0">
              <a:highlight>
                <a:srgbClr val="FFFF00"/>
              </a:highlight>
            </a:endParaRPr>
          </a:p>
          <a:p>
            <a:endParaRPr lang="sv-SE" dirty="0"/>
          </a:p>
          <a:p>
            <a:pPr marL="342900" indent="-342900">
              <a:buAutoNum type="alphaLcParenBoth"/>
            </a:pPr>
            <a:r>
              <a:rPr lang="sv-SE" dirty="0"/>
              <a:t>Input </a:t>
            </a:r>
            <a:r>
              <a:rPr lang="sv-SE" dirty="0" err="1"/>
              <a:t>uncertainty</a:t>
            </a:r>
            <a:r>
              <a:rPr lang="sv-SE" dirty="0"/>
              <a:t>: Data </a:t>
            </a:r>
            <a:r>
              <a:rPr lang="sv-SE" dirty="0" err="1"/>
              <a:t>used</a:t>
            </a:r>
            <a:r>
              <a:rPr lang="sv-SE" dirty="0"/>
              <a:t> to </a:t>
            </a:r>
            <a:r>
              <a:rPr lang="sv-SE" dirty="0" err="1"/>
              <a:t>define</a:t>
            </a:r>
            <a:r>
              <a:rPr lang="sv-SE" dirty="0"/>
              <a:t> parameters</a:t>
            </a:r>
          </a:p>
          <a:p>
            <a:pPr marL="342900" indent="-342900">
              <a:buAutoNum type="alphaLcParenBoth"/>
            </a:pPr>
            <a:r>
              <a:rPr lang="sv-SE" dirty="0" err="1"/>
              <a:t>Model</a:t>
            </a:r>
            <a:r>
              <a:rPr lang="sv-SE" dirty="0"/>
              <a:t> </a:t>
            </a:r>
            <a:r>
              <a:rPr lang="sv-SE" dirty="0" err="1"/>
              <a:t>uncertainty</a:t>
            </a:r>
            <a:r>
              <a:rPr lang="sv-SE" dirty="0"/>
              <a:t>: The process </a:t>
            </a:r>
            <a:r>
              <a:rPr lang="sv-SE" dirty="0" err="1"/>
              <a:t>described</a:t>
            </a:r>
            <a:r>
              <a:rPr lang="sv-SE" dirty="0"/>
              <a:t> in </a:t>
            </a:r>
            <a:r>
              <a:rPr lang="sv-SE" dirty="0" err="1"/>
              <a:t>our</a:t>
            </a:r>
            <a:r>
              <a:rPr lang="sv-SE" dirty="0"/>
              <a:t> </a:t>
            </a:r>
            <a:r>
              <a:rPr lang="sv-SE" dirty="0" err="1"/>
              <a:t>model</a:t>
            </a:r>
            <a:r>
              <a:rPr lang="sv-SE" dirty="0"/>
              <a:t>, the </a:t>
            </a:r>
            <a:r>
              <a:rPr lang="sv-SE" dirty="0" err="1"/>
              <a:t>structure</a:t>
            </a:r>
            <a:r>
              <a:rPr lang="sv-SE" dirty="0"/>
              <a:t> </a:t>
            </a:r>
            <a:r>
              <a:rPr lang="sv-SE" dirty="0" err="1"/>
              <a:t>of</a:t>
            </a:r>
            <a:r>
              <a:rPr lang="sv-SE" dirty="0"/>
              <a:t> </a:t>
            </a:r>
            <a:r>
              <a:rPr lang="sv-SE" dirty="0" err="1"/>
              <a:t>our</a:t>
            </a:r>
            <a:r>
              <a:rPr lang="sv-SE" dirty="0"/>
              <a:t> </a:t>
            </a:r>
            <a:r>
              <a:rPr lang="sv-SE" dirty="0" err="1"/>
              <a:t>model</a:t>
            </a:r>
            <a:r>
              <a:rPr lang="sv-SE" dirty="0"/>
              <a:t> (</a:t>
            </a:r>
            <a:r>
              <a:rPr lang="sv-SE" dirty="0" err="1"/>
              <a:t>model</a:t>
            </a:r>
            <a:r>
              <a:rPr lang="sv-SE" dirty="0"/>
              <a:t> </a:t>
            </a:r>
            <a:r>
              <a:rPr lang="sv-SE" dirty="0" err="1"/>
              <a:t>schedule</a:t>
            </a:r>
            <a:r>
              <a:rPr lang="sv-SE" dirty="0"/>
              <a:t>, vision, decision </a:t>
            </a:r>
            <a:r>
              <a:rPr lang="sv-SE" dirty="0" err="1"/>
              <a:t>rule</a:t>
            </a:r>
            <a:r>
              <a:rPr lang="sv-SE" dirty="0"/>
              <a:t>)</a:t>
            </a:r>
          </a:p>
          <a:p>
            <a:pPr marL="342900" indent="-342900">
              <a:buAutoNum type="alphaLcParenBoth"/>
            </a:pPr>
            <a:endParaRPr lang="sv-SE" dirty="0"/>
          </a:p>
          <a:p>
            <a:r>
              <a:rPr lang="sv-SE" dirty="0" err="1"/>
              <a:t>Two</a:t>
            </a:r>
            <a:r>
              <a:rPr lang="sv-SE" dirty="0"/>
              <a:t> </a:t>
            </a:r>
            <a:r>
              <a:rPr lang="sv-SE" dirty="0" err="1"/>
              <a:t>types</a:t>
            </a:r>
            <a:r>
              <a:rPr lang="sv-SE" dirty="0"/>
              <a:t> </a:t>
            </a:r>
            <a:r>
              <a:rPr lang="sv-SE" dirty="0" err="1"/>
              <a:t>of</a:t>
            </a:r>
            <a:r>
              <a:rPr lang="sv-SE" dirty="0"/>
              <a:t> </a:t>
            </a:r>
            <a:r>
              <a:rPr lang="sv-SE" dirty="0" err="1"/>
              <a:t>analysis</a:t>
            </a:r>
            <a:r>
              <a:rPr lang="sv-SE" dirty="0"/>
              <a:t>: </a:t>
            </a:r>
          </a:p>
          <a:p>
            <a:endParaRPr lang="sv-SE" dirty="0"/>
          </a:p>
          <a:p>
            <a:r>
              <a:rPr lang="sv-SE" dirty="0" err="1"/>
              <a:t>sensitivity</a:t>
            </a:r>
            <a:r>
              <a:rPr lang="sv-SE" dirty="0"/>
              <a:t> and </a:t>
            </a:r>
            <a:r>
              <a:rPr lang="sv-SE" dirty="0" err="1"/>
              <a:t>validation</a:t>
            </a:r>
            <a:r>
              <a:rPr lang="sv-SE" dirty="0"/>
              <a:t> </a:t>
            </a:r>
            <a:r>
              <a:rPr lang="sv-SE" dirty="0" err="1"/>
              <a:t>analysis</a:t>
            </a:r>
            <a:r>
              <a:rPr lang="sv-SE" dirty="0"/>
              <a:t>.</a:t>
            </a:r>
          </a:p>
        </p:txBody>
      </p:sp>
      <p:cxnSp>
        <p:nvCxnSpPr>
          <p:cNvPr id="26" name="Straight Arrow Connector 25">
            <a:extLst>
              <a:ext uri="{FF2B5EF4-FFF2-40B4-BE49-F238E27FC236}">
                <a16:creationId xmlns:a16="http://schemas.microsoft.com/office/drawing/2014/main" id="{2FC3DF38-3E62-43AC-BDEE-14D4998F7734}"/>
              </a:ext>
            </a:extLst>
          </p:cNvPr>
          <p:cNvCxnSpPr/>
          <p:nvPr/>
        </p:nvCxnSpPr>
        <p:spPr>
          <a:xfrm flipV="1">
            <a:off x="2181806"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2C28A09B-F748-4FB6-BB16-3721590BF760}"/>
              </a:ext>
            </a:extLst>
          </p:cNvPr>
          <p:cNvCxnSpPr/>
          <p:nvPr/>
        </p:nvCxnSpPr>
        <p:spPr>
          <a:xfrm flipV="1">
            <a:off x="3248606"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F66DD00-CA20-4729-81CF-347879D2AF85}"/>
              </a:ext>
            </a:extLst>
          </p:cNvPr>
          <p:cNvCxnSpPr/>
          <p:nvPr/>
        </p:nvCxnSpPr>
        <p:spPr>
          <a:xfrm flipV="1">
            <a:off x="1071463"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60699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593357"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a:t>
            </a:r>
          </a:p>
        </p:txBody>
      </p:sp>
      <p:sp>
        <p:nvSpPr>
          <p:cNvPr id="9" name="Rectangle 8">
            <a:extLst>
              <a:ext uri="{FF2B5EF4-FFF2-40B4-BE49-F238E27FC236}">
                <a16:creationId xmlns:a16="http://schemas.microsoft.com/office/drawing/2014/main" id="{C45138C1-8B11-4FBE-862C-50D47BA7B85A}"/>
              </a:ext>
            </a:extLst>
          </p:cNvPr>
          <p:cNvSpPr/>
          <p:nvPr/>
        </p:nvSpPr>
        <p:spPr>
          <a:xfrm>
            <a:off x="593356"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593356" y="246172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7DCA8B9A-B964-449F-959C-2CE5CC9F487D}"/>
              </a:ext>
            </a:extLst>
          </p:cNvPr>
          <p:cNvSpPr/>
          <p:nvPr/>
        </p:nvSpPr>
        <p:spPr>
          <a:xfrm>
            <a:off x="4874422" y="2461720"/>
            <a:ext cx="2235200"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Results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7632F341-B7E7-46C2-A810-EDE568AFFDFB}"/>
              </a:ext>
            </a:extLst>
          </p:cNvPr>
          <p:cNvSpPr/>
          <p:nvPr/>
        </p:nvSpPr>
        <p:spPr>
          <a:xfrm>
            <a:off x="593355" y="333511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593355" y="493486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593355" y="4216317"/>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914444"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B16B8E-5BD0-4DE5-B0C2-D60E2CD07461}"/>
              </a:ext>
            </a:extLst>
          </p:cNvPr>
          <p:cNvCxnSpPr/>
          <p:nvPr/>
        </p:nvCxnSpPr>
        <p:spPr>
          <a:xfrm>
            <a:off x="4281714" y="2649496"/>
            <a:ext cx="435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ABB3EFE-9A3C-434D-A264-34F57E97F1B9}"/>
              </a:ext>
            </a:extLst>
          </p:cNvPr>
          <p:cNvCxnSpPr/>
          <p:nvPr/>
        </p:nvCxnSpPr>
        <p:spPr>
          <a:xfrm>
            <a:off x="5992022" y="3185431"/>
            <a:ext cx="0" cy="2124983"/>
          </a:xfrm>
          <a:prstGeom prst="straightConnector1">
            <a:avLst/>
          </a:prstGeom>
          <a:ln w="28575">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187D4E2-D4D5-4F83-A1AB-7105699F0030}"/>
              </a:ext>
            </a:extLst>
          </p:cNvPr>
          <p:cNvCxnSpPr/>
          <p:nvPr/>
        </p:nvCxnSpPr>
        <p:spPr>
          <a:xfrm>
            <a:off x="1422400" y="1835602"/>
            <a:ext cx="0" cy="49348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92C3A6D-618D-489E-B2BD-377B208CAA7E}"/>
              </a:ext>
            </a:extLst>
          </p:cNvPr>
          <p:cNvCxnSpPr/>
          <p:nvPr/>
        </p:nvCxnSpPr>
        <p:spPr>
          <a:xfrm flipV="1">
            <a:off x="2176278"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4761FE15-66D1-4C95-8953-CEF236ADFAB1}"/>
              </a:ext>
            </a:extLst>
          </p:cNvPr>
          <p:cNvCxnSpPr/>
          <p:nvPr/>
        </p:nvCxnSpPr>
        <p:spPr>
          <a:xfrm flipV="1">
            <a:off x="3243078"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9AF07267-B5D4-4FA7-B4BE-E4DEF3D98268}"/>
              </a:ext>
            </a:extLst>
          </p:cNvPr>
          <p:cNvCxnSpPr/>
          <p:nvPr/>
        </p:nvCxnSpPr>
        <p:spPr>
          <a:xfrm flipV="1">
            <a:off x="1065935"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FC8F6E16-934B-4F8A-85B8-C810C2C98024}"/>
              </a:ext>
            </a:extLst>
          </p:cNvPr>
          <p:cNvSpPr/>
          <p:nvPr/>
        </p:nvSpPr>
        <p:spPr>
          <a:xfrm>
            <a:off x="7298175" y="1418377"/>
            <a:ext cx="4719220" cy="452431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a:highlight>
                  <a:srgbClr val="FFFF00"/>
                </a:highlight>
              </a:rPr>
              <a:t>Sensitivity analysis</a:t>
            </a:r>
          </a:p>
          <a:p>
            <a:r>
              <a:rPr lang="en-US" dirty="0"/>
              <a:t>How sensitive is your model to the modification of certain parameter values?</a:t>
            </a:r>
          </a:p>
          <a:p>
            <a:r>
              <a:rPr lang="en-US" dirty="0"/>
              <a:t>Take as a reference as a baseline, the macro outcome of interest</a:t>
            </a:r>
          </a:p>
          <a:p>
            <a:r>
              <a:rPr lang="en-US" dirty="0"/>
              <a:t>Different distribution for some random variables</a:t>
            </a:r>
          </a:p>
          <a:p>
            <a:endParaRPr lang="en-US" dirty="0"/>
          </a:p>
          <a:p>
            <a:r>
              <a:rPr lang="en-US" b="1" dirty="0"/>
              <a:t>Local sensitive analysis:</a:t>
            </a:r>
          </a:p>
          <a:p>
            <a:r>
              <a:rPr lang="en-US" dirty="0"/>
              <a:t>+/- 5% for each parameter. Parameter by parameter</a:t>
            </a:r>
          </a:p>
          <a:p>
            <a:endParaRPr lang="en-US" dirty="0"/>
          </a:p>
          <a:p>
            <a:r>
              <a:rPr lang="en-US" b="1" dirty="0"/>
              <a:t>Global sensitive analysis </a:t>
            </a:r>
            <a:r>
              <a:rPr lang="en-US" dirty="0"/>
              <a:t>(testing all possible combination of parameters)</a:t>
            </a:r>
          </a:p>
          <a:p>
            <a:r>
              <a:rPr lang="en-US" dirty="0"/>
              <a:t>Problem: five parameters with 10 values each = 100 000 simulations X 50 realizations each = 5 millions</a:t>
            </a:r>
            <a:endParaRPr lang="sv-SE" dirty="0"/>
          </a:p>
        </p:txBody>
      </p:sp>
      <p:cxnSp>
        <p:nvCxnSpPr>
          <p:cNvPr id="26" name="Straight Arrow Connector 25">
            <a:extLst>
              <a:ext uri="{FF2B5EF4-FFF2-40B4-BE49-F238E27FC236}">
                <a16:creationId xmlns:a16="http://schemas.microsoft.com/office/drawing/2014/main" id="{2FC3DF38-3E62-43AC-BDEE-14D4998F7734}"/>
              </a:ext>
            </a:extLst>
          </p:cNvPr>
          <p:cNvCxnSpPr/>
          <p:nvPr/>
        </p:nvCxnSpPr>
        <p:spPr>
          <a:xfrm flipV="1">
            <a:off x="2167291"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2C28A09B-F748-4FB6-BB16-3721590BF760}"/>
              </a:ext>
            </a:extLst>
          </p:cNvPr>
          <p:cNvCxnSpPr/>
          <p:nvPr/>
        </p:nvCxnSpPr>
        <p:spPr>
          <a:xfrm flipV="1">
            <a:off x="3234091"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F66DD00-CA20-4729-81CF-347879D2AF85}"/>
              </a:ext>
            </a:extLst>
          </p:cNvPr>
          <p:cNvCxnSpPr/>
          <p:nvPr/>
        </p:nvCxnSpPr>
        <p:spPr>
          <a:xfrm flipV="1">
            <a:off x="1056948"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93239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51414"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a:t>
            </a:r>
          </a:p>
        </p:txBody>
      </p:sp>
      <p:sp>
        <p:nvSpPr>
          <p:cNvPr id="9" name="Rectangle 8">
            <a:extLst>
              <a:ext uri="{FF2B5EF4-FFF2-40B4-BE49-F238E27FC236}">
                <a16:creationId xmlns:a16="http://schemas.microsoft.com/office/drawing/2014/main" id="{C45138C1-8B11-4FBE-862C-50D47BA7B85A}"/>
              </a:ext>
            </a:extLst>
          </p:cNvPr>
          <p:cNvSpPr/>
          <p:nvPr/>
        </p:nvSpPr>
        <p:spPr>
          <a:xfrm>
            <a:off x="651413"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51413" y="246172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7DCA8B9A-B964-449F-959C-2CE5CC9F487D}"/>
              </a:ext>
            </a:extLst>
          </p:cNvPr>
          <p:cNvSpPr/>
          <p:nvPr/>
        </p:nvSpPr>
        <p:spPr>
          <a:xfrm>
            <a:off x="4932479" y="2461720"/>
            <a:ext cx="2235200"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Results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7632F341-B7E7-46C2-A810-EDE568AFFDFB}"/>
              </a:ext>
            </a:extLst>
          </p:cNvPr>
          <p:cNvSpPr/>
          <p:nvPr/>
        </p:nvSpPr>
        <p:spPr>
          <a:xfrm>
            <a:off x="651412" y="333511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651412" y="493486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651412" y="4216317"/>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56387"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B16B8E-5BD0-4DE5-B0C2-D60E2CD07461}"/>
              </a:ext>
            </a:extLst>
          </p:cNvPr>
          <p:cNvCxnSpPr/>
          <p:nvPr/>
        </p:nvCxnSpPr>
        <p:spPr>
          <a:xfrm>
            <a:off x="4339771" y="2649496"/>
            <a:ext cx="435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ABB3EFE-9A3C-434D-A264-34F57E97F1B9}"/>
              </a:ext>
            </a:extLst>
          </p:cNvPr>
          <p:cNvCxnSpPr/>
          <p:nvPr/>
        </p:nvCxnSpPr>
        <p:spPr>
          <a:xfrm>
            <a:off x="6050079" y="3185431"/>
            <a:ext cx="0" cy="2124983"/>
          </a:xfrm>
          <a:prstGeom prst="straightConnector1">
            <a:avLst/>
          </a:prstGeom>
          <a:ln w="28575">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187D4E2-D4D5-4F83-A1AB-7105699F0030}"/>
              </a:ext>
            </a:extLst>
          </p:cNvPr>
          <p:cNvCxnSpPr/>
          <p:nvPr/>
        </p:nvCxnSpPr>
        <p:spPr>
          <a:xfrm>
            <a:off x="1480457" y="1835602"/>
            <a:ext cx="0" cy="49348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92C3A6D-618D-489E-B2BD-377B208CAA7E}"/>
              </a:ext>
            </a:extLst>
          </p:cNvPr>
          <p:cNvCxnSpPr/>
          <p:nvPr/>
        </p:nvCxnSpPr>
        <p:spPr>
          <a:xfrm flipV="1">
            <a:off x="2234335"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4761FE15-66D1-4C95-8953-CEF236ADFAB1}"/>
              </a:ext>
            </a:extLst>
          </p:cNvPr>
          <p:cNvCxnSpPr/>
          <p:nvPr/>
        </p:nvCxnSpPr>
        <p:spPr>
          <a:xfrm flipV="1">
            <a:off x="3301135"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9AF07267-B5D4-4FA7-B4BE-E4DEF3D98268}"/>
              </a:ext>
            </a:extLst>
          </p:cNvPr>
          <p:cNvCxnSpPr/>
          <p:nvPr/>
        </p:nvCxnSpPr>
        <p:spPr>
          <a:xfrm flipV="1">
            <a:off x="1123992"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FC8F6E16-934B-4F8A-85B8-C810C2C98024}"/>
              </a:ext>
            </a:extLst>
          </p:cNvPr>
          <p:cNvSpPr/>
          <p:nvPr/>
        </p:nvSpPr>
        <p:spPr>
          <a:xfrm>
            <a:off x="7992614" y="1208516"/>
            <a:ext cx="3749430" cy="369331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a:highlight>
                  <a:srgbClr val="FFFF00"/>
                </a:highlight>
              </a:rPr>
              <a:t>Model external validation: </a:t>
            </a:r>
          </a:p>
          <a:p>
            <a:endParaRPr lang="en-US" b="1" dirty="0"/>
          </a:p>
          <a:p>
            <a:r>
              <a:rPr lang="en-US" dirty="0"/>
              <a:t>Our model is a good/reasonable/ representation of the world?</a:t>
            </a:r>
          </a:p>
          <a:p>
            <a:endParaRPr lang="en-US" dirty="0"/>
          </a:p>
          <a:p>
            <a:r>
              <a:rPr lang="en-US" dirty="0"/>
              <a:t>It is important when the goal is to explain/answering real-world questions:</a:t>
            </a:r>
          </a:p>
          <a:p>
            <a:endParaRPr lang="en-US" dirty="0"/>
          </a:p>
          <a:p>
            <a:r>
              <a:rPr lang="en-US" dirty="0"/>
              <a:t>Why validate? </a:t>
            </a:r>
          </a:p>
          <a:p>
            <a:r>
              <a:rPr lang="en-US" dirty="0"/>
              <a:t>To the extent that a model has been validated, insights from the model are </a:t>
            </a:r>
            <a:r>
              <a:rPr lang="en-US" b="1" dirty="0"/>
              <a:t>transferable </a:t>
            </a:r>
            <a:r>
              <a:rPr lang="en-US" dirty="0"/>
              <a:t>to real-world systems.</a:t>
            </a:r>
            <a:endParaRPr lang="sv-SE" dirty="0"/>
          </a:p>
        </p:txBody>
      </p:sp>
      <p:cxnSp>
        <p:nvCxnSpPr>
          <p:cNvPr id="26" name="Straight Arrow Connector 25">
            <a:extLst>
              <a:ext uri="{FF2B5EF4-FFF2-40B4-BE49-F238E27FC236}">
                <a16:creationId xmlns:a16="http://schemas.microsoft.com/office/drawing/2014/main" id="{2FC3DF38-3E62-43AC-BDEE-14D4998F7734}"/>
              </a:ext>
            </a:extLst>
          </p:cNvPr>
          <p:cNvCxnSpPr/>
          <p:nvPr/>
        </p:nvCxnSpPr>
        <p:spPr>
          <a:xfrm flipV="1">
            <a:off x="2225348"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2C28A09B-F748-4FB6-BB16-3721590BF760}"/>
              </a:ext>
            </a:extLst>
          </p:cNvPr>
          <p:cNvCxnSpPr/>
          <p:nvPr/>
        </p:nvCxnSpPr>
        <p:spPr>
          <a:xfrm flipV="1">
            <a:off x="3292148"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F66DD00-CA20-4729-81CF-347879D2AF85}"/>
              </a:ext>
            </a:extLst>
          </p:cNvPr>
          <p:cNvCxnSpPr/>
          <p:nvPr/>
        </p:nvCxnSpPr>
        <p:spPr>
          <a:xfrm flipV="1">
            <a:off x="1115005"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31032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51414"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a:t>
            </a:r>
          </a:p>
        </p:txBody>
      </p:sp>
      <p:sp>
        <p:nvSpPr>
          <p:cNvPr id="9" name="Rectangle 8">
            <a:extLst>
              <a:ext uri="{FF2B5EF4-FFF2-40B4-BE49-F238E27FC236}">
                <a16:creationId xmlns:a16="http://schemas.microsoft.com/office/drawing/2014/main" id="{C45138C1-8B11-4FBE-862C-50D47BA7B85A}"/>
              </a:ext>
            </a:extLst>
          </p:cNvPr>
          <p:cNvSpPr/>
          <p:nvPr/>
        </p:nvSpPr>
        <p:spPr>
          <a:xfrm>
            <a:off x="651413"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51413" y="246172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7DCA8B9A-B964-449F-959C-2CE5CC9F487D}"/>
              </a:ext>
            </a:extLst>
          </p:cNvPr>
          <p:cNvSpPr/>
          <p:nvPr/>
        </p:nvSpPr>
        <p:spPr>
          <a:xfrm>
            <a:off x="4932479" y="2461720"/>
            <a:ext cx="2235200"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Results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7632F341-B7E7-46C2-A810-EDE568AFFDFB}"/>
              </a:ext>
            </a:extLst>
          </p:cNvPr>
          <p:cNvSpPr/>
          <p:nvPr/>
        </p:nvSpPr>
        <p:spPr>
          <a:xfrm>
            <a:off x="651412" y="333511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651412" y="493486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651412" y="4216317"/>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56387"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B16B8E-5BD0-4DE5-B0C2-D60E2CD07461}"/>
              </a:ext>
            </a:extLst>
          </p:cNvPr>
          <p:cNvCxnSpPr/>
          <p:nvPr/>
        </p:nvCxnSpPr>
        <p:spPr>
          <a:xfrm>
            <a:off x="4339771" y="2649496"/>
            <a:ext cx="435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ABB3EFE-9A3C-434D-A264-34F57E97F1B9}"/>
              </a:ext>
            </a:extLst>
          </p:cNvPr>
          <p:cNvCxnSpPr/>
          <p:nvPr/>
        </p:nvCxnSpPr>
        <p:spPr>
          <a:xfrm>
            <a:off x="6050079" y="3185431"/>
            <a:ext cx="0" cy="2124983"/>
          </a:xfrm>
          <a:prstGeom prst="straightConnector1">
            <a:avLst/>
          </a:prstGeom>
          <a:ln w="28575">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187D4E2-D4D5-4F83-A1AB-7105699F0030}"/>
              </a:ext>
            </a:extLst>
          </p:cNvPr>
          <p:cNvCxnSpPr/>
          <p:nvPr/>
        </p:nvCxnSpPr>
        <p:spPr>
          <a:xfrm>
            <a:off x="1480457" y="1835602"/>
            <a:ext cx="0" cy="49348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92C3A6D-618D-489E-B2BD-377B208CAA7E}"/>
              </a:ext>
            </a:extLst>
          </p:cNvPr>
          <p:cNvCxnSpPr/>
          <p:nvPr/>
        </p:nvCxnSpPr>
        <p:spPr>
          <a:xfrm flipV="1">
            <a:off x="2234335"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4761FE15-66D1-4C95-8953-CEF236ADFAB1}"/>
              </a:ext>
            </a:extLst>
          </p:cNvPr>
          <p:cNvCxnSpPr/>
          <p:nvPr/>
        </p:nvCxnSpPr>
        <p:spPr>
          <a:xfrm flipV="1">
            <a:off x="3301135"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9AF07267-B5D4-4FA7-B4BE-E4DEF3D98268}"/>
              </a:ext>
            </a:extLst>
          </p:cNvPr>
          <p:cNvCxnSpPr/>
          <p:nvPr/>
        </p:nvCxnSpPr>
        <p:spPr>
          <a:xfrm flipV="1">
            <a:off x="1123992"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FC3DF38-3E62-43AC-BDEE-14D4998F7734}"/>
              </a:ext>
            </a:extLst>
          </p:cNvPr>
          <p:cNvCxnSpPr/>
          <p:nvPr/>
        </p:nvCxnSpPr>
        <p:spPr>
          <a:xfrm flipV="1">
            <a:off x="2225348"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2C28A09B-F748-4FB6-BB16-3721590BF760}"/>
              </a:ext>
            </a:extLst>
          </p:cNvPr>
          <p:cNvCxnSpPr/>
          <p:nvPr/>
        </p:nvCxnSpPr>
        <p:spPr>
          <a:xfrm flipV="1">
            <a:off x="3292148"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F66DD00-CA20-4729-81CF-347879D2AF85}"/>
              </a:ext>
            </a:extLst>
          </p:cNvPr>
          <p:cNvCxnSpPr/>
          <p:nvPr/>
        </p:nvCxnSpPr>
        <p:spPr>
          <a:xfrm flipV="1">
            <a:off x="1115005"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FAAAB38E-3A4E-4D97-8949-0A00D00E587A}"/>
              </a:ext>
            </a:extLst>
          </p:cNvPr>
          <p:cNvSpPr/>
          <p:nvPr/>
        </p:nvSpPr>
        <p:spPr>
          <a:xfrm>
            <a:off x="7633809" y="1034757"/>
            <a:ext cx="4147742" cy="424731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a:t>Philosophical Issues with validation:</a:t>
            </a:r>
          </a:p>
          <a:p>
            <a:endParaRPr lang="en-US" b="1" dirty="0"/>
          </a:p>
          <a:p>
            <a:r>
              <a:rPr lang="en-US" dirty="0"/>
              <a:t>How do we know the model takes into account all the relevant elements in the real world?</a:t>
            </a:r>
          </a:p>
          <a:p>
            <a:endParaRPr lang="en-US" dirty="0"/>
          </a:p>
          <a:p>
            <a:r>
              <a:rPr lang="en-US" dirty="0"/>
              <a:t>Is it possible to know all the elements?</a:t>
            </a:r>
          </a:p>
          <a:p>
            <a:endParaRPr lang="en-US" dirty="0"/>
          </a:p>
          <a:p>
            <a:r>
              <a:rPr lang="en-US" dirty="0"/>
              <a:t>Even if we knew all the relevant elements, we want to include them all in the model (much more realism) or we want to include only some of them in order to have a more tractable model.</a:t>
            </a:r>
          </a:p>
          <a:p>
            <a:endParaRPr lang="en-US" dirty="0"/>
          </a:p>
          <a:p>
            <a:r>
              <a:rPr lang="en-US" dirty="0"/>
              <a:t>Different models produce same patterns</a:t>
            </a:r>
          </a:p>
        </p:txBody>
      </p:sp>
    </p:spTree>
    <p:extLst>
      <p:ext uri="{BB962C8B-B14F-4D97-AF65-F5344CB8AC3E}">
        <p14:creationId xmlns:p14="http://schemas.microsoft.com/office/powerpoint/2010/main" val="2141911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8186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3000" dirty="0">
                <a:solidFill>
                  <a:schemeClr val="bg1"/>
                </a:solidFill>
              </a:rPr>
              <a:t>ABM with NetLogo</a:t>
            </a:r>
          </a:p>
        </p:txBody>
      </p:sp>
      <p:sp>
        <p:nvSpPr>
          <p:cNvPr id="16" name="Rectangle 15"/>
          <p:cNvSpPr/>
          <p:nvPr/>
        </p:nvSpPr>
        <p:spPr>
          <a:xfrm>
            <a:off x="0" y="6574970"/>
            <a:ext cx="12192000" cy="2830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solidFill>
                  <a:schemeClr val="bg1"/>
                </a:solidFill>
              </a:rPr>
              <a:t>								Agent-Based Modelling in the Social Sciences</a:t>
            </a:r>
          </a:p>
        </p:txBody>
      </p:sp>
      <p:sp>
        <p:nvSpPr>
          <p:cNvPr id="2" name="Rectangle 1">
            <a:extLst>
              <a:ext uri="{FF2B5EF4-FFF2-40B4-BE49-F238E27FC236}">
                <a16:creationId xmlns:a16="http://schemas.microsoft.com/office/drawing/2014/main" id="{3B0C34AB-660F-45C1-85C9-50C4CFD1B11A}"/>
              </a:ext>
            </a:extLst>
          </p:cNvPr>
          <p:cNvSpPr/>
          <p:nvPr/>
        </p:nvSpPr>
        <p:spPr>
          <a:xfrm>
            <a:off x="651414" y="5715454"/>
            <a:ext cx="6516266"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REALITY</a:t>
            </a:r>
          </a:p>
        </p:txBody>
      </p:sp>
      <p:sp>
        <p:nvSpPr>
          <p:cNvPr id="9" name="Rectangle 8">
            <a:extLst>
              <a:ext uri="{FF2B5EF4-FFF2-40B4-BE49-F238E27FC236}">
                <a16:creationId xmlns:a16="http://schemas.microsoft.com/office/drawing/2014/main" id="{C45138C1-8B11-4FBE-862C-50D47BA7B85A}"/>
              </a:ext>
            </a:extLst>
          </p:cNvPr>
          <p:cNvSpPr/>
          <p:nvPr/>
        </p:nvSpPr>
        <p:spPr>
          <a:xfrm>
            <a:off x="651413" y="130257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Theoretical</a:t>
            </a:r>
            <a:r>
              <a:rPr lang="sv-SE" dirty="0">
                <a:latin typeface="Calibri" panose="020F0502020204030204" pitchFamily="34" charset="0"/>
                <a:ea typeface="Calibri" panose="020F0502020204030204" pitchFamily="34" charset="0"/>
                <a:cs typeface="Times New Roman" panose="02020603050405020304" pitchFamily="18" charset="0"/>
              </a:rPr>
              <a:t>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80547610-17BB-492D-8D55-3943F37C197D}"/>
              </a:ext>
            </a:extLst>
          </p:cNvPr>
          <p:cNvSpPr/>
          <p:nvPr/>
        </p:nvSpPr>
        <p:spPr>
          <a:xfrm>
            <a:off x="651413" y="2461720"/>
            <a:ext cx="3456131"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ABM </a:t>
            </a:r>
            <a:r>
              <a:rPr lang="sv-SE" dirty="0" err="1">
                <a:latin typeface="Calibri" panose="020F0502020204030204" pitchFamily="34" charset="0"/>
                <a:ea typeface="Calibri" panose="020F0502020204030204" pitchFamily="34" charset="0"/>
                <a:cs typeface="Times New Roman" panose="02020603050405020304" pitchFamily="18" charset="0"/>
              </a:rPr>
              <a:t>Model</a:t>
            </a:r>
            <a:r>
              <a:rPr lang="sv-SE" dirty="0">
                <a:latin typeface="Calibri" panose="020F0502020204030204" pitchFamily="34" charset="0"/>
                <a:ea typeface="Calibri" panose="020F0502020204030204" pitchFamily="34" charset="0"/>
                <a:cs typeface="Times New Roman" panose="02020603050405020304" pitchFamily="18" charset="0"/>
              </a:rPr>
              <a:t> </a:t>
            </a:r>
          </a:p>
        </p:txBody>
      </p:sp>
      <p:sp>
        <p:nvSpPr>
          <p:cNvPr id="12" name="Rectangle 11">
            <a:extLst>
              <a:ext uri="{FF2B5EF4-FFF2-40B4-BE49-F238E27FC236}">
                <a16:creationId xmlns:a16="http://schemas.microsoft.com/office/drawing/2014/main" id="{7DCA8B9A-B964-449F-959C-2CE5CC9F487D}"/>
              </a:ext>
            </a:extLst>
          </p:cNvPr>
          <p:cNvSpPr/>
          <p:nvPr/>
        </p:nvSpPr>
        <p:spPr>
          <a:xfrm>
            <a:off x="4932479" y="2461720"/>
            <a:ext cx="2235200"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Results</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7632F341-B7E7-46C2-A810-EDE568AFFDFB}"/>
              </a:ext>
            </a:extLst>
          </p:cNvPr>
          <p:cNvSpPr/>
          <p:nvPr/>
        </p:nvSpPr>
        <p:spPr>
          <a:xfrm>
            <a:off x="651412" y="333511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parameters</a:t>
            </a:r>
          </a:p>
        </p:txBody>
      </p:sp>
      <p:sp>
        <p:nvSpPr>
          <p:cNvPr id="18" name="Rectangle 17">
            <a:extLst>
              <a:ext uri="{FF2B5EF4-FFF2-40B4-BE49-F238E27FC236}">
                <a16:creationId xmlns:a16="http://schemas.microsoft.com/office/drawing/2014/main" id="{95238F08-5F67-441E-90B9-3FA40FE0C2E5}"/>
              </a:ext>
            </a:extLst>
          </p:cNvPr>
          <p:cNvSpPr/>
          <p:nvPr/>
        </p:nvSpPr>
        <p:spPr>
          <a:xfrm>
            <a:off x="651412" y="4934862"/>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a:latin typeface="Calibri" panose="020F0502020204030204" pitchFamily="34" charset="0"/>
                <a:ea typeface="Calibri" panose="020F0502020204030204" pitchFamily="34" charset="0"/>
                <a:cs typeface="Times New Roman" panose="02020603050405020304" pitchFamily="18" charset="0"/>
              </a:rPr>
              <a:t>DATA  - THEORY</a:t>
            </a:r>
          </a:p>
        </p:txBody>
      </p:sp>
      <p:sp>
        <p:nvSpPr>
          <p:cNvPr id="19" name="Rectangle 18">
            <a:extLst>
              <a:ext uri="{FF2B5EF4-FFF2-40B4-BE49-F238E27FC236}">
                <a16:creationId xmlns:a16="http://schemas.microsoft.com/office/drawing/2014/main" id="{EAE68038-D734-4EC6-A801-05B86D804BBD}"/>
              </a:ext>
            </a:extLst>
          </p:cNvPr>
          <p:cNvSpPr/>
          <p:nvPr/>
        </p:nvSpPr>
        <p:spPr>
          <a:xfrm>
            <a:off x="651412" y="4216317"/>
            <a:ext cx="3456132" cy="3755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07000"/>
              </a:lnSpc>
              <a:spcAft>
                <a:spcPts val="800"/>
              </a:spcAft>
            </a:pPr>
            <a:r>
              <a:rPr lang="sv-SE" dirty="0" err="1">
                <a:latin typeface="Calibri" panose="020F0502020204030204" pitchFamily="34" charset="0"/>
                <a:ea typeface="Calibri" panose="020F0502020204030204" pitchFamily="34" charset="0"/>
                <a:cs typeface="Times New Roman" panose="02020603050405020304" pitchFamily="18" charset="0"/>
              </a:rPr>
              <a:t>Structure</a:t>
            </a:r>
            <a:r>
              <a:rPr lang="sv-SE" dirty="0">
                <a:latin typeface="Calibri" panose="020F0502020204030204" pitchFamily="34" charset="0"/>
                <a:ea typeface="Calibri" panose="020F0502020204030204" pitchFamily="34" charset="0"/>
                <a:cs typeface="Times New Roman" panose="02020603050405020304" pitchFamily="18" charset="0"/>
              </a:rPr>
              <a:t> – Components - </a:t>
            </a:r>
            <a:r>
              <a:rPr lang="sv-SE" dirty="0" err="1">
                <a:latin typeface="Calibri" panose="020F0502020204030204" pitchFamily="34" charset="0"/>
                <a:ea typeface="Calibri" panose="020F0502020204030204" pitchFamily="34" charset="0"/>
                <a:cs typeface="Times New Roman" panose="02020603050405020304" pitchFamily="18" charset="0"/>
              </a:rPr>
              <a:t>Behavior</a:t>
            </a:r>
            <a:endParaRPr lang="sv-SE"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4" name="Connector: Elbow 3">
            <a:extLst>
              <a:ext uri="{FF2B5EF4-FFF2-40B4-BE49-F238E27FC236}">
                <a16:creationId xmlns:a16="http://schemas.microsoft.com/office/drawing/2014/main" id="{530F78E5-20D0-4531-9640-9D4F062A8890}"/>
              </a:ext>
            </a:extLst>
          </p:cNvPr>
          <p:cNvCxnSpPr>
            <a:cxnSpLocks/>
          </p:cNvCxnSpPr>
          <p:nvPr/>
        </p:nvCxnSpPr>
        <p:spPr>
          <a:xfrm rot="5400000" flipH="1" flipV="1">
            <a:off x="-1856387" y="3596901"/>
            <a:ext cx="4412884" cy="199775"/>
          </a:xfrm>
          <a:prstGeom prst="bentConnector3">
            <a:avLst>
              <a:gd name="adj1" fmla="val 99994"/>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B16B8E-5BD0-4DE5-B0C2-D60E2CD07461}"/>
              </a:ext>
            </a:extLst>
          </p:cNvPr>
          <p:cNvCxnSpPr/>
          <p:nvPr/>
        </p:nvCxnSpPr>
        <p:spPr>
          <a:xfrm>
            <a:off x="4339771" y="2649496"/>
            <a:ext cx="435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ABB3EFE-9A3C-434D-A264-34F57E97F1B9}"/>
              </a:ext>
            </a:extLst>
          </p:cNvPr>
          <p:cNvCxnSpPr/>
          <p:nvPr/>
        </p:nvCxnSpPr>
        <p:spPr>
          <a:xfrm>
            <a:off x="6050079" y="3185431"/>
            <a:ext cx="0" cy="2124983"/>
          </a:xfrm>
          <a:prstGeom prst="straightConnector1">
            <a:avLst/>
          </a:prstGeom>
          <a:ln w="28575">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187D4E2-D4D5-4F83-A1AB-7105699F0030}"/>
              </a:ext>
            </a:extLst>
          </p:cNvPr>
          <p:cNvCxnSpPr/>
          <p:nvPr/>
        </p:nvCxnSpPr>
        <p:spPr>
          <a:xfrm>
            <a:off x="1480457" y="1835602"/>
            <a:ext cx="0" cy="493486"/>
          </a:xfrm>
          <a:prstGeom prst="straightConnector1">
            <a:avLst/>
          </a:prstGeom>
          <a:ln w="57150">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92C3A6D-618D-489E-B2BD-377B208CAA7E}"/>
              </a:ext>
            </a:extLst>
          </p:cNvPr>
          <p:cNvCxnSpPr/>
          <p:nvPr/>
        </p:nvCxnSpPr>
        <p:spPr>
          <a:xfrm flipV="1">
            <a:off x="2234335"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4761FE15-66D1-4C95-8953-CEF236ADFAB1}"/>
              </a:ext>
            </a:extLst>
          </p:cNvPr>
          <p:cNvCxnSpPr/>
          <p:nvPr/>
        </p:nvCxnSpPr>
        <p:spPr>
          <a:xfrm flipV="1">
            <a:off x="3301135"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9AF07267-B5D4-4FA7-B4BE-E4DEF3D98268}"/>
              </a:ext>
            </a:extLst>
          </p:cNvPr>
          <p:cNvCxnSpPr/>
          <p:nvPr/>
        </p:nvCxnSpPr>
        <p:spPr>
          <a:xfrm flipV="1">
            <a:off x="1123992" y="3803409"/>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FC3DF38-3E62-43AC-BDEE-14D4998F7734}"/>
              </a:ext>
            </a:extLst>
          </p:cNvPr>
          <p:cNvCxnSpPr/>
          <p:nvPr/>
        </p:nvCxnSpPr>
        <p:spPr>
          <a:xfrm flipV="1">
            <a:off x="2225348"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2C28A09B-F748-4FB6-BB16-3721590BF760}"/>
              </a:ext>
            </a:extLst>
          </p:cNvPr>
          <p:cNvCxnSpPr/>
          <p:nvPr/>
        </p:nvCxnSpPr>
        <p:spPr>
          <a:xfrm flipV="1">
            <a:off x="3292148"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F66DD00-CA20-4729-81CF-347879D2AF85}"/>
              </a:ext>
            </a:extLst>
          </p:cNvPr>
          <p:cNvCxnSpPr/>
          <p:nvPr/>
        </p:nvCxnSpPr>
        <p:spPr>
          <a:xfrm flipV="1">
            <a:off x="1115005" y="2924921"/>
            <a:ext cx="0" cy="260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FAAAB38E-3A4E-4D97-8949-0A00D00E587A}"/>
              </a:ext>
            </a:extLst>
          </p:cNvPr>
          <p:cNvSpPr/>
          <p:nvPr/>
        </p:nvSpPr>
        <p:spPr>
          <a:xfrm>
            <a:off x="7691866" y="972758"/>
            <a:ext cx="4147742"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a:highlight>
                  <a:srgbClr val="FFFF00"/>
                </a:highlight>
              </a:rPr>
              <a:t>Model verification (internal validation)</a:t>
            </a:r>
          </a:p>
          <a:p>
            <a:endParaRPr lang="en-US" b="1" dirty="0"/>
          </a:p>
          <a:p>
            <a:r>
              <a:rPr lang="en-US" dirty="0"/>
              <a:t>Does the implementation of the model correspond to the conceptual model?</a:t>
            </a:r>
          </a:p>
          <a:p>
            <a:r>
              <a:rPr lang="en-US" dirty="0"/>
              <a:t>Prints, prints and more prints</a:t>
            </a:r>
          </a:p>
        </p:txBody>
      </p:sp>
      <p:cxnSp>
        <p:nvCxnSpPr>
          <p:cNvPr id="31" name="Straight Arrow Connector 30">
            <a:extLst>
              <a:ext uri="{FF2B5EF4-FFF2-40B4-BE49-F238E27FC236}">
                <a16:creationId xmlns:a16="http://schemas.microsoft.com/office/drawing/2014/main" id="{7D6527D7-A9C8-4E35-9F96-B31289535DE5}"/>
              </a:ext>
            </a:extLst>
          </p:cNvPr>
          <p:cNvCxnSpPr/>
          <p:nvPr/>
        </p:nvCxnSpPr>
        <p:spPr>
          <a:xfrm>
            <a:off x="1995714" y="1835602"/>
            <a:ext cx="0" cy="493486"/>
          </a:xfrm>
          <a:prstGeom prst="straightConnector1">
            <a:avLst/>
          </a:prstGeom>
          <a:ln w="57150">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0B1A58E-F23F-4D94-B42D-F4F5FAE47C95}"/>
              </a:ext>
            </a:extLst>
          </p:cNvPr>
          <p:cNvCxnSpPr/>
          <p:nvPr/>
        </p:nvCxnSpPr>
        <p:spPr>
          <a:xfrm>
            <a:off x="2633478" y="1835602"/>
            <a:ext cx="0" cy="493486"/>
          </a:xfrm>
          <a:prstGeom prst="straightConnector1">
            <a:avLst/>
          </a:prstGeom>
          <a:ln w="57150">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ECBA1A74-84B5-4CC9-8F23-CF3C45EB419C}"/>
              </a:ext>
            </a:extLst>
          </p:cNvPr>
          <p:cNvCxnSpPr/>
          <p:nvPr/>
        </p:nvCxnSpPr>
        <p:spPr>
          <a:xfrm>
            <a:off x="3301135" y="1835602"/>
            <a:ext cx="0" cy="493486"/>
          </a:xfrm>
          <a:prstGeom prst="straightConnector1">
            <a:avLst/>
          </a:prstGeom>
          <a:ln w="57150">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151474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7BE0EE43B23043AFE79A610A7C27D2" ma:contentTypeVersion="5" ma:contentTypeDescription="Create a new document." ma:contentTypeScope="" ma:versionID="778329dbcf46a37d733c712f27d7b43b">
  <xsd:schema xmlns:xsd="http://www.w3.org/2001/XMLSchema" xmlns:xs="http://www.w3.org/2001/XMLSchema" xmlns:p="http://schemas.microsoft.com/office/2006/metadata/properties" xmlns:ns2="e45ff77a-a734-434e-b7dc-7ade962cb631" xmlns:ns3="2808f00f-3211-41a5-bfe5-d2c2468f696f" targetNamespace="http://schemas.microsoft.com/office/2006/metadata/properties" ma:root="true" ma:fieldsID="6127767fb6d362b6b9d04ae9972bdc25" ns2:_="" ns3:_="">
    <xsd:import namespace="e45ff77a-a734-434e-b7dc-7ade962cb631"/>
    <xsd:import namespace="2808f00f-3211-41a5-bfe5-d2c2468f696f"/>
    <xsd:element name="properties">
      <xsd:complexType>
        <xsd:sequence>
          <xsd:element name="documentManagement">
            <xsd:complexType>
              <xsd:all>
                <xsd:element ref="ns2:_lisam_Description" minOccurs="0"/>
                <xsd:element ref="ns3:_lisam_PublishedVersio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5ff77a-a734-434e-b7dc-7ade962cb631" elementFormDefault="qualified">
    <xsd:import namespace="http://schemas.microsoft.com/office/2006/documentManagement/types"/>
    <xsd:import namespace="http://schemas.microsoft.com/office/infopath/2007/PartnerControls"/>
    <xsd:element name="_lisam_Description" ma:index="8" nillable="true" ma:displayName="Description" ma:internalName="_lisam_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08f00f-3211-41a5-bfe5-d2c2468f696f" elementFormDefault="qualified">
    <xsd:import namespace="http://schemas.microsoft.com/office/2006/documentManagement/types"/>
    <xsd:import namespace="http://schemas.microsoft.com/office/infopath/2007/PartnerControls"/>
    <xsd:element name="_lisam_PublishedVersion" ma:index="9" nillable="true" ma:displayName="Published Version" ma:internalName="_lisam_PublishedVersion">
      <xsd:simpleType>
        <xsd:restriction base="dms:Text"/>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lisam_PublishedVersion xmlns="2808f00f-3211-41a5-bfe5-d2c2468f696f" xsi:nil="true"/>
    <_lisam_Description xmlns="e45ff77a-a734-434e-b7dc-7ade962cb631" xsi:nil="true"/>
  </documentManagement>
</p:properties>
</file>

<file path=customXml/itemProps1.xml><?xml version="1.0" encoding="utf-8"?>
<ds:datastoreItem xmlns:ds="http://schemas.openxmlformats.org/officeDocument/2006/customXml" ds:itemID="{0850EDB4-5B95-43CF-AACB-669D89DAB49F}"/>
</file>

<file path=customXml/itemProps2.xml><?xml version="1.0" encoding="utf-8"?>
<ds:datastoreItem xmlns:ds="http://schemas.openxmlformats.org/officeDocument/2006/customXml" ds:itemID="{B91CBAC6-1070-4686-BAEB-A85AC2B1585B}"/>
</file>

<file path=customXml/itemProps3.xml><?xml version="1.0" encoding="utf-8"?>
<ds:datastoreItem xmlns:ds="http://schemas.openxmlformats.org/officeDocument/2006/customXml" ds:itemID="{FBD34CE2-89F4-44B3-8487-764C2B722459}"/>
</file>

<file path=docProps/app.xml><?xml version="1.0" encoding="utf-8"?>
<Properties xmlns="http://schemas.openxmlformats.org/officeDocument/2006/extended-properties" xmlns:vt="http://schemas.openxmlformats.org/officeDocument/2006/docPropsVTypes">
  <TotalTime>13419</TotalTime>
  <Words>1401</Words>
  <Application>Microsoft Office PowerPoint</Application>
  <PresentationFormat>Widescreen</PresentationFormat>
  <Paragraphs>260</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Linköpings universitet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Eduardo Tapia</dc:creator>
  <cp:lastModifiedBy>Eduardo Tapia</cp:lastModifiedBy>
  <cp:revision>215</cp:revision>
  <dcterms:created xsi:type="dcterms:W3CDTF">2016-09-19T15:22:17Z</dcterms:created>
  <dcterms:modified xsi:type="dcterms:W3CDTF">2026-03-11T16:13:16Z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0x0101000B7BE0EE43B23043AFE79A610A7C27D2</vt:lpwstr>
  </property>
</Properties>
</file>