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257" r:id="rId3"/>
    <p:sldId id="302" r:id="rId4"/>
    <p:sldId id="304" r:id="rId5"/>
    <p:sldId id="326" r:id="rId6"/>
    <p:sldId id="273" r:id="rId7"/>
    <p:sldId id="305" r:id="rId8"/>
    <p:sldId id="306" r:id="rId9"/>
    <p:sldId id="307" r:id="rId10"/>
    <p:sldId id="308" r:id="rId11"/>
    <p:sldId id="275" r:id="rId12"/>
    <p:sldId id="300" r:id="rId13"/>
    <p:sldId id="320" r:id="rId14"/>
    <p:sldId id="301" r:id="rId15"/>
    <p:sldId id="310" r:id="rId16"/>
    <p:sldId id="309" r:id="rId17"/>
    <p:sldId id="331" r:id="rId18"/>
    <p:sldId id="322" r:id="rId19"/>
    <p:sldId id="296" r:id="rId20"/>
    <p:sldId id="321" r:id="rId21"/>
    <p:sldId id="297" r:id="rId22"/>
    <p:sldId id="328" r:id="rId23"/>
    <p:sldId id="327" r:id="rId24"/>
    <p:sldId id="329" r:id="rId25"/>
    <p:sldId id="288" r:id="rId26"/>
    <p:sldId id="312" r:id="rId27"/>
    <p:sldId id="333" r:id="rId28"/>
    <p:sldId id="332" r:id="rId29"/>
    <p:sldId id="334" r:id="rId30"/>
    <p:sldId id="324" r:id="rId31"/>
    <p:sldId id="277" r:id="rId32"/>
    <p:sldId id="293" r:id="rId33"/>
    <p:sldId id="316" r:id="rId34"/>
    <p:sldId id="281" r:id="rId35"/>
    <p:sldId id="282" r:id="rId36"/>
    <p:sldId id="318" r:id="rId37"/>
    <p:sldId id="319" r:id="rId38"/>
    <p:sldId id="284" r:id="rId39"/>
    <p:sldId id="317" r:id="rId40"/>
    <p:sldId id="283" r:id="rId41"/>
    <p:sldId id="285" r:id="rId42"/>
    <p:sldId id="286" r:id="rId43"/>
    <p:sldId id="335" r:id="rId44"/>
    <p:sldId id="287" r:id="rId4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2543-25AA-E78E-1304-A18FA4EE8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236B6-4363-D4BC-4FFE-71EE051CE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40E30-8672-F434-08B4-5C3CCE6A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7C0C3-CE42-4955-695A-2895F5A0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9788A-8B73-6B38-FE6A-224CD0E1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4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80A1-4570-5548-0831-D63E7DE9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283A-D7D1-2B6F-F1A5-4A2A04792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6354A-AF6C-D8F7-7D16-4B064E71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E6499-F76A-8DE6-8FFB-B06AC9635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7464E-20F2-2086-6F71-D80A8D90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4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47B5-A39B-1BC4-00B7-C1894A75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63378-D5E4-BC07-5917-C7A8F18AD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03D91-EC77-DB0D-A4C5-9489BB02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BC0D9-AABE-4561-6EAC-392AC17A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D472C-34CF-0174-AA3F-D124109B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8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7BBF-4555-BE8B-C01A-F557E06D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44F33-FFA4-71D7-71F1-4883BA47E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D8A19-45B3-0A68-7F7D-D275E3ACB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BCC67-E2F3-17BD-7A75-030DF326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343F4-DE0A-2705-BB8F-6892045F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FEC92-632F-7265-F907-FBFE99E7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2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87DC-F083-6F17-22CA-4A95919A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46ED-F376-FDE3-8C69-87AF48B4B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C692D-EEB5-CDEE-B217-84C91F3A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212C9C-60E9-A148-402B-7B62620A6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8ADF5-F35E-DE21-7A39-1DC07A129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7B6D2-EB46-2D36-24E0-2AC55488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E6EBB-E6E2-37C5-8575-3E46345FD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14EC8-07BE-8EA2-EAF2-467AAFC1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1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C7F2-9A01-00B3-8481-C5E002B3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E327C-8FBA-77B9-B185-E6AF910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EDFE2-FBAF-5891-AF1F-1BE301B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FAEB5-570A-FD78-F202-5CC06053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2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C09A5-3C34-EAAE-380F-267BBD62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8324A-958E-E742-9E3A-0E588938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B07D7-B810-BA89-447B-B4B6A48B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4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2DC7-856D-C156-1BBD-67D07EAF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8F90-94E9-0E04-0011-645007593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D4DFF-575E-3DEA-59AF-8CA2F259D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DAB8B-D5E0-BF5F-F4C0-8ABC24C7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B2276-00C9-B735-DA6E-EEA40F74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132E3-61A8-4006-F6F6-F7B201EA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3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EC1D-48CD-703F-22B5-0B44C8F2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D44FB-D9D6-65BA-A914-3DF64BCB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57DA2-56D5-E454-02BF-462A0E9A1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2A307-C8B2-6273-E39A-268036E9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B46EE-DE10-D0BE-E4EE-866C8BD7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807F2-8170-4BFE-CA54-994A5562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0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BE0F-C58A-3C71-3040-22430A64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7763B-9884-C702-74A1-DBE11C912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6A009-BF9E-BCDD-49B8-B7A197A38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29D20-03FE-C58B-33F6-B372FEC8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43157-E906-FAF8-44BB-F0D426E9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3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55A26-1314-AA2D-C2DA-313FA68D8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FC47A-EA72-C10C-C5F5-B6C70F536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794E0-C8C3-6DBE-5CD2-BF1EDAFD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27A85-5403-62C5-3940-BC4D7D32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49E64-6246-0960-BE9B-3897C7D0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8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326C6-7AA9-6E9A-C76A-7F726A3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511E0-7850-0391-F89B-DE7AB757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0D033-EE02-F8D5-8FA4-584EAA372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2F61E-2366-4460-A56E-7D803527DB9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1E7E-8ABA-130A-DD4C-1211B185B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1BF69-B90E-AE38-637A-1E8ABB057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EA3062-BFC3-4040-B4AA-C224983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8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sv-SE" sz="3500" dirty="0" err="1">
                <a:solidFill>
                  <a:schemeClr val="bg1"/>
                </a:solidFill>
              </a:rPr>
              <a:t>Today</a:t>
            </a:r>
            <a:r>
              <a:rPr lang="sv-SE" sz="3500" dirty="0">
                <a:solidFill>
                  <a:schemeClr val="bg1"/>
                </a:solidFill>
              </a:rPr>
              <a:t>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sv-SE" sz="3500">
                <a:solidFill>
                  <a:schemeClr val="bg1"/>
                </a:solidFill>
              </a:rPr>
              <a:t>ECABM</a:t>
            </a:r>
            <a:endParaRPr lang="sv-SE" sz="3500" dirty="0">
              <a:solidFill>
                <a:srgbClr val="FF0000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sv-SE" sz="3500" dirty="0">
                <a:solidFill>
                  <a:schemeClr val="bg1"/>
                </a:solidFill>
              </a:rPr>
              <a:t>Final </a:t>
            </a:r>
            <a:r>
              <a:rPr lang="sv-SE" sz="3500" dirty="0" err="1">
                <a:solidFill>
                  <a:schemeClr val="bg1"/>
                </a:solidFill>
              </a:rPr>
              <a:t>exam</a:t>
            </a:r>
            <a:r>
              <a:rPr lang="sv-SE" sz="3500" dirty="0">
                <a:solidFill>
                  <a:schemeClr val="bg1"/>
                </a:solidFill>
              </a:rPr>
              <a:t> </a:t>
            </a:r>
            <a:r>
              <a:rPr lang="sv-SE" sz="3500" dirty="0" err="1">
                <a:solidFill>
                  <a:schemeClr val="bg1"/>
                </a:solidFill>
              </a:rPr>
              <a:t>guidelines</a:t>
            </a:r>
            <a:endParaRPr lang="sv-SE" sz="3500" dirty="0">
              <a:solidFill>
                <a:schemeClr val="bg1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sv-SE" sz="3500" dirty="0" err="1">
                <a:solidFill>
                  <a:schemeClr val="bg1"/>
                </a:solidFill>
              </a:rPr>
              <a:t>Mock</a:t>
            </a:r>
            <a:r>
              <a:rPr lang="sv-SE" sz="3500" dirty="0">
                <a:solidFill>
                  <a:schemeClr val="bg1"/>
                </a:solidFill>
              </a:rPr>
              <a:t> </a:t>
            </a:r>
            <a:r>
              <a:rPr lang="sv-SE" sz="3500" dirty="0" err="1">
                <a:solidFill>
                  <a:schemeClr val="bg1"/>
                </a:solidFill>
              </a:rPr>
              <a:t>exam</a:t>
            </a:r>
            <a:endParaRPr lang="sv-SE" sz="3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70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6D12B1-EB8F-3EFB-1EC8-B69D07A347B1}"/>
              </a:ext>
            </a:extLst>
          </p:cNvPr>
          <p:cNvSpPr txBox="1"/>
          <p:nvPr/>
        </p:nvSpPr>
        <p:spPr>
          <a:xfrm>
            <a:off x="2570260" y="575332"/>
            <a:ext cx="67566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Simulation Models in the Social Sciences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77375-1E4B-0F2F-95A0-6540AECCB1F8}"/>
              </a:ext>
            </a:extLst>
          </p:cNvPr>
          <p:cNvSpPr txBox="1"/>
          <p:nvPr/>
        </p:nvSpPr>
        <p:spPr>
          <a:xfrm>
            <a:off x="892535" y="2590629"/>
            <a:ext cx="833893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outline of my talk:</a:t>
            </a:r>
          </a:p>
          <a:p>
            <a:pPr algn="l">
              <a:lnSpc>
                <a:spcPct val="200000"/>
              </a:lnSpc>
            </a:pP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1. Recap Agent-Based Modeling (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ABM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 in the Social Sciences</a:t>
            </a:r>
          </a:p>
          <a:p>
            <a:pPr algn="l">
              <a:lnSpc>
                <a:spcPct val="200000"/>
              </a:lnSpc>
            </a:pP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2. Empirically Calibrated Agent-Based Modeling (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ECABM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 in the Social Sciences</a:t>
            </a:r>
          </a:p>
          <a:p>
            <a:pPr algn="l">
              <a:lnSpc>
                <a:spcPct val="200000"/>
              </a:lnSpc>
            </a:pP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3. 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Application</a:t>
            </a:r>
            <a:r>
              <a:rPr lang="en-US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Schools' Priority Rules and Ethnic School Segregation</a:t>
            </a:r>
          </a:p>
        </p:txBody>
      </p:sp>
    </p:spTree>
    <p:extLst>
      <p:ext uri="{BB962C8B-B14F-4D97-AF65-F5344CB8AC3E}">
        <p14:creationId xmlns:p14="http://schemas.microsoft.com/office/powerpoint/2010/main" val="172078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CC5E62-FCFD-5C5D-DF75-ED092F29FC9B}"/>
              </a:ext>
            </a:extLst>
          </p:cNvPr>
          <p:cNvSpPr/>
          <p:nvPr/>
        </p:nvSpPr>
        <p:spPr>
          <a:xfrm>
            <a:off x="238538" y="413702"/>
            <a:ext cx="2130951" cy="16459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762798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04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4122905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AC0AEA8-0E88-3466-DCA0-18474D56DF2F}"/>
              </a:ext>
            </a:extLst>
          </p:cNvPr>
          <p:cNvSpPr txBox="1"/>
          <p:nvPr/>
        </p:nvSpPr>
        <p:spPr>
          <a:xfrm>
            <a:off x="3469255" y="3105834"/>
            <a:ext cx="1247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Decision context?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**Interaction**</a:t>
            </a:r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8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C0AEA8-0E88-3466-DCA0-18474D56DF2F}"/>
              </a:ext>
            </a:extLst>
          </p:cNvPr>
          <p:cNvSpPr txBox="1"/>
          <p:nvPr/>
        </p:nvSpPr>
        <p:spPr>
          <a:xfrm>
            <a:off x="3469255" y="3105834"/>
            <a:ext cx="1247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Decision context?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**Interaction**</a:t>
            </a:r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How to build a strong network">
            <a:extLst>
              <a:ext uri="{FF2B5EF4-FFF2-40B4-BE49-F238E27FC236}">
                <a16:creationId xmlns:a16="http://schemas.microsoft.com/office/drawing/2014/main" id="{B6DF6306-1675-A2E5-3688-343F3801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611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467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C0AEA8-0E88-3466-DCA0-18474D56DF2F}"/>
              </a:ext>
            </a:extLst>
          </p:cNvPr>
          <p:cNvSpPr txBox="1"/>
          <p:nvPr/>
        </p:nvSpPr>
        <p:spPr>
          <a:xfrm>
            <a:off x="3469255" y="3105834"/>
            <a:ext cx="1247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Decision context?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**Interaction**</a:t>
            </a:r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27D44267-FEF3-540D-DC74-55F0D3030627}"/>
              </a:ext>
            </a:extLst>
          </p:cNvPr>
          <p:cNvSpPr txBox="1"/>
          <p:nvPr/>
        </p:nvSpPr>
        <p:spPr>
          <a:xfrm>
            <a:off x="2773681" y="4044420"/>
            <a:ext cx="4105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When we analyze the social world in this way, we will see that: </a:t>
            </a: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3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C0AEA8-0E88-3466-DCA0-18474D56DF2F}"/>
              </a:ext>
            </a:extLst>
          </p:cNvPr>
          <p:cNvSpPr txBox="1"/>
          <p:nvPr/>
        </p:nvSpPr>
        <p:spPr>
          <a:xfrm>
            <a:off x="3469255" y="3105834"/>
            <a:ext cx="1247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Decision context?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**Interaction**</a:t>
            </a:r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1026">
            <a:extLst>
              <a:ext uri="{FF2B5EF4-FFF2-40B4-BE49-F238E27FC236}">
                <a16:creationId xmlns:a16="http://schemas.microsoft.com/office/drawing/2014/main" id="{31D8D8B3-C06D-EB0F-B7CE-D9BBB0FF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597" y="4430517"/>
            <a:ext cx="4407084" cy="7051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F7A33E42-69C5-21C5-7585-5F96BA47F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943" y="5398702"/>
            <a:ext cx="3255349" cy="7861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27D44267-FEF3-540D-DC74-55F0D3030627}"/>
              </a:ext>
            </a:extLst>
          </p:cNvPr>
          <p:cNvSpPr txBox="1"/>
          <p:nvPr/>
        </p:nvSpPr>
        <p:spPr>
          <a:xfrm>
            <a:off x="2773681" y="4044420"/>
            <a:ext cx="41055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When we analyze the social world in this way, we will see that: </a:t>
            </a: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We only know one realization of many other possibilities. </a:t>
            </a:r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2B75DFEC-9E41-08BF-183F-FDB2C5656AEA}"/>
              </a:ext>
            </a:extLst>
          </p:cNvPr>
          <p:cNvSpPr/>
          <p:nvPr/>
        </p:nvSpPr>
        <p:spPr>
          <a:xfrm>
            <a:off x="6886685" y="4285935"/>
            <a:ext cx="270156" cy="1971755"/>
          </a:xfrm>
          <a:prstGeom prst="leftBrace">
            <a:avLst>
              <a:gd name="adj1" fmla="val 8333"/>
              <a:gd name="adj2" fmla="val 4314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3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C0AEA8-0E88-3466-DCA0-18474D56DF2F}"/>
              </a:ext>
            </a:extLst>
          </p:cNvPr>
          <p:cNvSpPr txBox="1"/>
          <p:nvPr/>
        </p:nvSpPr>
        <p:spPr>
          <a:xfrm>
            <a:off x="3469255" y="3105834"/>
            <a:ext cx="1247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Decision context?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**Interaction**</a:t>
            </a:r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1031">
            <a:extLst>
              <a:ext uri="{FF2B5EF4-FFF2-40B4-BE49-F238E27FC236}">
                <a16:creationId xmlns:a16="http://schemas.microsoft.com/office/drawing/2014/main" id="{253ABF3D-BC9E-0285-9EC8-1265A6FFF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479" y="5102420"/>
            <a:ext cx="2333951" cy="1505160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27D44267-FEF3-540D-DC74-55F0D3030627}"/>
              </a:ext>
            </a:extLst>
          </p:cNvPr>
          <p:cNvSpPr txBox="1"/>
          <p:nvPr/>
        </p:nvSpPr>
        <p:spPr>
          <a:xfrm>
            <a:off x="2773681" y="4044420"/>
            <a:ext cx="41055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When we analyze the social world in this way, we will see that: </a:t>
            </a: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We only know one realization of many other possibilities.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Individual motivations can produce unexpected macro-outcomes.</a:t>
            </a:r>
            <a:endParaRPr lang="en-US" dirty="0"/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2072DFB9-15CC-383A-F6EF-3635CD12285F}"/>
              </a:ext>
            </a:extLst>
          </p:cNvPr>
          <p:cNvSpPr/>
          <p:nvPr/>
        </p:nvSpPr>
        <p:spPr>
          <a:xfrm>
            <a:off x="7085944" y="5070630"/>
            <a:ext cx="270343" cy="156874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7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scale free">
            <a:hlinkClick r:id="" action="ppaction://media"/>
            <a:extLst>
              <a:ext uri="{FF2B5EF4-FFF2-40B4-BE49-F238E27FC236}">
                <a16:creationId xmlns:a16="http://schemas.microsoft.com/office/drawing/2014/main" id="{C744693E-D4FD-6CD8-A688-CCC6ED8CA8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66542" y="3190081"/>
            <a:ext cx="3177873" cy="3177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87470-1D4B-2A5A-B318-346A909D2BE1}"/>
              </a:ext>
            </a:extLst>
          </p:cNvPr>
          <p:cNvSpPr txBox="1"/>
          <p:nvPr/>
        </p:nvSpPr>
        <p:spPr>
          <a:xfrm>
            <a:off x="2835637" y="3718683"/>
            <a:ext cx="44335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</a:t>
            </a:r>
            <a:r>
              <a:rPr lang="sv-SE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Analytical</a:t>
            </a:r>
            <a:r>
              <a:rPr lang="sv-SE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sociology</a:t>
            </a:r>
            <a:r>
              <a:rPr lang="sv-SE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approach:</a:t>
            </a:r>
          </a:p>
          <a:p>
            <a:br>
              <a:rPr lang="en-US" dirty="0"/>
            </a:br>
            <a:r>
              <a:rPr 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 social scientist aims to elucidate an empirical phenomenon by </a:t>
            </a:r>
            <a:r>
              <a:rPr lang="en-US" sz="1600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examining</a:t>
            </a:r>
            <a:r>
              <a:rPr 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1600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a collection of entities and processes </a:t>
            </a:r>
            <a:r>
              <a:rPr 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(agents, actions, and interactions) that are spatially and temporally structured to consistently produce the desired phenomenon 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(Hedström and </a:t>
            </a:r>
            <a:r>
              <a:rPr lang="en-US" sz="16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Swedberg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1998)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A49C8-3702-F8C9-8340-F6E3A957C330}"/>
              </a:ext>
            </a:extLst>
          </p:cNvPr>
          <p:cNvSpPr txBox="1"/>
          <p:nvPr/>
        </p:nvSpPr>
        <p:spPr>
          <a:xfrm>
            <a:off x="9956179" y="3306170"/>
            <a:ext cx="2258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0" i="0" dirty="0" err="1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Scale</a:t>
            </a:r>
            <a:r>
              <a:rPr lang="sv-SE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</a:t>
            </a:r>
            <a:r>
              <a:rPr lang="sv-SE" b="0" i="0" dirty="0" err="1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Free</a:t>
            </a:r>
            <a:r>
              <a:rPr lang="sv-SE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</a:t>
            </a:r>
            <a:r>
              <a:rPr lang="sv-SE" b="0" i="0" dirty="0" err="1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7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72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7E43F8-9960-C393-B375-85D73C411A1F}"/>
              </a:ext>
            </a:extLst>
          </p:cNvPr>
          <p:cNvSpPr txBox="1"/>
          <p:nvPr/>
        </p:nvSpPr>
        <p:spPr>
          <a:xfrm>
            <a:off x="4265212" y="3535528"/>
            <a:ext cx="12099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ABMs</a:t>
            </a:r>
          </a:p>
        </p:txBody>
      </p:sp>
    </p:spTree>
    <p:extLst>
      <p:ext uri="{BB962C8B-B14F-4D97-AF65-F5344CB8AC3E}">
        <p14:creationId xmlns:p14="http://schemas.microsoft.com/office/powerpoint/2010/main" val="3559015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1028" name="Picture 4" descr="How to build a strong network">
            <a:extLst>
              <a:ext uri="{FF2B5EF4-FFF2-40B4-BE49-F238E27FC236}">
                <a16:creationId xmlns:a16="http://schemas.microsoft.com/office/drawing/2014/main" id="{BC0FB309-77B5-4E1C-B013-CA28E42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596" y="497998"/>
            <a:ext cx="3356146" cy="187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ow to build a strong network">
            <a:extLst>
              <a:ext uri="{FF2B5EF4-FFF2-40B4-BE49-F238E27FC236}">
                <a16:creationId xmlns:a16="http://schemas.microsoft.com/office/drawing/2014/main" id="{8A60A5A7-CE74-7FE3-B315-1CEBF4613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96" t="46130" r="43648" b="36524"/>
          <a:stretch/>
        </p:blipFill>
        <p:spPr bwMode="auto">
          <a:xfrm>
            <a:off x="3303105" y="2617359"/>
            <a:ext cx="270344" cy="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56669C-C9A1-0E17-8552-3EE475B6AF0A}"/>
              </a:ext>
            </a:extLst>
          </p:cNvPr>
          <p:cNvCxnSpPr>
            <a:cxnSpLocks/>
          </p:cNvCxnSpPr>
          <p:nvPr/>
        </p:nvCxnSpPr>
        <p:spPr>
          <a:xfrm flipH="1">
            <a:off x="3530379" y="2075290"/>
            <a:ext cx="477078" cy="49940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6A349ED-5E73-56F2-D400-73168E97C7FA}"/>
              </a:ext>
            </a:extLst>
          </p:cNvPr>
          <p:cNvSpPr/>
          <p:nvPr/>
        </p:nvSpPr>
        <p:spPr>
          <a:xfrm>
            <a:off x="2921443" y="2652146"/>
            <a:ext cx="270344" cy="256430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F1AADC-BA34-6822-301D-79249C35D050}"/>
              </a:ext>
            </a:extLst>
          </p:cNvPr>
          <p:cNvSpPr txBox="1"/>
          <p:nvPr/>
        </p:nvSpPr>
        <p:spPr>
          <a:xfrm>
            <a:off x="3152030" y="2884822"/>
            <a:ext cx="628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action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3288886-A09E-22C4-2F97-8180C91DEF48}"/>
              </a:ext>
            </a:extLst>
          </p:cNvPr>
          <p:cNvSpPr/>
          <p:nvPr/>
        </p:nvSpPr>
        <p:spPr>
          <a:xfrm>
            <a:off x="3716573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 descr="How to build a strong network">
            <a:extLst>
              <a:ext uri="{FF2B5EF4-FFF2-40B4-BE49-F238E27FC236}">
                <a16:creationId xmlns:a16="http://schemas.microsoft.com/office/drawing/2014/main" id="{97C1AFAB-C56E-2657-87AE-D7E3C17B6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130041" y="2617359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EF02998D-EB99-8267-5EF9-4F06B58E7DF1}"/>
              </a:ext>
            </a:extLst>
          </p:cNvPr>
          <p:cNvSpPr/>
          <p:nvPr/>
        </p:nvSpPr>
        <p:spPr>
          <a:xfrm>
            <a:off x="4519658" y="2652146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4" descr="How to build a strong network">
            <a:extLst>
              <a:ext uri="{FF2B5EF4-FFF2-40B4-BE49-F238E27FC236}">
                <a16:creationId xmlns:a16="http://schemas.microsoft.com/office/drawing/2014/main" id="{C11ECDC4-0EED-DD07-6B5D-E4F5DABE8E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49172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A2F31D8A-D324-8641-266F-4DD499D222DA}"/>
              </a:ext>
            </a:extLst>
          </p:cNvPr>
          <p:cNvSpPr/>
          <p:nvPr/>
        </p:nvSpPr>
        <p:spPr>
          <a:xfrm>
            <a:off x="53068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How to build a strong network">
            <a:extLst>
              <a:ext uri="{FF2B5EF4-FFF2-40B4-BE49-F238E27FC236}">
                <a16:creationId xmlns:a16="http://schemas.microsoft.com/office/drawing/2014/main" id="{D29D3E5E-5DFF-65E0-E8EE-AA9550A2A5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56964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0B8925A0-9056-2BAE-10D7-03B440188967}"/>
              </a:ext>
            </a:extLst>
          </p:cNvPr>
          <p:cNvSpPr/>
          <p:nvPr/>
        </p:nvSpPr>
        <p:spPr>
          <a:xfrm>
            <a:off x="60860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63890-B1DF-8B2E-2956-C82E8A416CFC}"/>
              </a:ext>
            </a:extLst>
          </p:cNvPr>
          <p:cNvSpPr txBox="1"/>
          <p:nvPr/>
        </p:nvSpPr>
        <p:spPr>
          <a:xfrm>
            <a:off x="10954910" y="2531822"/>
            <a:ext cx="705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 . . </a:t>
            </a:r>
            <a:endParaRPr lang="en-US" dirty="0"/>
          </a:p>
        </p:txBody>
      </p:sp>
      <p:sp>
        <p:nvSpPr>
          <p:cNvPr id="1024" name="Left Brace 1023">
            <a:extLst>
              <a:ext uri="{FF2B5EF4-FFF2-40B4-BE49-F238E27FC236}">
                <a16:creationId xmlns:a16="http://schemas.microsoft.com/office/drawing/2014/main" id="{541646BC-02BC-0C4C-090B-4B89679CF5CD}"/>
              </a:ext>
            </a:extLst>
          </p:cNvPr>
          <p:cNvSpPr/>
          <p:nvPr/>
        </p:nvSpPr>
        <p:spPr>
          <a:xfrm rot="16200000">
            <a:off x="3985375" y="2690131"/>
            <a:ext cx="152617" cy="677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6" name="Picture 4" descr="How to build a strong network">
            <a:extLst>
              <a:ext uri="{FF2B5EF4-FFF2-40B4-BE49-F238E27FC236}">
                <a16:creationId xmlns:a16="http://schemas.microsoft.com/office/drawing/2014/main" id="{EC468DBB-809F-283C-AB15-F732C4E80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642598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row: Right 1036">
            <a:extLst>
              <a:ext uri="{FF2B5EF4-FFF2-40B4-BE49-F238E27FC236}">
                <a16:creationId xmlns:a16="http://schemas.microsoft.com/office/drawing/2014/main" id="{92849E21-BF5E-A73F-B2C0-140ABEE06BF6}"/>
              </a:ext>
            </a:extLst>
          </p:cNvPr>
          <p:cNvSpPr/>
          <p:nvPr/>
        </p:nvSpPr>
        <p:spPr>
          <a:xfrm>
            <a:off x="681560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Picture 4" descr="How to build a strong network">
            <a:extLst>
              <a:ext uri="{FF2B5EF4-FFF2-40B4-BE49-F238E27FC236}">
                <a16:creationId xmlns:a16="http://schemas.microsoft.com/office/drawing/2014/main" id="{DEE70237-9A3C-C593-638F-FCB792381A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20520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EA4E9574-48F8-668F-758C-C494F92721E2}"/>
              </a:ext>
            </a:extLst>
          </p:cNvPr>
          <p:cNvSpPr/>
          <p:nvPr/>
        </p:nvSpPr>
        <p:spPr>
          <a:xfrm>
            <a:off x="759482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4" descr="How to build a strong network">
            <a:extLst>
              <a:ext uri="{FF2B5EF4-FFF2-40B4-BE49-F238E27FC236}">
                <a16:creationId xmlns:a16="http://schemas.microsoft.com/office/drawing/2014/main" id="{345654E1-A25E-140B-E155-5AFCED746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7966542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Arrow: Right 1040">
            <a:extLst>
              <a:ext uri="{FF2B5EF4-FFF2-40B4-BE49-F238E27FC236}">
                <a16:creationId xmlns:a16="http://schemas.microsoft.com/office/drawing/2014/main" id="{FA35332F-425D-95FD-E87C-4255135FD13F}"/>
              </a:ext>
            </a:extLst>
          </p:cNvPr>
          <p:cNvSpPr/>
          <p:nvPr/>
        </p:nvSpPr>
        <p:spPr>
          <a:xfrm>
            <a:off x="8356159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2" name="Picture 4" descr="How to build a strong network">
            <a:extLst>
              <a:ext uri="{FF2B5EF4-FFF2-40B4-BE49-F238E27FC236}">
                <a16:creationId xmlns:a16="http://schemas.microsoft.com/office/drawing/2014/main" id="{1E0349B4-9C99-1B46-8EEE-0CAB72133E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8745768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Arrow: Right 1042">
            <a:extLst>
              <a:ext uri="{FF2B5EF4-FFF2-40B4-BE49-F238E27FC236}">
                <a16:creationId xmlns:a16="http://schemas.microsoft.com/office/drawing/2014/main" id="{15B68A32-E2E8-6893-3484-B82C466D4B62}"/>
              </a:ext>
            </a:extLst>
          </p:cNvPr>
          <p:cNvSpPr/>
          <p:nvPr/>
        </p:nvSpPr>
        <p:spPr>
          <a:xfrm>
            <a:off x="9135385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8" name="Picture 4" descr="How to build a strong network">
            <a:extLst>
              <a:ext uri="{FF2B5EF4-FFF2-40B4-BE49-F238E27FC236}">
                <a16:creationId xmlns:a16="http://schemas.microsoft.com/office/drawing/2014/main" id="{444AB0DB-BFAC-0344-5925-60D2354E0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9515723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Arrow: Right 1048">
            <a:extLst>
              <a:ext uri="{FF2B5EF4-FFF2-40B4-BE49-F238E27FC236}">
                <a16:creationId xmlns:a16="http://schemas.microsoft.com/office/drawing/2014/main" id="{C281CC60-C5C0-629C-EC73-194BEB2BC8FA}"/>
              </a:ext>
            </a:extLst>
          </p:cNvPr>
          <p:cNvSpPr/>
          <p:nvPr/>
        </p:nvSpPr>
        <p:spPr>
          <a:xfrm>
            <a:off x="9905340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0" name="Picture 4" descr="How to build a strong network">
            <a:extLst>
              <a:ext uri="{FF2B5EF4-FFF2-40B4-BE49-F238E27FC236}">
                <a16:creationId xmlns:a16="http://schemas.microsoft.com/office/drawing/2014/main" id="{C9A01618-2B3A-8C95-48B5-541152AA4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89" t="68537" r="60029" b="14963"/>
          <a:stretch/>
        </p:blipFill>
        <p:spPr bwMode="auto">
          <a:xfrm>
            <a:off x="10294949" y="2613883"/>
            <a:ext cx="270343" cy="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1" name="Arrow: Right 1050">
            <a:extLst>
              <a:ext uri="{FF2B5EF4-FFF2-40B4-BE49-F238E27FC236}">
                <a16:creationId xmlns:a16="http://schemas.microsoft.com/office/drawing/2014/main" id="{2C382718-F2A2-08DD-018F-D3216455FDB3}"/>
              </a:ext>
            </a:extLst>
          </p:cNvPr>
          <p:cNvSpPr/>
          <p:nvPr/>
        </p:nvSpPr>
        <p:spPr>
          <a:xfrm>
            <a:off x="10684566" y="2648670"/>
            <a:ext cx="270344" cy="25643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99CCE-77BD-D153-C116-90CD79D60381}"/>
              </a:ext>
            </a:extLst>
          </p:cNvPr>
          <p:cNvSpPr txBox="1"/>
          <p:nvPr/>
        </p:nvSpPr>
        <p:spPr>
          <a:xfrm>
            <a:off x="3014211" y="4151990"/>
            <a:ext cx="40677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ABMs are computer simulations where artificial </a:t>
            </a:r>
            <a:r>
              <a:rPr lang="en-US" dirty="0">
                <a:solidFill>
                  <a:srgbClr val="00B050"/>
                </a:solidFill>
              </a:rPr>
              <a:t>agents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interact</a:t>
            </a:r>
            <a:r>
              <a:rPr lang="en-US" dirty="0"/>
              <a:t> within a specific environment according to a predefined set of </a:t>
            </a:r>
            <a:r>
              <a:rPr lang="en-US" dirty="0">
                <a:solidFill>
                  <a:srgbClr val="FF0000"/>
                </a:solidFill>
              </a:rPr>
              <a:t>individual rules </a:t>
            </a:r>
            <a:r>
              <a:rPr lang="en-US" dirty="0"/>
              <a:t>(Miller and Page 2007)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4652177E-D453-88E4-1305-3D7E461931F1}"/>
              </a:ext>
            </a:extLst>
          </p:cNvPr>
          <p:cNvSpPr/>
          <p:nvPr/>
        </p:nvSpPr>
        <p:spPr>
          <a:xfrm>
            <a:off x="9568728" y="3698537"/>
            <a:ext cx="2091860" cy="103248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Macro outcome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747AB29-1339-684C-69D3-38803B6AA6D3}"/>
              </a:ext>
            </a:extLst>
          </p:cNvPr>
          <p:cNvSpPr/>
          <p:nvPr/>
        </p:nvSpPr>
        <p:spPr>
          <a:xfrm>
            <a:off x="7865170" y="4566286"/>
            <a:ext cx="1033005" cy="329480"/>
          </a:xfrm>
          <a:prstGeom prst="rightArrow">
            <a:avLst>
              <a:gd name="adj1" fmla="val 50000"/>
              <a:gd name="adj2" fmla="val 15135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How to build a strong network">
            <a:extLst>
              <a:ext uri="{FF2B5EF4-FFF2-40B4-BE49-F238E27FC236}">
                <a16:creationId xmlns:a16="http://schemas.microsoft.com/office/drawing/2014/main" id="{E159CA13-ACF2-141C-25D6-93834DF63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377" y="5044852"/>
            <a:ext cx="2612692" cy="146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7BC5E5-96A2-0DB1-E885-6E2FAD196999}"/>
              </a:ext>
            </a:extLst>
          </p:cNvPr>
          <p:cNvSpPr txBox="1"/>
          <p:nvPr/>
        </p:nvSpPr>
        <p:spPr>
          <a:xfrm>
            <a:off x="4265212" y="3535528"/>
            <a:ext cx="12099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ABMs</a:t>
            </a:r>
          </a:p>
        </p:txBody>
      </p:sp>
    </p:spTree>
    <p:extLst>
      <p:ext uri="{BB962C8B-B14F-4D97-AF65-F5344CB8AC3E}">
        <p14:creationId xmlns:p14="http://schemas.microsoft.com/office/powerpoint/2010/main" val="1425440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51425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FB4D2D-32E3-F768-CFE4-F5A08DAAECDC}"/>
              </a:ext>
            </a:extLst>
          </p:cNvPr>
          <p:cNvSpPr txBox="1"/>
          <p:nvPr/>
        </p:nvSpPr>
        <p:spPr>
          <a:xfrm>
            <a:off x="8420432" y="1975326"/>
            <a:ext cx="16856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Modelers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believe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are crucial to  understand 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61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15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01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F0D79C-2496-30DC-60EB-5B7D0F0E1152}"/>
              </a:ext>
            </a:extLst>
          </p:cNvPr>
          <p:cNvSpPr/>
          <p:nvPr/>
        </p:nvSpPr>
        <p:spPr>
          <a:xfrm>
            <a:off x="214685" y="2496710"/>
            <a:ext cx="2162753" cy="16459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E34C085F-6182-B2C5-EE9F-7EE7506F297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9AF86-AD4F-0E69-C6F6-455EB4E804A5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02421C97-D07A-ABAC-4B07-BFC411236A0F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4F952F-7165-0556-A880-DDBD29464E4D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76D90F-0B09-27C0-75A0-A2063FE41C2F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031362-7DAD-238E-7BF8-F6F4BF79A737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E1EE35-7406-2D0C-5BCC-5CB32DBD5BE8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27F1BA6-F56B-944A-67B8-3D459C80BFF2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F351A8-993A-020C-5BB1-DA8D2AFF4126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1093BB-F7AB-B720-3AE8-E2885A03B374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A30794-39EA-F6B0-EB32-E02430657142}"/>
              </a:ext>
            </a:extLst>
          </p:cNvPr>
          <p:cNvCxnSpPr>
            <a:endCxn id="30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1A3DD73-A37A-0F28-221A-B30F9FBB679E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8D5D5053-0E21-EBF5-8034-389A8C1DDF24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234BEC4-1E51-5F2D-F557-7DE66C81A5C2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997975-7377-AE16-2886-FCF22C1E932F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7948B36-2FCD-AF75-4348-3A6E671BD7E2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1B12C5-2B35-E73A-9544-F92E8CB7099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393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239BFC42-5D07-9F63-8D96-9604AA53CE8E}"/>
              </a:ext>
            </a:extLst>
          </p:cNvPr>
          <p:cNvSpPr/>
          <p:nvPr/>
        </p:nvSpPr>
        <p:spPr>
          <a:xfrm rot="16200000">
            <a:off x="8438409" y="838318"/>
            <a:ext cx="187029" cy="576401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20DE6C-185A-6363-F39F-88A04AC43C58}"/>
              </a:ext>
            </a:extLst>
          </p:cNvPr>
          <p:cNvSpPr txBox="1"/>
          <p:nvPr/>
        </p:nvSpPr>
        <p:spPr>
          <a:xfrm>
            <a:off x="9144070" y="4442700"/>
            <a:ext cx="2502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Validation (external) is the fitness between these two lines. </a:t>
            </a:r>
          </a:p>
          <a:p>
            <a:r>
              <a:rPr lang="en-US" sz="1500" dirty="0">
                <a:latin typeface="Söhne"/>
              </a:rPr>
              <a:t>Validity equates with how good a model represents the reality (</a:t>
            </a:r>
            <a:r>
              <a:rPr lang="en-US" sz="1500" dirty="0" err="1">
                <a:latin typeface="Söhne"/>
              </a:rPr>
              <a:t>Eker</a:t>
            </a:r>
            <a:r>
              <a:rPr lang="en-US" sz="1500" dirty="0">
                <a:latin typeface="Söhne"/>
              </a:rPr>
              <a:t>, 2020)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B97A93-C7E8-5907-BDA2-4552A9DB56E8}"/>
              </a:ext>
            </a:extLst>
          </p:cNvPr>
          <p:cNvSpPr/>
          <p:nvPr/>
        </p:nvSpPr>
        <p:spPr>
          <a:xfrm>
            <a:off x="9512413" y="3998522"/>
            <a:ext cx="1685677" cy="3816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362460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AD7E76-BCC9-BC65-014A-FF1146120E9D}"/>
              </a:ext>
            </a:extLst>
          </p:cNvPr>
          <p:cNvSpPr/>
          <p:nvPr/>
        </p:nvSpPr>
        <p:spPr>
          <a:xfrm>
            <a:off x="7689084" y="3936050"/>
            <a:ext cx="1685677" cy="3816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Calibration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239BFC42-5D07-9F63-8D96-9604AA53CE8E}"/>
              </a:ext>
            </a:extLst>
          </p:cNvPr>
          <p:cNvSpPr/>
          <p:nvPr/>
        </p:nvSpPr>
        <p:spPr>
          <a:xfrm rot="16200000">
            <a:off x="8438409" y="838318"/>
            <a:ext cx="187029" cy="5764013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245FF-D445-C1AF-ACC9-CD1AF9620C42}"/>
              </a:ext>
            </a:extLst>
          </p:cNvPr>
          <p:cNvSpPr txBox="1"/>
          <p:nvPr/>
        </p:nvSpPr>
        <p:spPr>
          <a:xfrm>
            <a:off x="5552996" y="4411916"/>
            <a:ext cx="6094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Calibration involves selecting model parameters that yield dynamics closely resembling those observed in a specific dataset, as assessed by a given criterion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487E9400-B963-E591-D958-919422616069}"/>
              </a:ext>
            </a:extLst>
          </p:cNvPr>
          <p:cNvSpPr/>
          <p:nvPr/>
        </p:nvSpPr>
        <p:spPr>
          <a:xfrm>
            <a:off x="7711444" y="2538316"/>
            <a:ext cx="2283262" cy="168744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60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239BFC42-5D07-9F63-8D96-9604AA53CE8E}"/>
              </a:ext>
            </a:extLst>
          </p:cNvPr>
          <p:cNvSpPr/>
          <p:nvPr/>
        </p:nvSpPr>
        <p:spPr>
          <a:xfrm rot="16200000">
            <a:off x="6835321" y="2441406"/>
            <a:ext cx="131850" cy="25026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7CD3436-FD91-28C1-B741-40B866657B97}"/>
              </a:ext>
            </a:extLst>
          </p:cNvPr>
          <p:cNvSpPr/>
          <p:nvPr/>
        </p:nvSpPr>
        <p:spPr>
          <a:xfrm>
            <a:off x="5625466" y="3872988"/>
            <a:ext cx="2706342" cy="3816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Empirical calibration</a:t>
            </a:r>
          </a:p>
        </p:txBody>
      </p:sp>
    </p:spTree>
    <p:extLst>
      <p:ext uri="{BB962C8B-B14F-4D97-AF65-F5344CB8AC3E}">
        <p14:creationId xmlns:p14="http://schemas.microsoft.com/office/powerpoint/2010/main" val="155614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239BFC42-5D07-9F63-8D96-9604AA53CE8E}"/>
              </a:ext>
            </a:extLst>
          </p:cNvPr>
          <p:cNvSpPr/>
          <p:nvPr/>
        </p:nvSpPr>
        <p:spPr>
          <a:xfrm rot="16200000">
            <a:off x="6835321" y="2441406"/>
            <a:ext cx="131850" cy="25026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7CD3436-FD91-28C1-B741-40B866657B97}"/>
              </a:ext>
            </a:extLst>
          </p:cNvPr>
          <p:cNvSpPr/>
          <p:nvPr/>
        </p:nvSpPr>
        <p:spPr>
          <a:xfrm>
            <a:off x="5625466" y="3872988"/>
            <a:ext cx="2706342" cy="3816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Empirical calibration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AE337-4375-D1A5-FD69-2BC2A7B170A7}"/>
              </a:ext>
            </a:extLst>
          </p:cNvPr>
          <p:cNvSpPr txBox="1"/>
          <p:nvPr/>
        </p:nvSpPr>
        <p:spPr>
          <a:xfrm>
            <a:off x="3281733" y="4388120"/>
            <a:ext cx="5050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U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empirical data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fix your parameters in order to enhance the realism of your ABM.</a:t>
            </a:r>
          </a:p>
          <a:p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768664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239BFC42-5D07-9F63-8D96-9604AA53CE8E}"/>
              </a:ext>
            </a:extLst>
          </p:cNvPr>
          <p:cNvSpPr/>
          <p:nvPr/>
        </p:nvSpPr>
        <p:spPr>
          <a:xfrm rot="16200000">
            <a:off x="6835321" y="2441406"/>
            <a:ext cx="131850" cy="25026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7CD3436-FD91-28C1-B741-40B866657B97}"/>
              </a:ext>
            </a:extLst>
          </p:cNvPr>
          <p:cNvSpPr/>
          <p:nvPr/>
        </p:nvSpPr>
        <p:spPr>
          <a:xfrm>
            <a:off x="5625466" y="3872988"/>
            <a:ext cx="2706342" cy="3816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Empirical calibration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AE337-4375-D1A5-FD69-2BC2A7B170A7}"/>
              </a:ext>
            </a:extLst>
          </p:cNvPr>
          <p:cNvSpPr txBox="1"/>
          <p:nvPr/>
        </p:nvSpPr>
        <p:spPr>
          <a:xfrm>
            <a:off x="3281733" y="4388120"/>
            <a:ext cx="5050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U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empirical data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to fix your parameters in order to enhance the realism of your ABM.</a:t>
            </a:r>
          </a:p>
          <a:p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EF4BAE-6109-B827-9568-452E22190502}"/>
              </a:ext>
            </a:extLst>
          </p:cNvPr>
          <p:cNvSpPr txBox="1"/>
          <p:nvPr/>
        </p:nvSpPr>
        <p:spPr>
          <a:xfrm>
            <a:off x="8566208" y="4254650"/>
            <a:ext cx="34349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Individual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experimental data,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statistical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models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qualitative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information. </a:t>
            </a:r>
          </a:p>
          <a:p>
            <a:endParaRPr lang="sv-SE" sz="15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Population </a:t>
            </a:r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characteristics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Survey data, register data, census data. </a:t>
            </a:r>
          </a:p>
          <a:p>
            <a:endParaRPr lang="sv-SE" sz="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Physical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environment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Google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Maps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data, road data</a:t>
            </a:r>
            <a:endParaRPr lang="en-US" sz="1500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8F8841C7-E7E5-A3C2-1C80-94D0F08F5B9F}"/>
              </a:ext>
            </a:extLst>
          </p:cNvPr>
          <p:cNvSpPr/>
          <p:nvPr/>
        </p:nvSpPr>
        <p:spPr>
          <a:xfrm>
            <a:off x="8343570" y="4248335"/>
            <a:ext cx="222637" cy="1951622"/>
          </a:xfrm>
          <a:prstGeom prst="leftBrace">
            <a:avLst>
              <a:gd name="adj1" fmla="val 8333"/>
              <a:gd name="adj2" fmla="val 218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FBAEAD-F00C-009F-4A4C-26BB4E46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615" y="5073446"/>
            <a:ext cx="1464340" cy="14643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B98D7E-D456-7C82-3618-AEF3A32B3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93" y="5073446"/>
            <a:ext cx="1464340" cy="146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7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EC0E640-B1F6-F72E-6C1D-BF1398A34DA4}"/>
              </a:ext>
            </a:extLst>
          </p:cNvPr>
          <p:cNvSpPr/>
          <p:nvPr/>
        </p:nvSpPr>
        <p:spPr>
          <a:xfrm>
            <a:off x="2772022" y="1311421"/>
            <a:ext cx="2480807" cy="1113183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Phenomenon</a:t>
            </a:r>
          </a:p>
          <a:p>
            <a:pPr algn="ctr"/>
            <a:r>
              <a:rPr lang="en-US" dirty="0"/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9B967-D4D7-C713-66F8-9C06DDBF6BB0}"/>
              </a:ext>
            </a:extLst>
          </p:cNvPr>
          <p:cNvSpPr txBox="1"/>
          <p:nvPr/>
        </p:nvSpPr>
        <p:spPr>
          <a:xfrm>
            <a:off x="6180152" y="1498680"/>
            <a:ext cx="10475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ABM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AEE5A2A2-B5E0-B339-501C-D6A301C73E63}"/>
              </a:ext>
            </a:extLst>
          </p:cNvPr>
          <p:cNvSpPr/>
          <p:nvPr/>
        </p:nvSpPr>
        <p:spPr>
          <a:xfrm>
            <a:off x="3816627" y="935074"/>
            <a:ext cx="3196424" cy="369332"/>
          </a:xfrm>
          <a:prstGeom prst="curvedDownArrow">
            <a:avLst>
              <a:gd name="adj1" fmla="val 0"/>
              <a:gd name="adj2" fmla="val 123784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F6ADC-2FB1-C76B-499B-73EE23B6497F}"/>
              </a:ext>
            </a:extLst>
          </p:cNvPr>
          <p:cNvSpPr txBox="1"/>
          <p:nvPr/>
        </p:nvSpPr>
        <p:spPr>
          <a:xfrm>
            <a:off x="4676362" y="538460"/>
            <a:ext cx="14769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translate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6E40E9-76D9-9E00-3133-A353A964FE1C}"/>
              </a:ext>
            </a:extLst>
          </p:cNvPr>
          <p:cNvSpPr txBox="1"/>
          <p:nvPr/>
        </p:nvSpPr>
        <p:spPr>
          <a:xfrm>
            <a:off x="5778776" y="1991615"/>
            <a:ext cx="2176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Components/Parameters: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Agent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Interactions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Geographical distributions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so forth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239BFC42-5D07-9F63-8D96-9604AA53CE8E}"/>
              </a:ext>
            </a:extLst>
          </p:cNvPr>
          <p:cNvSpPr/>
          <p:nvPr/>
        </p:nvSpPr>
        <p:spPr>
          <a:xfrm rot="16200000">
            <a:off x="6835321" y="2441406"/>
            <a:ext cx="131850" cy="25026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A137D0-ADEC-02F8-542A-1418891730D1}"/>
              </a:ext>
            </a:extLst>
          </p:cNvPr>
          <p:cNvCxnSpPr/>
          <p:nvPr/>
        </p:nvCxnSpPr>
        <p:spPr>
          <a:xfrm>
            <a:off x="9435881" y="1768906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EE324-AB71-2116-2F27-D3582EA2BCC4}"/>
              </a:ext>
            </a:extLst>
          </p:cNvPr>
          <p:cNvCxnSpPr>
            <a:cxnSpLocks/>
          </p:cNvCxnSpPr>
          <p:nvPr/>
        </p:nvCxnSpPr>
        <p:spPr>
          <a:xfrm flipH="1">
            <a:off x="9272218" y="3185563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9F5D7E2-27C1-8499-07D9-3CD90488748E}"/>
              </a:ext>
            </a:extLst>
          </p:cNvPr>
          <p:cNvSpPr/>
          <p:nvPr/>
        </p:nvSpPr>
        <p:spPr>
          <a:xfrm>
            <a:off x="9512413" y="211386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950BB-F35E-7637-02C7-C350EA38E26A}"/>
              </a:ext>
            </a:extLst>
          </p:cNvPr>
          <p:cNvSpPr txBox="1"/>
          <p:nvPr/>
        </p:nvSpPr>
        <p:spPr>
          <a:xfrm>
            <a:off x="8676949" y="2106477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24038-9B9C-B02E-269B-939EBCB43AD0}"/>
              </a:ext>
            </a:extLst>
          </p:cNvPr>
          <p:cNvSpPr txBox="1"/>
          <p:nvPr/>
        </p:nvSpPr>
        <p:spPr>
          <a:xfrm>
            <a:off x="10422839" y="2805279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0D6F8A-AA30-9890-015F-31B11623B0F0}"/>
              </a:ext>
            </a:extLst>
          </p:cNvPr>
          <p:cNvCxnSpPr>
            <a:endCxn id="11" idx="3"/>
          </p:cNvCxnSpPr>
          <p:nvPr/>
        </p:nvCxnSpPr>
        <p:spPr>
          <a:xfrm flipH="1" flipV="1">
            <a:off x="10482472" y="2734068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C67012-5CC5-F170-079F-B87E448F4595}"/>
              </a:ext>
            </a:extLst>
          </p:cNvPr>
          <p:cNvSpPr txBox="1"/>
          <p:nvPr/>
        </p:nvSpPr>
        <p:spPr>
          <a:xfrm>
            <a:off x="10163259" y="318556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D5D4410-9B1E-B3B9-86BC-A3E29BCCC7AD}"/>
              </a:ext>
            </a:extLst>
          </p:cNvPr>
          <p:cNvSpPr/>
          <p:nvPr/>
        </p:nvSpPr>
        <p:spPr>
          <a:xfrm>
            <a:off x="8152574" y="2264237"/>
            <a:ext cx="358469" cy="293965"/>
          </a:xfrm>
          <a:prstGeom prst="rightArrow">
            <a:avLst>
              <a:gd name="adj1" fmla="val 33771"/>
              <a:gd name="adj2" fmla="val 472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67407E-E921-1236-4A73-51558A346D67}"/>
              </a:ext>
            </a:extLst>
          </p:cNvPr>
          <p:cNvSpPr/>
          <p:nvPr/>
        </p:nvSpPr>
        <p:spPr>
          <a:xfrm>
            <a:off x="9448139" y="1676636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91E41-02CC-7AE5-04F7-E487FE136B38}"/>
              </a:ext>
            </a:extLst>
          </p:cNvPr>
          <p:cNvSpPr txBox="1"/>
          <p:nvPr/>
        </p:nvSpPr>
        <p:spPr>
          <a:xfrm>
            <a:off x="10051028" y="1792415"/>
            <a:ext cx="2489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1F7E3-4FE4-EFBB-1B5B-D653C2B59F90}"/>
              </a:ext>
            </a:extLst>
          </p:cNvPr>
          <p:cNvCxnSpPr>
            <a:cxnSpLocks/>
          </p:cNvCxnSpPr>
          <p:nvPr/>
        </p:nvCxnSpPr>
        <p:spPr>
          <a:xfrm>
            <a:off x="10204924" y="1991506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A956FC-E682-BD9A-932D-AA5B2C56C362}"/>
              </a:ext>
            </a:extLst>
          </p:cNvPr>
          <p:cNvCxnSpPr>
            <a:cxnSpLocks/>
          </p:cNvCxnSpPr>
          <p:nvPr/>
        </p:nvCxnSpPr>
        <p:spPr>
          <a:xfrm>
            <a:off x="10051028" y="2383209"/>
            <a:ext cx="0" cy="3499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7CD3436-FD91-28C1-B741-40B866657B97}"/>
              </a:ext>
            </a:extLst>
          </p:cNvPr>
          <p:cNvSpPr/>
          <p:nvPr/>
        </p:nvSpPr>
        <p:spPr>
          <a:xfrm>
            <a:off x="5625466" y="3872988"/>
            <a:ext cx="2706342" cy="3816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Empirical calibration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AE337-4375-D1A5-FD69-2BC2A7B170A7}"/>
              </a:ext>
            </a:extLst>
          </p:cNvPr>
          <p:cNvSpPr txBox="1"/>
          <p:nvPr/>
        </p:nvSpPr>
        <p:spPr>
          <a:xfrm>
            <a:off x="3281733" y="4388120"/>
            <a:ext cx="5050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U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 empirical data to fix your parameters in order to enhance the realism of your ABM.</a:t>
            </a:r>
          </a:p>
          <a:p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But, when do we want to empirically calibrate our ABM?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EF4BAE-6109-B827-9568-452E22190502}"/>
              </a:ext>
            </a:extLst>
          </p:cNvPr>
          <p:cNvSpPr txBox="1"/>
          <p:nvPr/>
        </p:nvSpPr>
        <p:spPr>
          <a:xfrm>
            <a:off x="8566208" y="4254650"/>
            <a:ext cx="34349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Individual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behavior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experimental data,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statistical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models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qualitative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information. </a:t>
            </a:r>
          </a:p>
          <a:p>
            <a:endParaRPr lang="sv-SE" sz="15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Population </a:t>
            </a:r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characteristics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Survey data, register data, census data. </a:t>
            </a:r>
          </a:p>
          <a:p>
            <a:endParaRPr lang="sv-SE" sz="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Physical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sv-SE" sz="15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environment</a:t>
            </a:r>
            <a:r>
              <a:rPr lang="sv-SE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Google </a:t>
            </a:r>
            <a:r>
              <a:rPr lang="sv-SE" sz="15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Maps</a:t>
            </a:r>
            <a:r>
              <a:rPr lang="sv-SE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data, road data</a:t>
            </a:r>
            <a:endParaRPr lang="en-US" sz="1500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8F8841C7-E7E5-A3C2-1C80-94D0F08F5B9F}"/>
              </a:ext>
            </a:extLst>
          </p:cNvPr>
          <p:cNvSpPr/>
          <p:nvPr/>
        </p:nvSpPr>
        <p:spPr>
          <a:xfrm>
            <a:off x="8343570" y="4248335"/>
            <a:ext cx="222637" cy="1951622"/>
          </a:xfrm>
          <a:prstGeom prst="leftBrace">
            <a:avLst>
              <a:gd name="adj1" fmla="val 8333"/>
              <a:gd name="adj2" fmla="val 21888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72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323A97C-E596-ADE1-5575-A02E0F301C6B}"/>
              </a:ext>
            </a:extLst>
          </p:cNvPr>
          <p:cNvCxnSpPr>
            <a:cxnSpLocks/>
          </p:cNvCxnSpPr>
          <p:nvPr/>
        </p:nvCxnSpPr>
        <p:spPr>
          <a:xfrm flipH="1">
            <a:off x="3570136" y="4040849"/>
            <a:ext cx="2639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3F156A-E270-5995-EEC5-F63BD6167B5D}"/>
              </a:ext>
            </a:extLst>
          </p:cNvPr>
          <p:cNvCxnSpPr>
            <a:cxnSpLocks/>
          </p:cNvCxnSpPr>
          <p:nvPr/>
        </p:nvCxnSpPr>
        <p:spPr>
          <a:xfrm>
            <a:off x="3946169" y="2122945"/>
            <a:ext cx="0" cy="2471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A44903F-B1D0-2DBC-6B92-8718D001CE09}"/>
              </a:ext>
            </a:extLst>
          </p:cNvPr>
          <p:cNvSpPr txBox="1"/>
          <p:nvPr/>
        </p:nvSpPr>
        <p:spPr>
          <a:xfrm>
            <a:off x="3910389" y="4040849"/>
            <a:ext cx="2335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       Complexity/realism     </a:t>
            </a:r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A55738-BAD9-7078-7380-0345EE6ACCB3}"/>
              </a:ext>
            </a:extLst>
          </p:cNvPr>
          <p:cNvSpPr txBox="1"/>
          <p:nvPr/>
        </p:nvSpPr>
        <p:spPr>
          <a:xfrm>
            <a:off x="3285053" y="293570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</a:t>
            </a:r>
            <a:endParaRPr lang="en-US" sz="13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42245A-872D-5D50-EDF9-E247F0AD848F}"/>
              </a:ext>
            </a:extLst>
          </p:cNvPr>
          <p:cNvSpPr txBox="1"/>
          <p:nvPr/>
        </p:nvSpPr>
        <p:spPr>
          <a:xfrm>
            <a:off x="3542969" y="3486852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endParaRPr lang="en-US" sz="3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C6D2B5-90F3-686A-BC97-83D15AB0F1B4}"/>
              </a:ext>
            </a:extLst>
          </p:cNvPr>
          <p:cNvSpPr txBox="1"/>
          <p:nvPr/>
        </p:nvSpPr>
        <p:spPr>
          <a:xfrm>
            <a:off x="3521437" y="1975326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2EA5834-33EA-674E-1DC6-D27F744E2B44}"/>
              </a:ext>
            </a:extLst>
          </p:cNvPr>
          <p:cNvSpPr/>
          <p:nvPr/>
        </p:nvSpPr>
        <p:spPr>
          <a:xfrm>
            <a:off x="4105775" y="3628965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2AC9EB0-14E9-9593-36DC-A90EA091DBE1}"/>
              </a:ext>
            </a:extLst>
          </p:cNvPr>
          <p:cNvSpPr/>
          <p:nvPr/>
        </p:nvSpPr>
        <p:spPr>
          <a:xfrm>
            <a:off x="5689409" y="2259553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32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837CF0-E643-F450-064A-3BBED3B284E6}"/>
              </a:ext>
            </a:extLst>
          </p:cNvPr>
          <p:cNvSpPr txBox="1"/>
          <p:nvPr/>
        </p:nvSpPr>
        <p:spPr>
          <a:xfrm>
            <a:off x="2966334" y="4853608"/>
            <a:ext cx="4825944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Theoretical Abstractions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en-US" sz="13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Boero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Squazzoni, 2005)</a:t>
            </a:r>
          </a:p>
          <a:p>
            <a:pPr algn="l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Very popular at the beginning (</a:t>
            </a:r>
            <a:r>
              <a:rPr lang="en-US" sz="13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Casini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Manzo, 2016)</a:t>
            </a:r>
          </a:p>
          <a:p>
            <a:pPr algn="l"/>
            <a:r>
              <a:rPr lang="en-US" sz="1300" dirty="0">
                <a:solidFill>
                  <a:srgbClr val="0D0D0D"/>
                </a:solidFill>
                <a:highlight>
                  <a:srgbClr val="FFFF00"/>
                </a:highlight>
                <a:latin typeface="Söhne"/>
              </a:rPr>
              <a:t>The goal is:</a:t>
            </a:r>
            <a:endParaRPr lang="en-US" sz="1300" b="0" i="0" dirty="0">
              <a:solidFill>
                <a:srgbClr val="0D0D0D"/>
              </a:solidFill>
              <a:effectLst/>
              <a:highlight>
                <a:srgbClr val="FFFF00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Development of new theories or mechanisms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Evaluating the macro implications of micro mechanisms</a:t>
            </a:r>
            <a:endParaRPr lang="en-US" sz="13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e.g., Schelling model,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Axelrod model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171EED-5C91-85CE-3A7A-75DA1580AE36}"/>
              </a:ext>
            </a:extLst>
          </p:cNvPr>
          <p:cNvCxnSpPr>
            <a:cxnSpLocks/>
          </p:cNvCxnSpPr>
          <p:nvPr/>
        </p:nvCxnSpPr>
        <p:spPr>
          <a:xfrm flipH="1">
            <a:off x="3570136" y="4040849"/>
            <a:ext cx="2639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A4ACDD-6EAA-630D-04EF-772437D8C30C}"/>
              </a:ext>
            </a:extLst>
          </p:cNvPr>
          <p:cNvCxnSpPr>
            <a:cxnSpLocks/>
          </p:cNvCxnSpPr>
          <p:nvPr/>
        </p:nvCxnSpPr>
        <p:spPr>
          <a:xfrm>
            <a:off x="3946169" y="2122945"/>
            <a:ext cx="0" cy="2471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5B10F83-99C6-F5D9-877C-E486B473484F}"/>
              </a:ext>
            </a:extLst>
          </p:cNvPr>
          <p:cNvSpPr txBox="1"/>
          <p:nvPr/>
        </p:nvSpPr>
        <p:spPr>
          <a:xfrm>
            <a:off x="3910389" y="4040849"/>
            <a:ext cx="2335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       Complexity/realism     </a:t>
            </a:r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6E772-F6AC-B8DB-B2C5-CFA3B5AD83C5}"/>
              </a:ext>
            </a:extLst>
          </p:cNvPr>
          <p:cNvSpPr txBox="1"/>
          <p:nvPr/>
        </p:nvSpPr>
        <p:spPr>
          <a:xfrm>
            <a:off x="3285053" y="293570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</a:t>
            </a:r>
            <a:endParaRPr lang="en-US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203BD-39DE-CC3F-FDE4-F4FF37707F4A}"/>
              </a:ext>
            </a:extLst>
          </p:cNvPr>
          <p:cNvSpPr txBox="1"/>
          <p:nvPr/>
        </p:nvSpPr>
        <p:spPr>
          <a:xfrm>
            <a:off x="3542969" y="3486852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23AC2-CCE3-DD2D-59DC-24D6E7D28E65}"/>
              </a:ext>
            </a:extLst>
          </p:cNvPr>
          <p:cNvSpPr txBox="1"/>
          <p:nvPr/>
        </p:nvSpPr>
        <p:spPr>
          <a:xfrm>
            <a:off x="3521437" y="1975326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77D54C-5358-526C-EDB2-D63B656BD8B5}"/>
              </a:ext>
            </a:extLst>
          </p:cNvPr>
          <p:cNvSpPr/>
          <p:nvPr/>
        </p:nvSpPr>
        <p:spPr>
          <a:xfrm>
            <a:off x="4105775" y="3628965"/>
            <a:ext cx="270344" cy="2697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CEF240-8865-05D0-7A53-106768AA7116}"/>
              </a:ext>
            </a:extLst>
          </p:cNvPr>
          <p:cNvSpPr/>
          <p:nvPr/>
        </p:nvSpPr>
        <p:spPr>
          <a:xfrm>
            <a:off x="5689409" y="2259553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66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2D3F1-0DB0-9EEA-0B8A-C9CF352F700B}"/>
              </a:ext>
            </a:extLst>
          </p:cNvPr>
          <p:cNvSpPr txBox="1"/>
          <p:nvPr/>
        </p:nvSpPr>
        <p:spPr>
          <a:xfrm>
            <a:off x="6187977" y="315119"/>
            <a:ext cx="564355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D0D0D"/>
                </a:solidFill>
                <a:highlight>
                  <a:srgbClr val="FFFF00"/>
                </a:highlight>
                <a:latin typeface="Söhne"/>
              </a:rPr>
              <a:t>The goal is:</a:t>
            </a:r>
            <a:endParaRPr lang="en-US" sz="1300" b="0" i="0" dirty="0">
              <a:solidFill>
                <a:srgbClr val="0D0D0D"/>
              </a:solidFill>
              <a:effectLst/>
              <a:highlight>
                <a:srgbClr val="FFFF00"/>
              </a:highlight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Serving as a </a:t>
            </a: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virtual 'laboratory'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 testing </a:t>
            </a: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policy interventions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Predicting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future population dynamics (Bruch and Atwell, 2013).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Studying how certain processes unfold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These models aim at different combinations of (</a:t>
            </a:r>
            <a:r>
              <a:rPr lang="en-US" sz="1300" dirty="0" err="1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Casini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and Manzo, 2016):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“theoretical realism”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 calibration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sz="13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e.g., models developed during the COVID-19 epidemic.</a:t>
            </a:r>
            <a:endParaRPr lang="en-US" sz="13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780A83-B2D7-D8C0-F810-F69024A7102A}"/>
              </a:ext>
            </a:extLst>
          </p:cNvPr>
          <p:cNvCxnSpPr>
            <a:cxnSpLocks/>
          </p:cNvCxnSpPr>
          <p:nvPr/>
        </p:nvCxnSpPr>
        <p:spPr>
          <a:xfrm flipH="1">
            <a:off x="3570136" y="4040849"/>
            <a:ext cx="2639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D145A1-4FE1-8780-C088-926F815D69DB}"/>
              </a:ext>
            </a:extLst>
          </p:cNvPr>
          <p:cNvCxnSpPr>
            <a:cxnSpLocks/>
          </p:cNvCxnSpPr>
          <p:nvPr/>
        </p:nvCxnSpPr>
        <p:spPr>
          <a:xfrm>
            <a:off x="3946169" y="2122945"/>
            <a:ext cx="0" cy="2471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65646-BBF4-5B9D-FE2D-EE17487CE88F}"/>
              </a:ext>
            </a:extLst>
          </p:cNvPr>
          <p:cNvSpPr txBox="1"/>
          <p:nvPr/>
        </p:nvSpPr>
        <p:spPr>
          <a:xfrm>
            <a:off x="3910389" y="4040849"/>
            <a:ext cx="2335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       Complexity/realism     </a:t>
            </a:r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30364-ADE3-0E1C-8FB9-69B3096E3518}"/>
              </a:ext>
            </a:extLst>
          </p:cNvPr>
          <p:cNvSpPr txBox="1"/>
          <p:nvPr/>
        </p:nvSpPr>
        <p:spPr>
          <a:xfrm>
            <a:off x="3285053" y="293570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581C-20C6-E758-B387-E25A483416C0}"/>
              </a:ext>
            </a:extLst>
          </p:cNvPr>
          <p:cNvSpPr txBox="1"/>
          <p:nvPr/>
        </p:nvSpPr>
        <p:spPr>
          <a:xfrm>
            <a:off x="3542969" y="3486852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B004D-C334-3852-8217-660473DC72E3}"/>
              </a:ext>
            </a:extLst>
          </p:cNvPr>
          <p:cNvSpPr txBox="1"/>
          <p:nvPr/>
        </p:nvSpPr>
        <p:spPr>
          <a:xfrm>
            <a:off x="3521437" y="1975326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97191A-0914-5FFB-C474-12C8D7AE963F}"/>
              </a:ext>
            </a:extLst>
          </p:cNvPr>
          <p:cNvSpPr/>
          <p:nvPr/>
        </p:nvSpPr>
        <p:spPr>
          <a:xfrm>
            <a:off x="4105775" y="3628965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026377-C414-B32C-7CBC-F114E847922F}"/>
              </a:ext>
            </a:extLst>
          </p:cNvPr>
          <p:cNvSpPr/>
          <p:nvPr/>
        </p:nvSpPr>
        <p:spPr>
          <a:xfrm>
            <a:off x="5689409" y="2259553"/>
            <a:ext cx="270344" cy="2697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02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2D3F1-0DB0-9EEA-0B8A-C9CF352F700B}"/>
              </a:ext>
            </a:extLst>
          </p:cNvPr>
          <p:cNvSpPr txBox="1"/>
          <p:nvPr/>
        </p:nvSpPr>
        <p:spPr>
          <a:xfrm>
            <a:off x="6187977" y="315119"/>
            <a:ext cx="564355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D0D0D"/>
                </a:solidFill>
                <a:highlight>
                  <a:srgbClr val="FFFF00"/>
                </a:highlight>
                <a:latin typeface="Söhne"/>
              </a:rPr>
              <a:t>The goal is:</a:t>
            </a:r>
            <a:endParaRPr lang="en-US" sz="1300" b="0" i="0" dirty="0">
              <a:solidFill>
                <a:srgbClr val="0D0D0D"/>
              </a:solidFill>
              <a:effectLst/>
              <a:highlight>
                <a:srgbClr val="FFFF00"/>
              </a:highlight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Serving as a </a:t>
            </a: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virtual 'laboratory'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 testing </a:t>
            </a: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policy interventions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Predicting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future population dynamics (Bruch and Atwell, 2013).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Studying how certain processes unfold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These models aim at different combinations of (</a:t>
            </a:r>
            <a:r>
              <a:rPr lang="en-US" sz="1300" dirty="0" err="1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Casini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and Manzo, 2016):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“theoretical realism”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 calibration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sz="13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e.g., models developed during the COVID-19 pandemic.</a:t>
            </a:r>
            <a:endParaRPr lang="en-US" sz="13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780A83-B2D7-D8C0-F810-F69024A7102A}"/>
              </a:ext>
            </a:extLst>
          </p:cNvPr>
          <p:cNvCxnSpPr>
            <a:cxnSpLocks/>
          </p:cNvCxnSpPr>
          <p:nvPr/>
        </p:nvCxnSpPr>
        <p:spPr>
          <a:xfrm flipH="1">
            <a:off x="3570136" y="4040849"/>
            <a:ext cx="2639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D145A1-4FE1-8780-C088-926F815D69DB}"/>
              </a:ext>
            </a:extLst>
          </p:cNvPr>
          <p:cNvCxnSpPr>
            <a:cxnSpLocks/>
          </p:cNvCxnSpPr>
          <p:nvPr/>
        </p:nvCxnSpPr>
        <p:spPr>
          <a:xfrm>
            <a:off x="3946169" y="2122945"/>
            <a:ext cx="0" cy="2471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65646-BBF4-5B9D-FE2D-EE17487CE88F}"/>
              </a:ext>
            </a:extLst>
          </p:cNvPr>
          <p:cNvSpPr txBox="1"/>
          <p:nvPr/>
        </p:nvSpPr>
        <p:spPr>
          <a:xfrm>
            <a:off x="3910389" y="4040849"/>
            <a:ext cx="2335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       Complexity/realism     </a:t>
            </a:r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30364-ADE3-0E1C-8FB9-69B3096E3518}"/>
              </a:ext>
            </a:extLst>
          </p:cNvPr>
          <p:cNvSpPr txBox="1"/>
          <p:nvPr/>
        </p:nvSpPr>
        <p:spPr>
          <a:xfrm>
            <a:off x="3285053" y="293570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581C-20C6-E758-B387-E25A483416C0}"/>
              </a:ext>
            </a:extLst>
          </p:cNvPr>
          <p:cNvSpPr txBox="1"/>
          <p:nvPr/>
        </p:nvSpPr>
        <p:spPr>
          <a:xfrm>
            <a:off x="3542969" y="3486852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B004D-C334-3852-8217-660473DC72E3}"/>
              </a:ext>
            </a:extLst>
          </p:cNvPr>
          <p:cNvSpPr txBox="1"/>
          <p:nvPr/>
        </p:nvSpPr>
        <p:spPr>
          <a:xfrm>
            <a:off x="3521437" y="1975326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97191A-0914-5FFB-C474-12C8D7AE963F}"/>
              </a:ext>
            </a:extLst>
          </p:cNvPr>
          <p:cNvSpPr/>
          <p:nvPr/>
        </p:nvSpPr>
        <p:spPr>
          <a:xfrm>
            <a:off x="4105775" y="3628965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026377-C414-B32C-7CBC-F114E847922F}"/>
              </a:ext>
            </a:extLst>
          </p:cNvPr>
          <p:cNvSpPr/>
          <p:nvPr/>
        </p:nvSpPr>
        <p:spPr>
          <a:xfrm>
            <a:off x="5689409" y="2259553"/>
            <a:ext cx="270344" cy="2697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7DDA7A-5529-B7B3-B82A-5477F36DC7B6}"/>
              </a:ext>
            </a:extLst>
          </p:cNvPr>
          <p:cNvCxnSpPr/>
          <p:nvPr/>
        </p:nvCxnSpPr>
        <p:spPr>
          <a:xfrm>
            <a:off x="8165000" y="3110015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ACBDF9-B2C0-8045-BDF7-8AA11B02E070}"/>
              </a:ext>
            </a:extLst>
          </p:cNvPr>
          <p:cNvCxnSpPr>
            <a:cxnSpLocks/>
          </p:cNvCxnSpPr>
          <p:nvPr/>
        </p:nvCxnSpPr>
        <p:spPr>
          <a:xfrm flipH="1">
            <a:off x="8001337" y="4526672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154144C-7DD8-EFF0-B7FA-CDC533B2EF88}"/>
              </a:ext>
            </a:extLst>
          </p:cNvPr>
          <p:cNvSpPr/>
          <p:nvPr/>
        </p:nvSpPr>
        <p:spPr>
          <a:xfrm>
            <a:off x="8241532" y="3416139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A64EB66-B270-8FC6-71EF-73AEA50A7788}"/>
              </a:ext>
            </a:extLst>
          </p:cNvPr>
          <p:cNvSpPr/>
          <p:nvPr/>
        </p:nvSpPr>
        <p:spPr>
          <a:xfrm>
            <a:off x="8241532" y="3454975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34F254-05D1-7B0A-0D0B-E4C3E7CB2DC7}"/>
              </a:ext>
            </a:extLst>
          </p:cNvPr>
          <p:cNvSpPr txBox="1"/>
          <p:nvPr/>
        </p:nvSpPr>
        <p:spPr>
          <a:xfrm>
            <a:off x="7329452" y="3454975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1840E1-FA1F-B487-4AC3-3CB88669BB7E}"/>
              </a:ext>
            </a:extLst>
          </p:cNvPr>
          <p:cNvSpPr txBox="1"/>
          <p:nvPr/>
        </p:nvSpPr>
        <p:spPr>
          <a:xfrm>
            <a:off x="8328663" y="3310413"/>
            <a:ext cx="1384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observed</a:t>
            </a:r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</a:p>
          <a:p>
            <a:r>
              <a:rPr lang="sv-SE" sz="10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phenomenon</a:t>
            </a:r>
            <a:endParaRPr lang="en-US" sz="1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9A773A-95BA-9975-7C81-C017756869F6}"/>
              </a:ext>
            </a:extLst>
          </p:cNvPr>
          <p:cNvCxnSpPr>
            <a:cxnSpLocks/>
          </p:cNvCxnSpPr>
          <p:nvPr/>
        </p:nvCxnSpPr>
        <p:spPr>
          <a:xfrm>
            <a:off x="9012808" y="3689008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9A69EA3-E079-D509-52BD-B26BA9E1A5B2}"/>
              </a:ext>
            </a:extLst>
          </p:cNvPr>
          <p:cNvSpPr txBox="1"/>
          <p:nvPr/>
        </p:nvSpPr>
        <p:spPr>
          <a:xfrm>
            <a:off x="9151958" y="4146388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2BEDBA-BCA0-6C92-A54B-A187D7460A20}"/>
              </a:ext>
            </a:extLst>
          </p:cNvPr>
          <p:cNvCxnSpPr>
            <a:endCxn id="19" idx="3"/>
          </p:cNvCxnSpPr>
          <p:nvPr/>
        </p:nvCxnSpPr>
        <p:spPr>
          <a:xfrm flipH="1" flipV="1">
            <a:off x="9211591" y="4075177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194D8E-EB2F-F53E-0F05-B605DC7912DC}"/>
              </a:ext>
            </a:extLst>
          </p:cNvPr>
          <p:cNvSpPr txBox="1"/>
          <p:nvPr/>
        </p:nvSpPr>
        <p:spPr>
          <a:xfrm>
            <a:off x="8796129" y="4513844"/>
            <a:ext cx="7351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318703-207B-BF81-6346-2EF72BAEBBC3}"/>
              </a:ext>
            </a:extLst>
          </p:cNvPr>
          <p:cNvSpPr/>
          <p:nvPr/>
        </p:nvSpPr>
        <p:spPr>
          <a:xfrm>
            <a:off x="10565468" y="3650152"/>
            <a:ext cx="1005424" cy="2964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135694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2D3F1-0DB0-9EEA-0B8A-C9CF352F700B}"/>
              </a:ext>
            </a:extLst>
          </p:cNvPr>
          <p:cNvSpPr txBox="1"/>
          <p:nvPr/>
        </p:nvSpPr>
        <p:spPr>
          <a:xfrm>
            <a:off x="6187977" y="315119"/>
            <a:ext cx="5643559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D0D0D"/>
                </a:solidFill>
                <a:highlight>
                  <a:srgbClr val="FFFF00"/>
                </a:highlight>
                <a:latin typeface="Söhne"/>
              </a:rPr>
              <a:t>The goal is:</a:t>
            </a:r>
            <a:endParaRPr lang="en-US" sz="1300" b="0" i="0" dirty="0">
              <a:solidFill>
                <a:srgbClr val="0D0D0D"/>
              </a:solidFill>
              <a:effectLst/>
              <a:highlight>
                <a:srgbClr val="FFFF00"/>
              </a:highlight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Serving as a </a:t>
            </a: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virtual 'laboratory'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 testing </a:t>
            </a: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policy interventions 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Predicting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future population dynamics (Bruch and Atwell, 2013).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Studying how certain processes unfold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These models aim at different combinations of (</a:t>
            </a:r>
            <a:r>
              <a:rPr lang="en-US" sz="1300" dirty="0" err="1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Casini</a:t>
            </a:r>
            <a:r>
              <a:rPr lang="en-US" sz="13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and Manzo, 2016):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“theoretical realism”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 calibration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empirical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sz="13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e.g., models developed during the COVID-19 pandemic.</a:t>
            </a:r>
            <a:endParaRPr lang="en-US" sz="13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780A83-B2D7-D8C0-F810-F69024A7102A}"/>
              </a:ext>
            </a:extLst>
          </p:cNvPr>
          <p:cNvCxnSpPr>
            <a:cxnSpLocks/>
          </p:cNvCxnSpPr>
          <p:nvPr/>
        </p:nvCxnSpPr>
        <p:spPr>
          <a:xfrm flipH="1">
            <a:off x="3570136" y="4040849"/>
            <a:ext cx="2639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D145A1-4FE1-8780-C088-926F815D69DB}"/>
              </a:ext>
            </a:extLst>
          </p:cNvPr>
          <p:cNvCxnSpPr>
            <a:cxnSpLocks/>
          </p:cNvCxnSpPr>
          <p:nvPr/>
        </p:nvCxnSpPr>
        <p:spPr>
          <a:xfrm>
            <a:off x="3946169" y="2122945"/>
            <a:ext cx="0" cy="2471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65646-BBF4-5B9D-FE2D-EE17487CE88F}"/>
              </a:ext>
            </a:extLst>
          </p:cNvPr>
          <p:cNvSpPr txBox="1"/>
          <p:nvPr/>
        </p:nvSpPr>
        <p:spPr>
          <a:xfrm>
            <a:off x="3910389" y="4040849"/>
            <a:ext cx="2335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       Complexity/realism     </a:t>
            </a:r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30364-ADE3-0E1C-8FB9-69B3096E3518}"/>
              </a:ext>
            </a:extLst>
          </p:cNvPr>
          <p:cNvSpPr txBox="1"/>
          <p:nvPr/>
        </p:nvSpPr>
        <p:spPr>
          <a:xfrm>
            <a:off x="3285053" y="2935703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581C-20C6-E758-B387-E25A483416C0}"/>
              </a:ext>
            </a:extLst>
          </p:cNvPr>
          <p:cNvSpPr txBox="1"/>
          <p:nvPr/>
        </p:nvSpPr>
        <p:spPr>
          <a:xfrm>
            <a:off x="3542969" y="3486852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B004D-C334-3852-8217-660473DC72E3}"/>
              </a:ext>
            </a:extLst>
          </p:cNvPr>
          <p:cNvSpPr txBox="1"/>
          <p:nvPr/>
        </p:nvSpPr>
        <p:spPr>
          <a:xfrm>
            <a:off x="3521437" y="1975326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97191A-0914-5FFB-C474-12C8D7AE963F}"/>
              </a:ext>
            </a:extLst>
          </p:cNvPr>
          <p:cNvSpPr/>
          <p:nvPr/>
        </p:nvSpPr>
        <p:spPr>
          <a:xfrm>
            <a:off x="4105775" y="3628965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026377-C414-B32C-7CBC-F114E847922F}"/>
              </a:ext>
            </a:extLst>
          </p:cNvPr>
          <p:cNvSpPr/>
          <p:nvPr/>
        </p:nvSpPr>
        <p:spPr>
          <a:xfrm>
            <a:off x="5689409" y="2259553"/>
            <a:ext cx="270344" cy="2697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7DDA7A-5529-B7B3-B82A-5477F36DC7B6}"/>
              </a:ext>
            </a:extLst>
          </p:cNvPr>
          <p:cNvCxnSpPr/>
          <p:nvPr/>
        </p:nvCxnSpPr>
        <p:spPr>
          <a:xfrm>
            <a:off x="8165000" y="3110015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ACBDF9-B2C0-8045-BDF7-8AA11B02E070}"/>
              </a:ext>
            </a:extLst>
          </p:cNvPr>
          <p:cNvCxnSpPr>
            <a:cxnSpLocks/>
          </p:cNvCxnSpPr>
          <p:nvPr/>
        </p:nvCxnSpPr>
        <p:spPr>
          <a:xfrm flipH="1">
            <a:off x="8001337" y="4526672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154144C-7DD8-EFF0-B7FA-CDC533B2EF88}"/>
              </a:ext>
            </a:extLst>
          </p:cNvPr>
          <p:cNvSpPr/>
          <p:nvPr/>
        </p:nvSpPr>
        <p:spPr>
          <a:xfrm>
            <a:off x="8241532" y="3416139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A64EB66-B270-8FC6-71EF-73AEA50A7788}"/>
              </a:ext>
            </a:extLst>
          </p:cNvPr>
          <p:cNvSpPr/>
          <p:nvPr/>
        </p:nvSpPr>
        <p:spPr>
          <a:xfrm>
            <a:off x="8241532" y="3454975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34F254-05D1-7B0A-0D0B-E4C3E7CB2DC7}"/>
              </a:ext>
            </a:extLst>
          </p:cNvPr>
          <p:cNvSpPr txBox="1"/>
          <p:nvPr/>
        </p:nvSpPr>
        <p:spPr>
          <a:xfrm>
            <a:off x="7329452" y="3454975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1840E1-FA1F-B487-4AC3-3CB88669BB7E}"/>
              </a:ext>
            </a:extLst>
          </p:cNvPr>
          <p:cNvSpPr txBox="1"/>
          <p:nvPr/>
        </p:nvSpPr>
        <p:spPr>
          <a:xfrm>
            <a:off x="8328663" y="3310413"/>
            <a:ext cx="1384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observed</a:t>
            </a:r>
            <a:r>
              <a:rPr lang="sv-SE" sz="1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</a:p>
          <a:p>
            <a:r>
              <a:rPr lang="sv-SE" sz="10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phenomenon</a:t>
            </a:r>
            <a:endParaRPr lang="en-US" sz="1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9A773A-95BA-9975-7C81-C017756869F6}"/>
              </a:ext>
            </a:extLst>
          </p:cNvPr>
          <p:cNvCxnSpPr>
            <a:cxnSpLocks/>
          </p:cNvCxnSpPr>
          <p:nvPr/>
        </p:nvCxnSpPr>
        <p:spPr>
          <a:xfrm>
            <a:off x="9012808" y="3689008"/>
            <a:ext cx="190502" cy="325818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9A69EA3-E079-D509-52BD-B26BA9E1A5B2}"/>
              </a:ext>
            </a:extLst>
          </p:cNvPr>
          <p:cNvSpPr txBox="1"/>
          <p:nvPr/>
        </p:nvSpPr>
        <p:spPr>
          <a:xfrm>
            <a:off x="9151958" y="4146388"/>
            <a:ext cx="790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2BEDBA-BCA0-6C92-A54B-A187D7460A20}"/>
              </a:ext>
            </a:extLst>
          </p:cNvPr>
          <p:cNvCxnSpPr>
            <a:endCxn id="19" idx="3"/>
          </p:cNvCxnSpPr>
          <p:nvPr/>
        </p:nvCxnSpPr>
        <p:spPr>
          <a:xfrm flipH="1" flipV="1">
            <a:off x="9211591" y="4075177"/>
            <a:ext cx="177910" cy="712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194D8E-EB2F-F53E-0F05-B605DC7912DC}"/>
              </a:ext>
            </a:extLst>
          </p:cNvPr>
          <p:cNvSpPr txBox="1"/>
          <p:nvPr/>
        </p:nvSpPr>
        <p:spPr>
          <a:xfrm>
            <a:off x="8796129" y="4513844"/>
            <a:ext cx="7351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318703-207B-BF81-6346-2EF72BAEBBC3}"/>
              </a:ext>
            </a:extLst>
          </p:cNvPr>
          <p:cNvSpPr/>
          <p:nvPr/>
        </p:nvSpPr>
        <p:spPr>
          <a:xfrm>
            <a:off x="10565468" y="3650152"/>
            <a:ext cx="1005424" cy="2964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Validate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80F5CF-635B-6939-5CE5-81AC913E44B7}"/>
              </a:ext>
            </a:extLst>
          </p:cNvPr>
          <p:cNvCxnSpPr/>
          <p:nvPr/>
        </p:nvCxnSpPr>
        <p:spPr>
          <a:xfrm>
            <a:off x="8165000" y="4925354"/>
            <a:ext cx="0" cy="15425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63DC39-391F-36F8-7F6D-0B2AA5461B81}"/>
              </a:ext>
            </a:extLst>
          </p:cNvPr>
          <p:cNvCxnSpPr>
            <a:cxnSpLocks/>
          </p:cNvCxnSpPr>
          <p:nvPr/>
        </p:nvCxnSpPr>
        <p:spPr>
          <a:xfrm flipH="1">
            <a:off x="8001337" y="6342011"/>
            <a:ext cx="185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84AD815-3688-F58E-65AC-90A2DDC055BC}"/>
              </a:ext>
            </a:extLst>
          </p:cNvPr>
          <p:cNvSpPr/>
          <p:nvPr/>
        </p:nvSpPr>
        <p:spPr>
          <a:xfrm>
            <a:off x="8241532" y="5231478"/>
            <a:ext cx="1542553" cy="930303"/>
          </a:xfrm>
          <a:custGeom>
            <a:avLst/>
            <a:gdLst>
              <a:gd name="connsiteX0" fmla="*/ 0 w 1542553"/>
              <a:gd name="connsiteY0" fmla="*/ 930303 h 930303"/>
              <a:gd name="connsiteX1" fmla="*/ 182880 w 1542553"/>
              <a:gd name="connsiteY1" fmla="*/ 683812 h 930303"/>
              <a:gd name="connsiteX2" fmla="*/ 413468 w 1542553"/>
              <a:gd name="connsiteY2" fmla="*/ 667910 h 930303"/>
              <a:gd name="connsiteX3" fmla="*/ 970059 w 1542553"/>
              <a:gd name="connsiteY3" fmla="*/ 620202 h 930303"/>
              <a:gd name="connsiteX4" fmla="*/ 1176793 w 1542553"/>
              <a:gd name="connsiteY4" fmla="*/ 238539 h 930303"/>
              <a:gd name="connsiteX5" fmla="*/ 1542553 w 1542553"/>
              <a:gd name="connsiteY5" fmla="*/ 0 h 93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553" h="930303">
                <a:moveTo>
                  <a:pt x="0" y="930303"/>
                </a:moveTo>
                <a:cubicBezTo>
                  <a:pt x="56984" y="828923"/>
                  <a:pt x="113969" y="727544"/>
                  <a:pt x="182880" y="683812"/>
                </a:cubicBezTo>
                <a:cubicBezTo>
                  <a:pt x="251791" y="640080"/>
                  <a:pt x="413468" y="667910"/>
                  <a:pt x="413468" y="667910"/>
                </a:cubicBezTo>
                <a:cubicBezTo>
                  <a:pt x="544664" y="657308"/>
                  <a:pt x="842838" y="691764"/>
                  <a:pt x="970059" y="620202"/>
                </a:cubicBezTo>
                <a:cubicBezTo>
                  <a:pt x="1097280" y="548640"/>
                  <a:pt x="1081377" y="341906"/>
                  <a:pt x="1176793" y="238539"/>
                </a:cubicBezTo>
                <a:cubicBezTo>
                  <a:pt x="1272209" y="135172"/>
                  <a:pt x="1470991" y="47708"/>
                  <a:pt x="1542553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64085E-C7E6-03EE-7500-0B178B18CCE7}"/>
              </a:ext>
            </a:extLst>
          </p:cNvPr>
          <p:cNvSpPr txBox="1"/>
          <p:nvPr/>
        </p:nvSpPr>
        <p:spPr>
          <a:xfrm>
            <a:off x="7329452" y="5270314"/>
            <a:ext cx="8355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Macro outcome</a:t>
            </a:r>
            <a:endParaRPr lang="en-US" sz="1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E8EEFF-2108-C21E-9CA0-EE642F683271}"/>
              </a:ext>
            </a:extLst>
          </p:cNvPr>
          <p:cNvSpPr txBox="1"/>
          <p:nvPr/>
        </p:nvSpPr>
        <p:spPr>
          <a:xfrm>
            <a:off x="8328663" y="5125752"/>
            <a:ext cx="1384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Simulation </a:t>
            </a:r>
          </a:p>
          <a:p>
            <a:r>
              <a:rPr lang="sv-SE" sz="1000" b="0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results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122B40-DA41-FF88-8EE5-7EF404E78335}"/>
              </a:ext>
            </a:extLst>
          </p:cNvPr>
          <p:cNvCxnSpPr>
            <a:cxnSpLocks/>
          </p:cNvCxnSpPr>
          <p:nvPr/>
        </p:nvCxnSpPr>
        <p:spPr>
          <a:xfrm>
            <a:off x="9021088" y="5258695"/>
            <a:ext cx="347124" cy="267166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44FDF1-364D-E98A-0AE3-41D1BD3C8063}"/>
              </a:ext>
            </a:extLst>
          </p:cNvPr>
          <p:cNvSpPr txBox="1"/>
          <p:nvPr/>
        </p:nvSpPr>
        <p:spPr>
          <a:xfrm>
            <a:off x="9453364" y="6005423"/>
            <a:ext cx="9086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Intervention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33DAAD-A8C9-C005-F890-6095FEB89499}"/>
              </a:ext>
            </a:extLst>
          </p:cNvPr>
          <p:cNvSpPr txBox="1"/>
          <p:nvPr/>
        </p:nvSpPr>
        <p:spPr>
          <a:xfrm>
            <a:off x="8796129" y="6329183"/>
            <a:ext cx="7351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time</a:t>
            </a:r>
            <a:endParaRPr lang="en-US" sz="130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95E07E6-B283-B904-325E-AAFFA586372A}"/>
              </a:ext>
            </a:extLst>
          </p:cNvPr>
          <p:cNvSpPr/>
          <p:nvPr/>
        </p:nvSpPr>
        <p:spPr>
          <a:xfrm>
            <a:off x="8221902" y="5782676"/>
            <a:ext cx="1868556" cy="425272"/>
          </a:xfrm>
          <a:custGeom>
            <a:avLst/>
            <a:gdLst>
              <a:gd name="connsiteX0" fmla="*/ 0 w 1868556"/>
              <a:gd name="connsiteY0" fmla="*/ 425272 h 425272"/>
              <a:gd name="connsiteX1" fmla="*/ 373711 w 1868556"/>
              <a:gd name="connsiteY1" fmla="*/ 67463 h 425272"/>
              <a:gd name="connsiteX2" fmla="*/ 1256306 w 1868556"/>
              <a:gd name="connsiteY2" fmla="*/ 19755 h 425272"/>
              <a:gd name="connsiteX3" fmla="*/ 1868556 w 1868556"/>
              <a:gd name="connsiteY3" fmla="*/ 298051 h 42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8556" h="425272">
                <a:moveTo>
                  <a:pt x="0" y="425272"/>
                </a:moveTo>
                <a:cubicBezTo>
                  <a:pt x="82163" y="280160"/>
                  <a:pt x="164327" y="135049"/>
                  <a:pt x="373711" y="67463"/>
                </a:cubicBezTo>
                <a:cubicBezTo>
                  <a:pt x="583095" y="-123"/>
                  <a:pt x="1007165" y="-18676"/>
                  <a:pt x="1256306" y="19755"/>
                </a:cubicBezTo>
                <a:cubicBezTo>
                  <a:pt x="1505447" y="58186"/>
                  <a:pt x="1773140" y="230465"/>
                  <a:pt x="1868556" y="29805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1327DC-3901-A498-9BB3-157BC23B87C6}"/>
              </a:ext>
            </a:extLst>
          </p:cNvPr>
          <p:cNvSpPr/>
          <p:nvPr/>
        </p:nvSpPr>
        <p:spPr>
          <a:xfrm>
            <a:off x="10647707" y="5409895"/>
            <a:ext cx="1005424" cy="4252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Virtual laboratory</a:t>
            </a:r>
          </a:p>
        </p:txBody>
      </p:sp>
    </p:spTree>
    <p:extLst>
      <p:ext uri="{BB962C8B-B14F-4D97-AF65-F5344CB8AC3E}">
        <p14:creationId xmlns:p14="http://schemas.microsoft.com/office/powerpoint/2010/main" val="2505821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chemeClr val="bg1">
                  <a:lumMod val="85000"/>
                </a:schemeClr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chemeClr val="bg1">
                  <a:lumMod val="85000"/>
                </a:schemeClr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780A83-B2D7-D8C0-F810-F69024A7102A}"/>
              </a:ext>
            </a:extLst>
          </p:cNvPr>
          <p:cNvCxnSpPr>
            <a:cxnSpLocks/>
          </p:cNvCxnSpPr>
          <p:nvPr/>
        </p:nvCxnSpPr>
        <p:spPr>
          <a:xfrm flipH="1">
            <a:off x="3286288" y="2643034"/>
            <a:ext cx="2639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D145A1-4FE1-8780-C088-926F815D69DB}"/>
              </a:ext>
            </a:extLst>
          </p:cNvPr>
          <p:cNvCxnSpPr>
            <a:cxnSpLocks/>
          </p:cNvCxnSpPr>
          <p:nvPr/>
        </p:nvCxnSpPr>
        <p:spPr>
          <a:xfrm>
            <a:off x="3662321" y="725130"/>
            <a:ext cx="0" cy="24719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65646-BBF4-5B9D-FE2D-EE17487CE88F}"/>
              </a:ext>
            </a:extLst>
          </p:cNvPr>
          <p:cNvSpPr txBox="1"/>
          <p:nvPr/>
        </p:nvSpPr>
        <p:spPr>
          <a:xfrm>
            <a:off x="3626541" y="2643034"/>
            <a:ext cx="23353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        Complexity/realism     </a:t>
            </a:r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30364-ADE3-0E1C-8FB9-69B3096E3518}"/>
              </a:ext>
            </a:extLst>
          </p:cNvPr>
          <p:cNvSpPr txBox="1"/>
          <p:nvPr/>
        </p:nvSpPr>
        <p:spPr>
          <a:xfrm>
            <a:off x="3001205" y="1537888"/>
            <a:ext cx="125067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Data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0581C-20C6-E758-B387-E25A483416C0}"/>
              </a:ext>
            </a:extLst>
          </p:cNvPr>
          <p:cNvSpPr txBox="1"/>
          <p:nvPr/>
        </p:nvSpPr>
        <p:spPr>
          <a:xfrm>
            <a:off x="3259121" y="2089037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-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B004D-C334-3852-8217-660473DC72E3}"/>
              </a:ext>
            </a:extLst>
          </p:cNvPr>
          <p:cNvSpPr txBox="1"/>
          <p:nvPr/>
        </p:nvSpPr>
        <p:spPr>
          <a:xfrm>
            <a:off x="3237589" y="577511"/>
            <a:ext cx="356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+</a:t>
            </a:r>
            <a:endParaRPr lang="en-US" sz="3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97191A-0914-5FFB-C474-12C8D7AE963F}"/>
              </a:ext>
            </a:extLst>
          </p:cNvPr>
          <p:cNvSpPr/>
          <p:nvPr/>
        </p:nvSpPr>
        <p:spPr>
          <a:xfrm>
            <a:off x="3821927" y="2231150"/>
            <a:ext cx="270344" cy="2697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026377-C414-B32C-7CBC-F114E847922F}"/>
              </a:ext>
            </a:extLst>
          </p:cNvPr>
          <p:cNvSpPr/>
          <p:nvPr/>
        </p:nvSpPr>
        <p:spPr>
          <a:xfrm>
            <a:off x="5405561" y="861738"/>
            <a:ext cx="270344" cy="26977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621B1-88E5-6AFE-E780-3303020C9000}"/>
              </a:ext>
            </a:extLst>
          </p:cNvPr>
          <p:cNvSpPr txBox="1"/>
          <p:nvPr/>
        </p:nvSpPr>
        <p:spPr>
          <a:xfrm>
            <a:off x="6845415" y="854510"/>
            <a:ext cx="45064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00"/>
                </a:highlight>
                <a:latin typeface="Söhne"/>
              </a:rPr>
              <a:t>Enhance realism </a:t>
            </a: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between the model and the target and enable </a:t>
            </a:r>
            <a:r>
              <a:rPr lang="en-US" sz="15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reliable inferences </a:t>
            </a: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by equipping the model with </a:t>
            </a:r>
            <a:r>
              <a:rPr lang="en-US" sz="15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realistic assumptions</a:t>
            </a: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regarding simulation components.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sz="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Reduce the number of parameters in simulations.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sz="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Input data aids in excluding competing mechanisms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0DBD3E-10B9-B427-EB22-84BD533C7D1D}"/>
              </a:ext>
            </a:extLst>
          </p:cNvPr>
          <p:cNvSpPr/>
          <p:nvPr/>
        </p:nvSpPr>
        <p:spPr>
          <a:xfrm>
            <a:off x="8033473" y="3883831"/>
            <a:ext cx="3318344" cy="21698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sv-SE" sz="1500" dirty="0"/>
              <a:t>"...</a:t>
            </a:r>
            <a:r>
              <a:rPr lang="sv-SE" sz="1500" dirty="0" err="1"/>
              <a:t>you</a:t>
            </a:r>
            <a:r>
              <a:rPr lang="sv-SE" sz="1500" dirty="0"/>
              <a:t> </a:t>
            </a:r>
            <a:r>
              <a:rPr lang="sv-SE" sz="1500" dirty="0" err="1"/>
              <a:t>see</a:t>
            </a:r>
            <a:r>
              <a:rPr lang="sv-SE" sz="1500" dirty="0"/>
              <a:t> </a:t>
            </a:r>
            <a:r>
              <a:rPr lang="sv-SE" sz="1500" dirty="0" err="1"/>
              <a:t>whether</a:t>
            </a:r>
            <a:r>
              <a:rPr lang="sv-SE" sz="1500" dirty="0"/>
              <a:t> a </a:t>
            </a:r>
            <a:r>
              <a:rPr lang="sv-SE" sz="1500" dirty="0" err="1"/>
              <a:t>ship</a:t>
            </a:r>
            <a:r>
              <a:rPr lang="sv-SE" sz="1500" dirty="0"/>
              <a:t> or </a:t>
            </a:r>
            <a:r>
              <a:rPr lang="sv-SE" sz="1500" dirty="0" err="1">
                <a:highlight>
                  <a:srgbClr val="FFFF00"/>
                </a:highlight>
              </a:rPr>
              <a:t>skyscraper</a:t>
            </a:r>
            <a:r>
              <a:rPr lang="sv-SE" sz="1500" dirty="0"/>
              <a:t> is going to </a:t>
            </a:r>
            <a:r>
              <a:rPr lang="sv-SE" sz="1500" dirty="0" err="1"/>
              <a:t>blow</a:t>
            </a:r>
            <a:r>
              <a:rPr lang="sv-SE" sz="1500" dirty="0"/>
              <a:t> down by </a:t>
            </a:r>
            <a:r>
              <a:rPr lang="sv-SE" sz="1500" dirty="0" err="1"/>
              <a:t>testing</a:t>
            </a:r>
            <a:r>
              <a:rPr lang="sv-SE" sz="1500" dirty="0"/>
              <a:t> a </a:t>
            </a:r>
            <a:r>
              <a:rPr lang="sv-SE" sz="1500" dirty="0" err="1"/>
              <a:t>model</a:t>
            </a:r>
            <a:r>
              <a:rPr lang="sv-SE" sz="1500" dirty="0"/>
              <a:t> </a:t>
            </a:r>
            <a:r>
              <a:rPr lang="sv-SE" sz="1500" dirty="0" err="1"/>
              <a:t>of</a:t>
            </a:r>
            <a:r>
              <a:rPr lang="sv-SE" sz="1500" dirty="0"/>
              <a:t> it. And </a:t>
            </a:r>
            <a:r>
              <a:rPr lang="sv-SE" sz="1500" dirty="0" err="1"/>
              <a:t>that</a:t>
            </a:r>
            <a:r>
              <a:rPr lang="sv-SE" sz="1500" dirty="0"/>
              <a:t> is the same kind </a:t>
            </a:r>
            <a:r>
              <a:rPr lang="sv-SE" sz="1500" dirty="0" err="1"/>
              <a:t>of</a:t>
            </a:r>
            <a:r>
              <a:rPr lang="sv-SE" sz="1500" dirty="0"/>
              <a:t> </a:t>
            </a:r>
            <a:r>
              <a:rPr lang="sv-SE" sz="1500" dirty="0" err="1"/>
              <a:t>things</a:t>
            </a:r>
            <a:r>
              <a:rPr lang="sv-SE" sz="1500" dirty="0"/>
              <a:t> </a:t>
            </a:r>
            <a:r>
              <a:rPr lang="sv-SE" sz="1500" dirty="0" err="1"/>
              <a:t>we</a:t>
            </a:r>
            <a:r>
              <a:rPr lang="sv-SE" sz="1500" dirty="0"/>
              <a:t> do in a simulation </a:t>
            </a:r>
            <a:r>
              <a:rPr lang="sv-SE" sz="1500" dirty="0" err="1"/>
              <a:t>where</a:t>
            </a:r>
            <a:r>
              <a:rPr lang="sv-SE" sz="1500" dirty="0"/>
              <a:t> </a:t>
            </a:r>
            <a:r>
              <a:rPr lang="sv-SE" sz="1500" dirty="0" err="1"/>
              <a:t>we</a:t>
            </a:r>
            <a:r>
              <a:rPr lang="sv-SE" sz="1500" dirty="0"/>
              <a:t> </a:t>
            </a:r>
            <a:r>
              <a:rPr lang="sv-SE" sz="1500" dirty="0" err="1"/>
              <a:t>build</a:t>
            </a:r>
            <a:r>
              <a:rPr lang="sv-SE" sz="1500" dirty="0"/>
              <a:t> a </a:t>
            </a:r>
            <a:r>
              <a:rPr lang="sv-SE" sz="1500" dirty="0" err="1"/>
              <a:t>model</a:t>
            </a:r>
            <a:r>
              <a:rPr lang="sv-SE" sz="1500" dirty="0"/>
              <a:t> and </a:t>
            </a:r>
            <a:r>
              <a:rPr lang="sv-SE" sz="1500" dirty="0" err="1"/>
              <a:t>we</a:t>
            </a:r>
            <a:r>
              <a:rPr lang="sv-SE" sz="1500" dirty="0"/>
              <a:t> try the </a:t>
            </a:r>
            <a:r>
              <a:rPr lang="sv-SE" sz="1500" dirty="0" err="1"/>
              <a:t>application</a:t>
            </a:r>
            <a:r>
              <a:rPr lang="sv-SE" sz="1500" dirty="0"/>
              <a:t> </a:t>
            </a:r>
            <a:r>
              <a:rPr lang="sv-SE" sz="1500" dirty="0" err="1"/>
              <a:t>of</a:t>
            </a:r>
            <a:r>
              <a:rPr lang="sv-SE" sz="1500" dirty="0"/>
              <a:t> a policy in the </a:t>
            </a:r>
            <a:r>
              <a:rPr lang="sv-SE" sz="1500" dirty="0" err="1"/>
              <a:t>model</a:t>
            </a:r>
            <a:r>
              <a:rPr lang="sv-SE" sz="1500" dirty="0"/>
              <a:t> </a:t>
            </a:r>
            <a:r>
              <a:rPr lang="sv-SE" sz="1500" dirty="0" err="1"/>
              <a:t>instead</a:t>
            </a:r>
            <a:r>
              <a:rPr lang="sv-SE" sz="1500" dirty="0"/>
              <a:t> </a:t>
            </a:r>
            <a:r>
              <a:rPr lang="sv-SE" sz="1500" dirty="0" err="1"/>
              <a:t>of</a:t>
            </a:r>
            <a:r>
              <a:rPr lang="sv-SE" sz="1500" dirty="0"/>
              <a:t> the real </a:t>
            </a:r>
            <a:r>
              <a:rPr lang="sv-SE" sz="1500" dirty="0" err="1"/>
              <a:t>world</a:t>
            </a:r>
            <a:r>
              <a:rPr lang="sv-SE" sz="1500" dirty="0"/>
              <a:t>”</a:t>
            </a:r>
          </a:p>
          <a:p>
            <a:r>
              <a:rPr lang="sv-SE" sz="1500" dirty="0"/>
              <a:t> </a:t>
            </a:r>
          </a:p>
          <a:p>
            <a:r>
              <a:rPr lang="sv-SE" sz="1500" dirty="0"/>
              <a:t>(Gilbert, N., 2018)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559B50-D553-A7C6-BC13-C807EFF68EE7}"/>
              </a:ext>
            </a:extLst>
          </p:cNvPr>
          <p:cNvCxnSpPr/>
          <p:nvPr/>
        </p:nvCxnSpPr>
        <p:spPr>
          <a:xfrm flipV="1">
            <a:off x="4352056" y="1279127"/>
            <a:ext cx="984510" cy="822642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B147C1D-D53D-12E7-1F46-C624E3ACFACF}"/>
              </a:ext>
            </a:extLst>
          </p:cNvPr>
          <p:cNvSpPr txBox="1"/>
          <p:nvPr/>
        </p:nvSpPr>
        <p:spPr>
          <a:xfrm>
            <a:off x="3001205" y="3902066"/>
            <a:ext cx="34950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"The scale depends upon the </a:t>
            </a:r>
            <a:r>
              <a:rPr lang="en-US" sz="1500" dirty="0">
                <a:highlight>
                  <a:srgbClr val="FFFF00"/>
                </a:highlight>
              </a:rPr>
              <a:t>purpose</a:t>
            </a:r>
            <a:r>
              <a:rPr lang="en-US" sz="1500" dirty="0"/>
              <a:t>: a map good for hiking requires a large scale and lots of detail, a map designed to show the relationships of countries and continents needs a very small scale as we find in world globes“ </a:t>
            </a:r>
          </a:p>
          <a:p>
            <a:endParaRPr lang="en-US" sz="1500" dirty="0"/>
          </a:p>
          <a:p>
            <a:r>
              <a:rPr lang="en-US" sz="1500" dirty="0"/>
              <a:t>(Morgan, M. S., 2012)</a:t>
            </a:r>
          </a:p>
        </p:txBody>
      </p:sp>
    </p:spTree>
    <p:extLst>
      <p:ext uri="{BB962C8B-B14F-4D97-AF65-F5344CB8AC3E}">
        <p14:creationId xmlns:p14="http://schemas.microsoft.com/office/powerpoint/2010/main" val="3836300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593173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6F77D-E4F7-E7A0-C87E-35DA15D1F41C}"/>
              </a:ext>
            </a:extLst>
          </p:cNvPr>
          <p:cNvSpPr txBox="1"/>
          <p:nvPr/>
        </p:nvSpPr>
        <p:spPr>
          <a:xfrm>
            <a:off x="2928068" y="1785227"/>
            <a:ext cx="60946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Goal</a:t>
            </a:r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Evaluating the effect of school admission priority rules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*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on school ethnic segregation. </a:t>
            </a:r>
          </a:p>
          <a:p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r>
              <a:rPr lang="en-US" sz="16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*Priority rules refer to the guidelines schools adhere to when determining which students receive placement in the event of oversubscription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872408" y="960322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79A6A7-C1A9-5C51-BAAD-FB50B34BC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027" y="3838243"/>
            <a:ext cx="4290565" cy="25297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4ED29F-BE08-69FC-7049-00DD86837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428" y="3838243"/>
            <a:ext cx="4398836" cy="25297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642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37D9D-765C-234C-41F7-A61B65B6CE22}"/>
              </a:ext>
            </a:extLst>
          </p:cNvPr>
          <p:cNvSpPr txBox="1"/>
          <p:nvPr/>
        </p:nvSpPr>
        <p:spPr>
          <a:xfrm>
            <a:off x="2797202" y="515889"/>
            <a:ext cx="84151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r>
              <a:rPr lang="en-US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Motivation</a:t>
            </a:r>
          </a:p>
          <a:p>
            <a:pPr algn="l"/>
            <a:endParaRPr lang="en-US" sz="15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First, the number of oversubscribed seats in schools is significant and it tends to increase over time, resulting in a decreasing share of students obtaining their first preference.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Second, since these rules determine student allocation, they also affect the ethnic composition of schools, thereby influencing school segregation.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5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Third, priority rules are established by educational authorities and are therefore subject to modification for the purpose of promoting ethnic integration within schools.</a:t>
            </a:r>
          </a:p>
        </p:txBody>
      </p:sp>
      <p:pic>
        <p:nvPicPr>
          <p:cNvPr id="2" name="Picture 1" descr="A graph of a graph of a person&#10;&#10;Description automatically generated with medium confidence">
            <a:extLst>
              <a:ext uri="{FF2B5EF4-FFF2-40B4-BE49-F238E27FC236}">
                <a16:creationId xmlns:a16="http://schemas.microsoft.com/office/drawing/2014/main" id="{6761FB72-C545-5B29-B6DD-AC241093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009" y="3096418"/>
            <a:ext cx="7176716" cy="357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01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02C5B8-D41F-0027-9857-45AB6A7E4CD0}"/>
              </a:ext>
            </a:extLst>
          </p:cNvPr>
          <p:cNvSpPr txBox="1"/>
          <p:nvPr/>
        </p:nvSpPr>
        <p:spPr>
          <a:xfrm>
            <a:off x="2797201" y="999908"/>
            <a:ext cx="79529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Data</a:t>
            </a:r>
          </a:p>
          <a:p>
            <a:endParaRPr lang="en-US" sz="1500" b="1" dirty="0"/>
          </a:p>
          <a:p>
            <a:r>
              <a:rPr lang="en-US" sz="1500" dirty="0"/>
              <a:t>We use Swedish register data provided by Statistics Sweden on 9th-grade students applying for secondary education between 2013–2017. 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Students’ and schools’ spatial socio-demographic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Students’ rank-ordered lists of preferred programs submitted to the admission office.</a:t>
            </a:r>
          </a:p>
          <a:p>
            <a:endParaRPr lang="en-US" sz="1500" dirty="0"/>
          </a:p>
          <a:p>
            <a:r>
              <a:rPr lang="en-US" sz="1500" dirty="0"/>
              <a:t>The admission process for upper secondary education in Stockholm is organized by the Stockholm Admission Office, which handles applications for all municipalities of Stockholm County together with the municipalities of </a:t>
            </a:r>
            <a:r>
              <a:rPr lang="en-US" sz="1500" dirty="0" err="1"/>
              <a:t>Gnesta</a:t>
            </a:r>
            <a:r>
              <a:rPr lang="en-US" sz="1500" dirty="0"/>
              <a:t> and </a:t>
            </a:r>
            <a:r>
              <a:rPr lang="en-US" sz="1500" dirty="0" err="1"/>
              <a:t>Håbo</a:t>
            </a:r>
            <a:r>
              <a:rPr lang="en-US" sz="1500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33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9A383-EE20-A188-0794-4CFE6FB8A6E7}"/>
              </a:ext>
            </a:extLst>
          </p:cNvPr>
          <p:cNvSpPr txBox="1"/>
          <p:nvPr/>
        </p:nvSpPr>
        <p:spPr>
          <a:xfrm>
            <a:off x="2869426" y="1000214"/>
            <a:ext cx="8732189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Modelling students’ rank-ordered lists</a:t>
            </a:r>
          </a:p>
          <a:p>
            <a:endParaRPr lang="en-US" dirty="0"/>
          </a:p>
          <a:p>
            <a:r>
              <a:rPr lang="en-US" sz="1500" dirty="0"/>
              <a:t>Four different groups of students: </a:t>
            </a:r>
          </a:p>
          <a:p>
            <a:endParaRPr lang="en-US" sz="1500" dirty="0"/>
          </a:p>
          <a:p>
            <a:pPr lvl="1"/>
            <a:r>
              <a:rPr lang="en-US" sz="1500" dirty="0"/>
              <a:t>- high-performance native</a:t>
            </a:r>
          </a:p>
          <a:p>
            <a:pPr lvl="1"/>
            <a:r>
              <a:rPr lang="en-US" sz="1500" dirty="0"/>
              <a:t>- low-performance native</a:t>
            </a:r>
          </a:p>
          <a:p>
            <a:pPr lvl="1"/>
            <a:r>
              <a:rPr lang="en-US" sz="1500" dirty="0"/>
              <a:t>- high-performance non-native </a:t>
            </a:r>
          </a:p>
          <a:p>
            <a:pPr lvl="1"/>
            <a:r>
              <a:rPr lang="en-US" sz="1500" dirty="0"/>
              <a:t>- low-performance non-native</a:t>
            </a:r>
          </a:p>
          <a:p>
            <a:endParaRPr lang="en-US" sz="1500" dirty="0"/>
          </a:p>
          <a:p>
            <a:r>
              <a:rPr lang="en-US" sz="1500" dirty="0"/>
              <a:t>At the school level:</a:t>
            </a:r>
          </a:p>
          <a:p>
            <a:endParaRPr lang="en-US" sz="15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Proportion of natives at school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Average grades of students admitted at schools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School size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Average income at schools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School ownership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School acceptance rate. </a:t>
            </a:r>
          </a:p>
          <a:p>
            <a:endParaRPr lang="en-US" sz="1500" dirty="0"/>
          </a:p>
          <a:p>
            <a:r>
              <a:rPr lang="en-US" sz="1500" dirty="0"/>
              <a:t>Interactions: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Distance between students’ homes and schools’ geographic coordinates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Difference between the student grade and school mean grades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Proportion of 9th-grade classmates applying to school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Difference between students’ parents’ income and average school income.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0D18F8-3152-C41C-789F-57BC68249CEA}"/>
              </a:ext>
            </a:extLst>
          </p:cNvPr>
          <p:cNvSpPr txBox="1"/>
          <p:nvPr/>
        </p:nvSpPr>
        <p:spPr>
          <a:xfrm>
            <a:off x="7232374" y="2287657"/>
            <a:ext cx="4180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b="0" i="0" dirty="0" err="1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Conditional</a:t>
            </a:r>
            <a:r>
              <a:rPr lang="sv-SE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 logit </a:t>
            </a:r>
            <a:r>
              <a:rPr lang="sv-SE" b="0" i="0" dirty="0" err="1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model</a:t>
            </a:r>
            <a:r>
              <a:rPr lang="sv-SE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 (</a:t>
            </a:r>
            <a:r>
              <a:rPr lang="sv-SE" b="0" i="0" dirty="0" err="1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McFadden</a:t>
            </a:r>
            <a:r>
              <a:rPr lang="sv-SE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, 1974)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6830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02C5B8-D41F-0027-9857-45AB6A7E4CD0}"/>
              </a:ext>
            </a:extLst>
          </p:cNvPr>
          <p:cNvSpPr txBox="1"/>
          <p:nvPr/>
        </p:nvSpPr>
        <p:spPr>
          <a:xfrm>
            <a:off x="2797201" y="999908"/>
            <a:ext cx="7952961" cy="541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ABM </a:t>
            </a:r>
            <a:r>
              <a:rPr lang="en-US" b="1" dirty="0">
                <a:highlight>
                  <a:srgbClr val="FFFF00"/>
                </a:highlight>
              </a:rPr>
              <a:t>flowchart</a:t>
            </a:r>
          </a:p>
          <a:p>
            <a:endParaRPr lang="en-US" sz="1500" b="1" dirty="0"/>
          </a:p>
          <a:p>
            <a:pPr>
              <a:lnSpc>
                <a:spcPct val="150000"/>
              </a:lnSpc>
            </a:pPr>
            <a:r>
              <a:rPr lang="en-US" sz="1500" b="1" dirty="0"/>
              <a:t>1. Assigning attributes to schools </a:t>
            </a:r>
            <a:r>
              <a:rPr lang="en-US" sz="1500" dirty="0"/>
              <a:t>(spatial location, ethnic and socioeconomic composition, admission grades, size, school capacity, and program supply)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2.</a:t>
            </a:r>
            <a:r>
              <a:rPr lang="en-US" sz="1500" dirty="0"/>
              <a:t> </a:t>
            </a:r>
            <a:r>
              <a:rPr lang="en-US" sz="1500" b="1" dirty="0"/>
              <a:t>Assigning attributes to students.</a:t>
            </a:r>
            <a:r>
              <a:rPr lang="en-US" sz="1500" dirty="0"/>
              <a:t> (ethnic background, family income, spatial location, grades, and students’ program preferences)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3. Ranking formation.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4. Students apply. 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b="1" dirty="0"/>
              <a:t>5. Allocation. </a:t>
            </a:r>
            <a:r>
              <a:rPr lang="en-US" sz="1500" dirty="0"/>
              <a:t>Once all the students´ rankings have been formed, students apply, and schools allocate them following any of the three priority rules.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6. Non-allocated students.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7. Enrollment in secondary schools. </a:t>
            </a:r>
            <a:r>
              <a:rPr lang="en-US" sz="1500" dirty="0"/>
              <a:t>Once all applicants are allocated across schools,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they start their 1st level of secondary education and current 3-level students at secondary schools are removed from the simulation.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8. Measuring school segregation.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9. </a:t>
            </a:r>
            <a:r>
              <a:rPr lang="en-US" sz="1500" dirty="0"/>
              <a:t>Steps 3-8 are repeated for 10 rounds.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298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02C5B8-D41F-0027-9857-45AB6A7E4CD0}"/>
              </a:ext>
            </a:extLst>
          </p:cNvPr>
          <p:cNvSpPr txBox="1"/>
          <p:nvPr/>
        </p:nvSpPr>
        <p:spPr>
          <a:xfrm>
            <a:off x="2797201" y="999908"/>
            <a:ext cx="7952961" cy="541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ABM flowchart</a:t>
            </a:r>
          </a:p>
          <a:p>
            <a:endParaRPr lang="en-US" sz="1500" b="1" dirty="0"/>
          </a:p>
          <a:p>
            <a:pPr>
              <a:lnSpc>
                <a:spcPct val="150000"/>
              </a:lnSpc>
            </a:pPr>
            <a:r>
              <a:rPr lang="en-US" sz="1500" b="1" dirty="0"/>
              <a:t>1. Assigning attributes to schools </a:t>
            </a:r>
            <a:r>
              <a:rPr lang="en-US" sz="1500" dirty="0"/>
              <a:t>(spatial location, ethnic and socioeconomic composition, admission grades, size, school capacity, and program supply)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2.</a:t>
            </a:r>
            <a:r>
              <a:rPr lang="en-US" sz="1500" dirty="0"/>
              <a:t> </a:t>
            </a:r>
            <a:r>
              <a:rPr lang="en-US" sz="1500" b="1" dirty="0"/>
              <a:t>Assigning attributes to students.</a:t>
            </a:r>
            <a:r>
              <a:rPr lang="en-US" sz="1500" dirty="0"/>
              <a:t> (ethnic background, family income, spatial location, grades, and students’ program preferences)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3. Ranking formation.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4. Students apply. 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500" b="1" dirty="0"/>
              <a:t>5. Allocation. </a:t>
            </a:r>
            <a:r>
              <a:rPr lang="en-US" sz="1500" dirty="0"/>
              <a:t>Once all the students´ rankings have been formed, students apply, and schools allocate them following any of the three priority rules.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6. Non-allocated students.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7. Enrollment in secondary schools. </a:t>
            </a:r>
            <a:r>
              <a:rPr lang="en-US" sz="1500" dirty="0"/>
              <a:t>Once all applicants are allocated across schools,</a:t>
            </a:r>
          </a:p>
          <a:p>
            <a:pPr>
              <a:lnSpc>
                <a:spcPct val="150000"/>
              </a:lnSpc>
            </a:pPr>
            <a:r>
              <a:rPr lang="en-US" sz="1500" dirty="0"/>
              <a:t>they start their 1st level of secondary education and current 3-level students at secondary schools are removed from the simulation.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8. Measuring school segregation. </a:t>
            </a:r>
          </a:p>
          <a:p>
            <a:pPr>
              <a:lnSpc>
                <a:spcPct val="150000"/>
              </a:lnSpc>
            </a:pPr>
            <a:r>
              <a:rPr lang="en-US" sz="1500" b="1" dirty="0"/>
              <a:t>9. </a:t>
            </a:r>
            <a:r>
              <a:rPr lang="en-US" sz="1500" dirty="0"/>
              <a:t>Steps 3-8 are repeated for 10 rounds.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E94BA-987D-62CE-8368-E8FB6463862C}"/>
              </a:ext>
            </a:extLst>
          </p:cNvPr>
          <p:cNvSpPr txBox="1"/>
          <p:nvPr/>
        </p:nvSpPr>
        <p:spPr>
          <a:xfrm>
            <a:off x="5678056" y="3059308"/>
            <a:ext cx="4151411" cy="17143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case of school oversubscription: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Grade-based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Distance-based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Random-based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B987645E-8BD4-70D4-9564-642EF19666E6}"/>
              </a:ext>
            </a:extLst>
          </p:cNvPr>
          <p:cNvSpPr/>
          <p:nvPr/>
        </p:nvSpPr>
        <p:spPr>
          <a:xfrm>
            <a:off x="5375242" y="2996922"/>
            <a:ext cx="605629" cy="1776766"/>
          </a:xfrm>
          <a:prstGeom prst="leftBrace">
            <a:avLst>
              <a:gd name="adj1" fmla="val 6122"/>
              <a:gd name="adj2" fmla="val 4909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776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555FC-427F-E447-B718-451A1673E4B5}"/>
              </a:ext>
            </a:extLst>
          </p:cNvPr>
          <p:cNvSpPr/>
          <p:nvPr/>
        </p:nvSpPr>
        <p:spPr>
          <a:xfrm>
            <a:off x="2797202" y="3248218"/>
            <a:ext cx="1005424" cy="51909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Ranking validation</a:t>
            </a:r>
          </a:p>
        </p:txBody>
      </p:sp>
    </p:spTree>
    <p:extLst>
      <p:ext uri="{BB962C8B-B14F-4D97-AF65-F5344CB8AC3E}">
        <p14:creationId xmlns:p14="http://schemas.microsoft.com/office/powerpoint/2010/main" val="2961916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B7EB65-DDDA-CC89-104D-8EDEC2C82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536" y="1397253"/>
            <a:ext cx="7962326" cy="47401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4555FC-427F-E447-B718-451A1673E4B5}"/>
              </a:ext>
            </a:extLst>
          </p:cNvPr>
          <p:cNvSpPr/>
          <p:nvPr/>
        </p:nvSpPr>
        <p:spPr>
          <a:xfrm>
            <a:off x="2797202" y="3248218"/>
            <a:ext cx="1005424" cy="51909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Ranking validation</a:t>
            </a:r>
          </a:p>
        </p:txBody>
      </p:sp>
    </p:spTree>
    <p:extLst>
      <p:ext uri="{BB962C8B-B14F-4D97-AF65-F5344CB8AC3E}">
        <p14:creationId xmlns:p14="http://schemas.microsoft.com/office/powerpoint/2010/main" val="3746457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F91FF1-F74A-CEA3-D2FB-6DF74696A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769" y="1718012"/>
            <a:ext cx="3868841" cy="3641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0E48D9-88A1-45D2-85E9-1AF224D92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150" y="1718012"/>
            <a:ext cx="3938712" cy="3868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94B94-7DD0-9676-DF60-86C375F284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311"/>
          <a:stretch/>
        </p:blipFill>
        <p:spPr>
          <a:xfrm>
            <a:off x="3706914" y="5462548"/>
            <a:ext cx="4778169" cy="247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558693-6C03-B9A5-7134-161E72D13B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272"/>
          <a:stretch/>
        </p:blipFill>
        <p:spPr>
          <a:xfrm>
            <a:off x="4803461" y="5813102"/>
            <a:ext cx="2310305" cy="24768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A6F3468-ADCE-0EB1-8678-EAD88F6644B2}"/>
              </a:ext>
            </a:extLst>
          </p:cNvPr>
          <p:cNvSpPr/>
          <p:nvPr/>
        </p:nvSpPr>
        <p:spPr>
          <a:xfrm>
            <a:off x="2797202" y="3248218"/>
            <a:ext cx="1005424" cy="51909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ABM validation</a:t>
            </a:r>
          </a:p>
        </p:txBody>
      </p:sp>
    </p:spTree>
    <p:extLst>
      <p:ext uri="{BB962C8B-B14F-4D97-AF65-F5344CB8AC3E}">
        <p14:creationId xmlns:p14="http://schemas.microsoft.com/office/powerpoint/2010/main" val="270491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065396-27D7-C119-845E-41E149468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205" y="764084"/>
            <a:ext cx="7215456" cy="55795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A9FDBB-8C12-96CC-6BC2-744A5DC3D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862" y="6258130"/>
            <a:ext cx="2113660" cy="598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076DAE-58EE-B7EC-ADAF-D66994556D26}"/>
              </a:ext>
            </a:extLst>
          </p:cNvPr>
          <p:cNvSpPr/>
          <p:nvPr/>
        </p:nvSpPr>
        <p:spPr>
          <a:xfrm>
            <a:off x="2797201" y="3248218"/>
            <a:ext cx="1083036" cy="98187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Students´</a:t>
            </a:r>
          </a:p>
          <a:p>
            <a:pPr algn="ctr"/>
            <a:r>
              <a:rPr lang="en-US" sz="1300" dirty="0"/>
              <a:t>ranking preferences</a:t>
            </a:r>
          </a:p>
        </p:txBody>
      </p:sp>
    </p:spTree>
    <p:extLst>
      <p:ext uri="{BB962C8B-B14F-4D97-AF65-F5344CB8AC3E}">
        <p14:creationId xmlns:p14="http://schemas.microsoft.com/office/powerpoint/2010/main" val="30149137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126814-33EE-585B-985E-C150B438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219"/>
          <a:stretch/>
        </p:blipFill>
        <p:spPr>
          <a:xfrm>
            <a:off x="2520562" y="1164500"/>
            <a:ext cx="3252085" cy="1545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46D30C-45E9-AFA6-FBE2-4F917687B5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096" b="49019"/>
          <a:stretch/>
        </p:blipFill>
        <p:spPr>
          <a:xfrm>
            <a:off x="3033985" y="2710285"/>
            <a:ext cx="2738662" cy="400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90F9F6-E72A-AC58-D40D-4A7C80CC0D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7206" b="12992"/>
          <a:stretch/>
        </p:blipFill>
        <p:spPr>
          <a:xfrm>
            <a:off x="2898793" y="837863"/>
            <a:ext cx="2818195" cy="326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9FAD72-D320-9BAB-6278-EAAB1EB64B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18" t="61879" r="27929" b="-1434"/>
          <a:stretch/>
        </p:blipFill>
        <p:spPr>
          <a:xfrm>
            <a:off x="2582467" y="3016425"/>
            <a:ext cx="3641698" cy="31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7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126814-33EE-585B-985E-C150B4388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62" y="1164500"/>
            <a:ext cx="9350154" cy="1545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46D30C-45E9-AFA6-FBE2-4F917687B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985" y="2710284"/>
            <a:ext cx="8323306" cy="525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90F9F6-E72A-AC58-D40D-4A7C80CC0D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992"/>
          <a:stretch/>
        </p:blipFill>
        <p:spPr>
          <a:xfrm>
            <a:off x="2898793" y="837863"/>
            <a:ext cx="8593689" cy="3266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81CDB-944B-DDCA-DFD3-DEB1DC598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943" y="3209947"/>
            <a:ext cx="6642549" cy="360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497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42FD5-4A05-474A-8FEB-25680F9A3818}"/>
              </a:ext>
            </a:extLst>
          </p:cNvPr>
          <p:cNvSpPr/>
          <p:nvPr/>
        </p:nvSpPr>
        <p:spPr>
          <a:xfrm>
            <a:off x="119269" y="286248"/>
            <a:ext cx="2401293" cy="6081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8C59D-C8B8-A1FA-ECF7-43841A1814E2}"/>
              </a:ext>
            </a:extLst>
          </p:cNvPr>
          <p:cNvSpPr txBox="1"/>
          <p:nvPr/>
        </p:nvSpPr>
        <p:spPr>
          <a:xfrm>
            <a:off x="304136" y="2579018"/>
            <a:ext cx="199378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Empirically Calibrated Agent-Based Modeling (ECABM) in the Social Sciences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74E7-FD18-2E5E-A45A-BB618B615F3D}"/>
              </a:ext>
            </a:extLst>
          </p:cNvPr>
          <p:cNvSpPr txBox="1"/>
          <p:nvPr/>
        </p:nvSpPr>
        <p:spPr>
          <a:xfrm>
            <a:off x="304138" y="497998"/>
            <a:ext cx="199378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Söhne"/>
              </a:rPr>
              <a:t>Agent-Based Modeling (ABM) in the Social Sciences</a:t>
            </a:r>
          </a:p>
          <a:p>
            <a:pPr algn="just"/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1BF26-9BD9-5D9C-FD1F-81EE69DC5ECF}"/>
              </a:ext>
            </a:extLst>
          </p:cNvPr>
          <p:cNvSpPr txBox="1"/>
          <p:nvPr/>
        </p:nvSpPr>
        <p:spPr>
          <a:xfrm>
            <a:off x="304135" y="4660038"/>
            <a:ext cx="199379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Application: </a:t>
            </a:r>
          </a:p>
          <a:p>
            <a:pPr algn="just"/>
            <a:endParaRPr lang="en-US" b="1" dirty="0">
              <a:solidFill>
                <a:srgbClr val="FF0000"/>
              </a:solidFill>
              <a:highlight>
                <a:srgbClr val="FFFFFF"/>
              </a:highlight>
              <a:latin typeface="Söhne"/>
            </a:endParaRPr>
          </a:p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Schools' Priority Rules and Ethnic School Segregation</a:t>
            </a:r>
            <a:endParaRPr lang="en-US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35F61-A263-C237-BD48-2FF845E8193A}"/>
              </a:ext>
            </a:extLst>
          </p:cNvPr>
          <p:cNvSpPr txBox="1"/>
          <p:nvPr/>
        </p:nvSpPr>
        <p:spPr>
          <a:xfrm>
            <a:off x="2797202" y="363974"/>
            <a:ext cx="6597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Schools’ priority rules and ethnic school segregation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B91DA-150C-3E9C-6E41-FA096306FBE2}"/>
              </a:ext>
            </a:extLst>
          </p:cNvPr>
          <p:cNvSpPr txBox="1"/>
          <p:nvPr/>
        </p:nvSpPr>
        <p:spPr>
          <a:xfrm>
            <a:off x="2797202" y="1021168"/>
            <a:ext cx="751564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Conclusions </a:t>
            </a:r>
          </a:p>
          <a:p>
            <a:endParaRPr lang="en-US" sz="1500" b="1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endParaRPr lang="en-US" sz="1500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Grade-based and distance-based priority rules intensify school segregation compared with a random-based criterion. We show that both criteria increase segregation through distinct mechanisms.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In the grade-based priority, the grade disparity between ethnic groups and the school-ethnic-composition hierarchy of native students are responsible for this effect.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In home-proximity assignments and the correlation between school and residential segregation explain the increase in the distance-based criterion.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Finally, the use of empirical data on ABMs depends to a large extent on the use of the ABMs results</a:t>
            </a:r>
          </a:p>
        </p:txBody>
      </p:sp>
    </p:spTree>
    <p:extLst>
      <p:ext uri="{BB962C8B-B14F-4D97-AF65-F5344CB8AC3E}">
        <p14:creationId xmlns:p14="http://schemas.microsoft.com/office/powerpoint/2010/main" val="4119059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Props1.xml><?xml version="1.0" encoding="utf-8"?>
<ds:datastoreItem xmlns:ds="http://schemas.openxmlformats.org/officeDocument/2006/customXml" ds:itemID="{A10253FC-CD57-4819-80EA-A92F4FEEEB55}"/>
</file>

<file path=customXml/itemProps2.xml><?xml version="1.0" encoding="utf-8"?>
<ds:datastoreItem xmlns:ds="http://schemas.openxmlformats.org/officeDocument/2006/customXml" ds:itemID="{AF72FCD7-C73D-4E53-854D-C87C60B1DFC6}"/>
</file>

<file path=customXml/itemProps3.xml><?xml version="1.0" encoding="utf-8"?>
<ds:datastoreItem xmlns:ds="http://schemas.openxmlformats.org/officeDocument/2006/customXml" ds:itemID="{C242529E-3D5D-4AB9-89F7-9BBB029AA0BD}"/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3257</Words>
  <Application>Microsoft Office PowerPoint</Application>
  <PresentationFormat>Widescreen</PresentationFormat>
  <Paragraphs>672</Paragraphs>
  <Slides>44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Aptos Display</vt:lpstr>
      <vt:lpstr>Arial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Eduardo Tapia</cp:lastModifiedBy>
  <cp:revision>60</cp:revision>
  <dcterms:created xsi:type="dcterms:W3CDTF">2024-04-08T09:23:21Z</dcterms:created>
  <dcterms:modified xsi:type="dcterms:W3CDTF">2026-03-11T15:56:08Z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