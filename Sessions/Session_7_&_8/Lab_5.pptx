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411" r:id="rId3"/>
    <p:sldId id="399" r:id="rId4"/>
    <p:sldId id="387" r:id="rId5"/>
    <p:sldId id="407" r:id="rId6"/>
    <p:sldId id="402" r:id="rId7"/>
    <p:sldId id="388" r:id="rId8"/>
    <p:sldId id="405" r:id="rId9"/>
    <p:sldId id="408" r:id="rId10"/>
    <p:sldId id="404" r:id="rId11"/>
    <p:sldId id="396" r:id="rId12"/>
    <p:sldId id="4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17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66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7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99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8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5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2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4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4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90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9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6E59B-7513-4EDE-B2E2-29438AA372F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5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611" y="878861"/>
            <a:ext cx="11660777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6000" dirty="0">
                <a:solidFill>
                  <a:schemeClr val="bg1"/>
                </a:solidFill>
              </a:rPr>
              <a:t>NetLogo </a:t>
            </a:r>
          </a:p>
          <a:p>
            <a:pPr algn="ctr"/>
            <a:r>
              <a:rPr lang="sv-SE" sz="6000" dirty="0">
                <a:solidFill>
                  <a:schemeClr val="bg1"/>
                </a:solidFill>
              </a:rPr>
              <a:t>7.0</a:t>
            </a:r>
          </a:p>
        </p:txBody>
      </p:sp>
    </p:spTree>
    <p:extLst>
      <p:ext uri="{BB962C8B-B14F-4D97-AF65-F5344CB8AC3E}">
        <p14:creationId xmlns:p14="http://schemas.microsoft.com/office/powerpoint/2010/main" val="339351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2047164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3939" y="1895950"/>
            <a:ext cx="1641540" cy="93871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sv-SE" sz="5500" dirty="0"/>
              <a:t>LISTS</a:t>
            </a:r>
            <a:endParaRPr lang="en-US" sz="55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DD4482-ED04-4CF4-B4FA-05845416BE28}"/>
              </a:ext>
            </a:extLst>
          </p:cNvPr>
          <p:cNvSpPr/>
          <p:nvPr/>
        </p:nvSpPr>
        <p:spPr>
          <a:xfrm>
            <a:off x="3415044" y="3546612"/>
            <a:ext cx="3658855" cy="231641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/>
              <a:t>Let’s</a:t>
            </a:r>
            <a:r>
              <a:rPr lang="sv-SE" sz="2800" dirty="0"/>
              <a:t> go to NetLogo!!!</a:t>
            </a:r>
          </a:p>
          <a:p>
            <a:pPr algn="ctr"/>
            <a:r>
              <a:rPr lang="en-US" sz="2800" dirty="0"/>
              <a:t>File: lab5_1.Nlogo</a:t>
            </a:r>
          </a:p>
        </p:txBody>
      </p:sp>
    </p:spTree>
    <p:extLst>
      <p:ext uri="{BB962C8B-B14F-4D97-AF65-F5344CB8AC3E}">
        <p14:creationId xmlns:p14="http://schemas.microsoft.com/office/powerpoint/2010/main" val="309379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49673" y="2085285"/>
            <a:ext cx="4729020" cy="290396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/>
              <a:t>Let’s</a:t>
            </a:r>
            <a:r>
              <a:rPr lang="sv-SE" sz="2800" dirty="0"/>
              <a:t> go to NetLogo!!!</a:t>
            </a:r>
          </a:p>
          <a:p>
            <a:pPr algn="ctr"/>
            <a:r>
              <a:rPr lang="en-US" sz="2800" dirty="0"/>
              <a:t>File: lab5_2.Nlogo</a:t>
            </a:r>
          </a:p>
        </p:txBody>
      </p:sp>
      <p:pic>
        <p:nvPicPr>
          <p:cNvPr id="9" name="Picture 2" descr="Image result for crazy comp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301" y="2768213"/>
            <a:ext cx="2740026" cy="176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058DFC-E799-46CA-A7DF-1607ED0FD17C}"/>
              </a:ext>
            </a:extLst>
          </p:cNvPr>
          <p:cNvSpPr/>
          <p:nvPr/>
        </p:nvSpPr>
        <p:spPr>
          <a:xfrm>
            <a:off x="2175420" y="1151863"/>
            <a:ext cx="2738763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3300" dirty="0" err="1"/>
              <a:t>Importing</a:t>
            </a:r>
            <a:r>
              <a:rPr lang="sv-SE" sz="330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193489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2047164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>
                <a:solidFill>
                  <a:schemeClr val="bg1"/>
                </a:solidFill>
              </a:rPr>
              <a:t>R. Axelrod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742"/>
          <a:stretch/>
        </p:blipFill>
        <p:spPr>
          <a:xfrm>
            <a:off x="2047164" y="926874"/>
            <a:ext cx="7536320" cy="1582759"/>
          </a:xfrm>
          <a:prstGeom prst="rect">
            <a:avLst/>
          </a:prstGeom>
        </p:spPr>
      </p:pic>
      <p:pic>
        <p:nvPicPr>
          <p:cNvPr id="3" name="Picture 2" descr="Image result for robert axelrod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8830" y="4010034"/>
            <a:ext cx="1660617" cy="2340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4D5241B-306A-4B7B-892E-4A92AA46E4A1}"/>
              </a:ext>
            </a:extLst>
          </p:cNvPr>
          <p:cNvSpPr/>
          <p:nvPr/>
        </p:nvSpPr>
        <p:spPr>
          <a:xfrm>
            <a:off x="2253334" y="2858664"/>
            <a:ext cx="9503587" cy="28890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-88900">
              <a:lnSpc>
                <a:spcPct val="107000"/>
              </a:lnSpc>
              <a:spcAft>
                <a:spcPts val="800"/>
              </a:spcAft>
            </a:pPr>
            <a:r>
              <a:rPr lang="en-US" sz="19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Puzzle:</a:t>
            </a:r>
            <a:endParaRPr lang="sv-SE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9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highly heterogeneous persons are constantly interacting all the time, why do not ending up sharing the same culture (beliefs, attitudes, behavior, etc.)? Why do not get homogeneous?</a:t>
            </a:r>
            <a:endParaRPr lang="sv-SE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9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Previous explanations:</a:t>
            </a:r>
            <a:endParaRPr lang="sv-SE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9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Social differentiation: Group members want to keep distances from other groups.</a:t>
            </a:r>
            <a:endParaRPr lang="sv-SE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9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Fads and fashions: some persons want to be different from others.</a:t>
            </a:r>
            <a:endParaRPr lang="sv-SE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9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Geographic isolation</a:t>
            </a:r>
            <a:endParaRPr lang="sv-SE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0D918B-0087-4156-8035-BBB19972966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7194" t="2954" b="40887"/>
          <a:stretch/>
        </p:blipFill>
        <p:spPr>
          <a:xfrm>
            <a:off x="8618376" y="671804"/>
            <a:ext cx="965108" cy="140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934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2047164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>
                <a:solidFill>
                  <a:schemeClr val="bg1"/>
                </a:solidFill>
              </a:rPr>
              <a:t>R. Axelrod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742"/>
          <a:stretch/>
        </p:blipFill>
        <p:spPr>
          <a:xfrm>
            <a:off x="2047164" y="926874"/>
            <a:ext cx="7536320" cy="1582759"/>
          </a:xfrm>
          <a:prstGeom prst="rect">
            <a:avLst/>
          </a:prstGeom>
        </p:spPr>
      </p:pic>
      <p:pic>
        <p:nvPicPr>
          <p:cNvPr id="3" name="Picture 2" descr="Image result for robert axelrod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8830" y="4010034"/>
            <a:ext cx="1660617" cy="2340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0D918B-0087-4156-8035-BBB19972966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7194" t="2954" b="40887"/>
          <a:stretch/>
        </p:blipFill>
        <p:spPr>
          <a:xfrm>
            <a:off x="8618376" y="671804"/>
            <a:ext cx="965108" cy="140512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7AE8B2F-007C-4644-A1DE-F2A68AE6AB4E}"/>
              </a:ext>
            </a:extLst>
          </p:cNvPr>
          <p:cNvSpPr/>
          <p:nvPr/>
        </p:nvSpPr>
        <p:spPr>
          <a:xfrm>
            <a:off x="2522375" y="2748735"/>
            <a:ext cx="8218195" cy="1847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However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previous explanations do not consider “the fundamental principle of human communication”: the transfer of ideas occurs most frequently between individuals who are similar in their culture. </a:t>
            </a:r>
            <a:endParaRPr lang="sv-SE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So, similarity among people fosters the interaction among them.</a:t>
            </a:r>
            <a:endParaRPr lang="sv-SE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And, the more people interact with each other, the more similar they become.</a:t>
            </a:r>
            <a:endParaRPr lang="sv-SE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21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2047164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>
                <a:solidFill>
                  <a:schemeClr val="bg1"/>
                </a:solidFill>
              </a:rPr>
              <a:t>R. Axelrod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742"/>
          <a:stretch/>
        </p:blipFill>
        <p:spPr>
          <a:xfrm>
            <a:off x="2047164" y="926874"/>
            <a:ext cx="7536320" cy="1582759"/>
          </a:xfrm>
          <a:prstGeom prst="rect">
            <a:avLst/>
          </a:prstGeom>
        </p:spPr>
      </p:pic>
      <p:pic>
        <p:nvPicPr>
          <p:cNvPr id="3" name="Picture 2" descr="Image result for robert axelrod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8830" y="4010034"/>
            <a:ext cx="1660617" cy="2340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0D918B-0087-4156-8035-BBB19972966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7194" t="2954" b="40887"/>
          <a:stretch/>
        </p:blipFill>
        <p:spPr>
          <a:xfrm>
            <a:off x="8618376" y="671804"/>
            <a:ext cx="965108" cy="140512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C25C73-D551-4944-9EB9-DACB7A3AA2C0}"/>
              </a:ext>
            </a:extLst>
          </p:cNvPr>
          <p:cNvSpPr/>
          <p:nvPr/>
        </p:nvSpPr>
        <p:spPr>
          <a:xfrm>
            <a:off x="2255994" y="3093937"/>
            <a:ext cx="9474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Assumptions:</a:t>
            </a:r>
          </a:p>
          <a:p>
            <a:endParaRPr lang="en-US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Culture is composed of many features/attributes. Each of them has different traits.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The change of one feature depends on the presence or absence of another.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There is a random distribution of traits for each cultural attribute.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Agents can only interact with adjacent neighbors</a:t>
            </a:r>
            <a:endParaRPr lang="sv-SE" sz="1900" dirty="0"/>
          </a:p>
        </p:txBody>
      </p:sp>
    </p:spTree>
    <p:extLst>
      <p:ext uri="{BB962C8B-B14F-4D97-AF65-F5344CB8AC3E}">
        <p14:creationId xmlns:p14="http://schemas.microsoft.com/office/powerpoint/2010/main" val="725525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2047164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>
                <a:solidFill>
                  <a:schemeClr val="bg1"/>
                </a:solidFill>
              </a:rPr>
              <a:t>R. Axelrod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3" name="Picture 2" descr="Image result for robert axelrod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5563" y="4055057"/>
            <a:ext cx="1628252" cy="229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99511" y="1316051"/>
            <a:ext cx="7368743" cy="16454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295706"/>
              </p:ext>
            </p:extLst>
          </p:nvPr>
        </p:nvGraphicFramePr>
        <p:xfrm>
          <a:off x="3883932" y="4261784"/>
          <a:ext cx="301819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610"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0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943551"/>
              </p:ext>
            </p:extLst>
          </p:nvPr>
        </p:nvGraphicFramePr>
        <p:xfrm>
          <a:off x="3883930" y="4747947"/>
          <a:ext cx="301819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610"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0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222434"/>
              </p:ext>
            </p:extLst>
          </p:nvPr>
        </p:nvGraphicFramePr>
        <p:xfrm>
          <a:off x="3883930" y="5643777"/>
          <a:ext cx="301819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610"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0</a:t>
                      </a:r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94017" y="4204018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(A)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894017" y="476255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(B)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894017" y="5632415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(A)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108988" y="5632415"/>
            <a:ext cx="238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&lt;- After the interaction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6059" y="5183374"/>
            <a:ext cx="3133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of interaction =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9511" y="1036562"/>
            <a:ext cx="2124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Model specification: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E863BE1-1E3E-4B09-ABD7-333C456F9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598440"/>
              </p:ext>
            </p:extLst>
          </p:nvPr>
        </p:nvGraphicFramePr>
        <p:xfrm>
          <a:off x="3883929" y="3394456"/>
          <a:ext cx="3018195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433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568FE15-A18A-4418-95AF-18798F8C6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211391"/>
              </p:ext>
            </p:extLst>
          </p:nvPr>
        </p:nvGraphicFramePr>
        <p:xfrm>
          <a:off x="3883927" y="2999135"/>
          <a:ext cx="301819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8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610">
                <a:tc>
                  <a:txBody>
                    <a:bodyPr/>
                    <a:lstStyle/>
                    <a:p>
                      <a:pPr algn="ctr"/>
                      <a:r>
                        <a:rPr lang="sv-SE" dirty="0" err="1"/>
                        <a:t>Cultural</a:t>
                      </a:r>
                      <a:r>
                        <a:rPr lang="sv-SE" dirty="0"/>
                        <a:t> features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7958B3D-5237-4A26-9E13-CCE2D8B74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513608"/>
              </p:ext>
            </p:extLst>
          </p:nvPr>
        </p:nvGraphicFramePr>
        <p:xfrm>
          <a:off x="3883928" y="3683583"/>
          <a:ext cx="301819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61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diet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Organization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Social norms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Arrow: Down 1">
            <a:extLst>
              <a:ext uri="{FF2B5EF4-FFF2-40B4-BE49-F238E27FC236}">
                <a16:creationId xmlns:a16="http://schemas.microsoft.com/office/drawing/2014/main" id="{B5EA055D-0D68-42F3-81A0-C50D5DEC52B2}"/>
              </a:ext>
            </a:extLst>
          </p:cNvPr>
          <p:cNvSpPr/>
          <p:nvPr/>
        </p:nvSpPr>
        <p:spPr>
          <a:xfrm>
            <a:off x="4105865" y="4082943"/>
            <a:ext cx="187569" cy="14023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7EE6A743-04C6-45A6-9B96-758B599D3A45}"/>
              </a:ext>
            </a:extLst>
          </p:cNvPr>
          <p:cNvSpPr/>
          <p:nvPr/>
        </p:nvSpPr>
        <p:spPr>
          <a:xfrm>
            <a:off x="4720493" y="4082943"/>
            <a:ext cx="187569" cy="14023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571F9E7-DE75-4EB9-9EED-092B0989920A}"/>
              </a:ext>
            </a:extLst>
          </p:cNvPr>
          <p:cNvSpPr/>
          <p:nvPr/>
        </p:nvSpPr>
        <p:spPr>
          <a:xfrm>
            <a:off x="5299239" y="4082943"/>
            <a:ext cx="187569" cy="14023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9A5B93A2-4884-4FB1-A410-A0EA23A7CAE9}"/>
              </a:ext>
            </a:extLst>
          </p:cNvPr>
          <p:cNvSpPr/>
          <p:nvPr/>
        </p:nvSpPr>
        <p:spPr>
          <a:xfrm>
            <a:off x="5877985" y="4084706"/>
            <a:ext cx="187569" cy="14023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74C46D93-7822-428E-9AF5-0C149D0D6088}"/>
              </a:ext>
            </a:extLst>
          </p:cNvPr>
          <p:cNvSpPr/>
          <p:nvPr/>
        </p:nvSpPr>
        <p:spPr>
          <a:xfrm>
            <a:off x="6517625" y="4079934"/>
            <a:ext cx="187569" cy="14023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EF653A2-8EC5-4A45-AF64-0F95C61BA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999445"/>
              </p:ext>
            </p:extLst>
          </p:nvPr>
        </p:nvGraphicFramePr>
        <p:xfrm>
          <a:off x="7675117" y="4022924"/>
          <a:ext cx="301819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8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610">
                <a:tc>
                  <a:txBody>
                    <a:bodyPr/>
                    <a:lstStyle/>
                    <a:p>
                      <a:pPr algn="ctr"/>
                      <a:r>
                        <a:rPr lang="sv-SE" dirty="0" err="1"/>
                        <a:t>Traits</a:t>
                      </a:r>
                      <a:r>
                        <a:rPr lang="sv-SE" dirty="0"/>
                        <a:t> per features</a:t>
                      </a:r>
                      <a:endParaRPr 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28A13D13-D528-4599-B383-9CD442626C5D}"/>
              </a:ext>
            </a:extLst>
          </p:cNvPr>
          <p:cNvCxnSpPr>
            <a:cxnSpLocks/>
          </p:cNvCxnSpPr>
          <p:nvPr/>
        </p:nvCxnSpPr>
        <p:spPr>
          <a:xfrm flipV="1">
            <a:off x="6705194" y="4204018"/>
            <a:ext cx="852283" cy="240646"/>
          </a:xfrm>
          <a:prstGeom prst="curvedConnector3">
            <a:avLst>
              <a:gd name="adj1" fmla="val -43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6833B05B-EBD6-4FAC-8B1C-9EB115486948}"/>
              </a:ext>
            </a:extLst>
          </p:cNvPr>
          <p:cNvCxnSpPr>
            <a:cxnSpLocks/>
          </p:cNvCxnSpPr>
          <p:nvPr/>
        </p:nvCxnSpPr>
        <p:spPr>
          <a:xfrm flipV="1">
            <a:off x="6705194" y="4324341"/>
            <a:ext cx="852283" cy="571983"/>
          </a:xfrm>
          <a:prstGeom prst="curvedConnector3">
            <a:avLst>
              <a:gd name="adj1" fmla="val 781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B9BA173-5308-40A3-8E9E-3F520486CBD9}"/>
              </a:ext>
            </a:extLst>
          </p:cNvPr>
          <p:cNvSpPr txBox="1"/>
          <p:nvPr/>
        </p:nvSpPr>
        <p:spPr>
          <a:xfrm>
            <a:off x="6959994" y="5172617"/>
            <a:ext cx="2044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&lt;- cultural similarity</a:t>
            </a:r>
          </a:p>
        </p:txBody>
      </p:sp>
    </p:spTree>
    <p:extLst>
      <p:ext uri="{BB962C8B-B14F-4D97-AF65-F5344CB8AC3E}">
        <p14:creationId xmlns:p14="http://schemas.microsoft.com/office/powerpoint/2010/main" val="3174972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2047164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>
                <a:solidFill>
                  <a:schemeClr val="bg1"/>
                </a:solidFill>
              </a:rPr>
              <a:t>R. Axelrod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3" name="Picture 2" descr="Image result for robert axelrod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5563" y="4055057"/>
            <a:ext cx="1628252" cy="229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2199511" y="1036562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Model output: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B33B4-446A-48BC-BB1C-40549293E26E}"/>
              </a:ext>
            </a:extLst>
          </p:cNvPr>
          <p:cNvSpPr/>
          <p:nvPr/>
        </p:nvSpPr>
        <p:spPr>
          <a:xfrm>
            <a:off x="2199511" y="1746068"/>
            <a:ext cx="6096000" cy="258814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“Number of stable regions”.</a:t>
            </a:r>
            <a:endParaRPr lang="sv-S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“Region” -&gt;  groups of agents who share the same traits features.</a:t>
            </a:r>
            <a:endParaRPr lang="sv-S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“Stable regions” -&gt; resulting patterns where any new modification in the model is impossible because agents are so much equal or so much different than a new interaction becomes impossible.</a:t>
            </a:r>
            <a:endParaRPr lang="sv-S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940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49673" y="2085285"/>
            <a:ext cx="4729020" cy="290396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/>
              <a:t>Let’s</a:t>
            </a:r>
            <a:r>
              <a:rPr lang="sv-SE" sz="2800" dirty="0"/>
              <a:t> go to NetLogo!!!</a:t>
            </a:r>
          </a:p>
          <a:p>
            <a:pPr algn="ctr"/>
            <a:r>
              <a:rPr lang="en-US" sz="2800" dirty="0"/>
              <a:t>File: lab5_3.Nlogo</a:t>
            </a:r>
          </a:p>
        </p:txBody>
      </p:sp>
      <p:pic>
        <p:nvPicPr>
          <p:cNvPr id="9" name="Picture 2" descr="Image result for crazy comp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301" y="2768213"/>
            <a:ext cx="2740026" cy="176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331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2047164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>
                <a:solidFill>
                  <a:schemeClr val="bg1"/>
                </a:solidFill>
              </a:rPr>
              <a:t>R. Axelrod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3" name="Picture 2" descr="Image result for robert axelrod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5563" y="4055057"/>
            <a:ext cx="1628252" cy="229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2199511" y="1036562"/>
            <a:ext cx="1494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Model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4BD12-CBB7-41B8-A9F8-529D20880EC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73088" y="2200271"/>
            <a:ext cx="5869492" cy="18547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184FCFB-F511-4934-B1E6-0BB37CEA9167}"/>
              </a:ext>
            </a:extLst>
          </p:cNvPr>
          <p:cNvSpPr/>
          <p:nvPr/>
        </p:nvSpPr>
        <p:spPr>
          <a:xfrm>
            <a:off x="2489200" y="4576349"/>
            <a:ext cx="7620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Main </a:t>
            </a:r>
            <a:r>
              <a:rPr lang="sv-SE" dirty="0" err="1"/>
              <a:t>results</a:t>
            </a:r>
            <a:r>
              <a:rPr lang="sv-SE" dirty="0"/>
              <a:t>: (1) the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cultural</a:t>
            </a:r>
            <a:r>
              <a:rPr lang="sv-SE" dirty="0"/>
              <a:t> features, the </a:t>
            </a:r>
            <a:r>
              <a:rPr lang="sv-SE" dirty="0" err="1"/>
              <a:t>greater</a:t>
            </a:r>
            <a:r>
              <a:rPr lang="sv-SE" dirty="0"/>
              <a:t> the </a:t>
            </a:r>
            <a:r>
              <a:rPr lang="sv-SE" dirty="0" err="1"/>
              <a:t>convergence</a:t>
            </a:r>
            <a:r>
              <a:rPr lang="sv-SE" dirty="0"/>
              <a:t>, (2) the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traits</a:t>
            </a:r>
            <a:r>
              <a:rPr lang="sv-SE" dirty="0"/>
              <a:t> for features, the </a:t>
            </a:r>
            <a:r>
              <a:rPr lang="sv-SE" dirty="0" err="1"/>
              <a:t>greater</a:t>
            </a:r>
            <a:r>
              <a:rPr lang="sv-SE" dirty="0"/>
              <a:t> the </a:t>
            </a:r>
            <a:r>
              <a:rPr lang="sv-SE" dirty="0" err="1"/>
              <a:t>number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subcultures</a:t>
            </a:r>
            <a:r>
              <a:rPr lang="sv-SE" dirty="0"/>
              <a:t>.</a:t>
            </a:r>
          </a:p>
          <a:p>
            <a:endParaRPr lang="sv-SE" dirty="0"/>
          </a:p>
          <a:p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generally</a:t>
            </a:r>
            <a:r>
              <a:rPr lang="sv-SE" dirty="0"/>
              <a:t>: </a:t>
            </a:r>
            <a:r>
              <a:rPr lang="sv-SE" dirty="0" err="1"/>
              <a:t>macro</a:t>
            </a:r>
            <a:r>
              <a:rPr lang="sv-SE" dirty="0"/>
              <a:t> </a:t>
            </a:r>
            <a:r>
              <a:rPr lang="sv-SE" dirty="0" err="1"/>
              <a:t>polarization</a:t>
            </a:r>
            <a:r>
              <a:rPr lang="sv-SE" dirty="0"/>
              <a:t> </a:t>
            </a:r>
            <a:r>
              <a:rPr lang="sv-SE" dirty="0" err="1"/>
              <a:t>takes</a:t>
            </a:r>
            <a:r>
              <a:rPr lang="sv-SE" dirty="0"/>
              <a:t> </a:t>
            </a:r>
            <a:r>
              <a:rPr lang="sv-SE" dirty="0" err="1"/>
              <a:t>place</a:t>
            </a:r>
            <a:r>
              <a:rPr lang="sv-SE" dirty="0"/>
              <a:t> </a:t>
            </a:r>
            <a:r>
              <a:rPr lang="sv-SE" dirty="0" err="1"/>
              <a:t>even</a:t>
            </a:r>
            <a:r>
              <a:rPr lang="sv-SE" dirty="0"/>
              <a:t> </a:t>
            </a:r>
            <a:r>
              <a:rPr lang="sv-SE" dirty="0" err="1"/>
              <a:t>when</a:t>
            </a:r>
            <a:r>
              <a:rPr lang="sv-SE" dirty="0"/>
              <a:t> the </a:t>
            </a:r>
            <a:r>
              <a:rPr lang="sv-SE" dirty="0" err="1"/>
              <a:t>micro-behavior</a:t>
            </a:r>
            <a:r>
              <a:rPr lang="sv-SE" dirty="0"/>
              <a:t> </a:t>
            </a:r>
            <a:r>
              <a:rPr lang="sv-SE" dirty="0" err="1"/>
              <a:t>aims</a:t>
            </a:r>
            <a:r>
              <a:rPr lang="sv-SE" dirty="0"/>
              <a:t> </a:t>
            </a:r>
            <a:r>
              <a:rPr lang="sv-SE" dirty="0" err="1"/>
              <a:t>convergence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18253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2047164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>
                <a:solidFill>
                  <a:schemeClr val="bg1"/>
                </a:solidFill>
              </a:rPr>
              <a:t>R. Axelrod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3" name="Picture 2" descr="Image result for robert axelrod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5563" y="4055057"/>
            <a:ext cx="1628252" cy="229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A3A52C-FE37-41B9-A42F-2E2BBA137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736" y="2312687"/>
            <a:ext cx="1892826" cy="18928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C6AB149-8719-4833-AABE-C68DA5697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2442" y="2312687"/>
            <a:ext cx="1892826" cy="18928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0F6160-7768-4E03-A80D-FAD95CE978F1}"/>
              </a:ext>
            </a:extLst>
          </p:cNvPr>
          <p:cNvSpPr txBox="1"/>
          <p:nvPr/>
        </p:nvSpPr>
        <p:spPr>
          <a:xfrm>
            <a:off x="4783861" y="190670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Tick =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A3AA8E-5F29-4B4C-9777-18E50223795D}"/>
              </a:ext>
            </a:extLst>
          </p:cNvPr>
          <p:cNvSpPr txBox="1"/>
          <p:nvPr/>
        </p:nvSpPr>
        <p:spPr>
          <a:xfrm>
            <a:off x="6878661" y="190670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Tick = 1 490 021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5F26D0-970C-440C-A7AD-F2C656ED2E77}"/>
              </a:ext>
            </a:extLst>
          </p:cNvPr>
          <p:cNvSpPr txBox="1"/>
          <p:nvPr/>
        </p:nvSpPr>
        <p:spPr>
          <a:xfrm>
            <a:off x="5509906" y="4645495"/>
            <a:ext cx="2347660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300" b="1" dirty="0"/>
              <a:t>Setup: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300" dirty="0" err="1"/>
              <a:t>Cultural</a:t>
            </a:r>
            <a:r>
              <a:rPr lang="sv-SE" sz="1300" dirty="0"/>
              <a:t> features =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300" dirty="0" err="1"/>
              <a:t>Traits</a:t>
            </a:r>
            <a:r>
              <a:rPr lang="sv-SE" sz="1300" dirty="0"/>
              <a:t> per features =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300" dirty="0"/>
              <a:t>World </a:t>
            </a:r>
            <a:r>
              <a:rPr lang="sv-SE" sz="1300" dirty="0" err="1"/>
              <a:t>size</a:t>
            </a:r>
            <a:r>
              <a:rPr lang="sv-SE" sz="1300" dirty="0"/>
              <a:t> = 20 X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300" dirty="0"/>
              <a:t>4 </a:t>
            </a:r>
            <a:r>
              <a:rPr lang="sv-SE" sz="1300" dirty="0" err="1"/>
              <a:t>Neighborhoods</a:t>
            </a:r>
            <a:endParaRPr lang="sv-SE" sz="1300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16215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2047164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>
                <a:solidFill>
                  <a:schemeClr val="bg1"/>
                </a:solidFill>
              </a:rPr>
              <a:t>R. Axelrod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3" name="Picture 2" descr="Image result for robert axelrod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5563" y="4055057"/>
            <a:ext cx="1628252" cy="229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F595913-1D6A-41DF-A38A-D232DF42DCB8}"/>
              </a:ext>
            </a:extLst>
          </p:cNvPr>
          <p:cNvSpPr/>
          <p:nvPr/>
        </p:nvSpPr>
        <p:spPr>
          <a:xfrm>
            <a:off x="2255994" y="1713074"/>
            <a:ext cx="4083048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500" dirty="0"/>
              <a:t>“intuition is not a </a:t>
            </a:r>
            <a:r>
              <a:rPr lang="sv-SE" sz="2500" dirty="0" err="1"/>
              <a:t>very</a:t>
            </a:r>
            <a:r>
              <a:rPr lang="sv-SE" sz="2500" dirty="0"/>
              <a:t> </a:t>
            </a:r>
            <a:r>
              <a:rPr lang="sv-SE" sz="2500" dirty="0" err="1"/>
              <a:t>good</a:t>
            </a:r>
            <a:r>
              <a:rPr lang="sv-SE" sz="2500" dirty="0"/>
              <a:t> guide for </a:t>
            </a:r>
            <a:r>
              <a:rPr lang="sv-SE" sz="2500" dirty="0" err="1"/>
              <a:t>predicting</a:t>
            </a:r>
            <a:r>
              <a:rPr lang="sv-SE" sz="2500" dirty="0"/>
              <a:t> </a:t>
            </a:r>
            <a:r>
              <a:rPr lang="sv-SE" sz="2500" dirty="0" err="1"/>
              <a:t>what</a:t>
            </a:r>
            <a:r>
              <a:rPr lang="sv-SE" sz="2500" dirty="0"/>
              <a:t> </a:t>
            </a:r>
            <a:r>
              <a:rPr lang="sv-SE" sz="2500" dirty="0" err="1"/>
              <a:t>even</a:t>
            </a:r>
            <a:r>
              <a:rPr lang="sv-SE" sz="2500" dirty="0"/>
              <a:t> a </a:t>
            </a:r>
            <a:r>
              <a:rPr lang="sv-SE" sz="2500" dirty="0" err="1"/>
              <a:t>very</a:t>
            </a:r>
            <a:r>
              <a:rPr lang="sv-SE" sz="2500" dirty="0"/>
              <a:t> simple </a:t>
            </a:r>
            <a:r>
              <a:rPr lang="sv-SE" sz="2500" dirty="0" err="1"/>
              <a:t>dynamic</a:t>
            </a:r>
            <a:r>
              <a:rPr lang="sv-SE" sz="2500" dirty="0"/>
              <a:t> </a:t>
            </a:r>
            <a:r>
              <a:rPr lang="sv-SE" sz="2500" dirty="0" err="1"/>
              <a:t>model</a:t>
            </a:r>
            <a:r>
              <a:rPr lang="sv-SE" sz="2500" dirty="0"/>
              <a:t> </a:t>
            </a:r>
            <a:r>
              <a:rPr lang="sv-SE" sz="2500" dirty="0" err="1"/>
              <a:t>will</a:t>
            </a:r>
            <a:r>
              <a:rPr lang="sv-SE" sz="2500" dirty="0"/>
              <a:t> </a:t>
            </a:r>
            <a:r>
              <a:rPr lang="sv-SE" sz="2500" dirty="0" err="1"/>
              <a:t>produce</a:t>
            </a:r>
            <a:r>
              <a:rPr lang="sv-SE" sz="2500" dirty="0"/>
              <a:t>” (Axelrod,1997)</a:t>
            </a:r>
          </a:p>
          <a:p>
            <a:endParaRPr lang="sv-SE" sz="13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BB8319-A693-43E4-AFE2-261798E0DCB7}"/>
              </a:ext>
            </a:extLst>
          </p:cNvPr>
          <p:cNvSpPr/>
          <p:nvPr/>
        </p:nvSpPr>
        <p:spPr>
          <a:xfrm>
            <a:off x="2255994" y="1245757"/>
            <a:ext cx="1765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Lessons learned:</a:t>
            </a:r>
          </a:p>
        </p:txBody>
      </p:sp>
    </p:spTree>
    <p:extLst>
      <p:ext uri="{BB962C8B-B14F-4D97-AF65-F5344CB8AC3E}">
        <p14:creationId xmlns:p14="http://schemas.microsoft.com/office/powerpoint/2010/main" val="3653020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7BE0EE43B23043AFE79A610A7C27D2" ma:contentTypeVersion="5" ma:contentTypeDescription="Create a new document." ma:contentTypeScope="" ma:versionID="778329dbcf46a37d733c712f27d7b43b">
  <xsd:schema xmlns:xsd="http://www.w3.org/2001/XMLSchema" xmlns:xs="http://www.w3.org/2001/XMLSchema" xmlns:p="http://schemas.microsoft.com/office/2006/metadata/properties" xmlns:ns2="e45ff77a-a734-434e-b7dc-7ade962cb631" xmlns:ns3="2808f00f-3211-41a5-bfe5-d2c2468f696f" targetNamespace="http://schemas.microsoft.com/office/2006/metadata/properties" ma:root="true" ma:fieldsID="6127767fb6d362b6b9d04ae9972bdc25" ns2:_="" ns3:_="">
    <xsd:import namespace="e45ff77a-a734-434e-b7dc-7ade962cb631"/>
    <xsd:import namespace="2808f00f-3211-41a5-bfe5-d2c2468f696f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ff77a-a734-434e-b7dc-7ade962cb631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08f00f-3211-41a5-bfe5-d2c2468f696f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PublishedVersion xmlns="2808f00f-3211-41a5-bfe5-d2c2468f696f" xsi:nil="true"/>
    <_lisam_Description xmlns="e45ff77a-a734-434e-b7dc-7ade962cb631" xsi:nil="true"/>
  </documentManagement>
</p:properties>
</file>

<file path=customXml/itemProps1.xml><?xml version="1.0" encoding="utf-8"?>
<ds:datastoreItem xmlns:ds="http://schemas.openxmlformats.org/officeDocument/2006/customXml" ds:itemID="{B7C8C98C-1CAB-4AA0-9AAC-B5241B06CD9F}"/>
</file>

<file path=customXml/itemProps2.xml><?xml version="1.0" encoding="utf-8"?>
<ds:datastoreItem xmlns:ds="http://schemas.openxmlformats.org/officeDocument/2006/customXml" ds:itemID="{33220214-C2BB-49E3-8BA1-B6B495F058EA}"/>
</file>

<file path=customXml/itemProps3.xml><?xml version="1.0" encoding="utf-8"?>
<ds:datastoreItem xmlns:ds="http://schemas.openxmlformats.org/officeDocument/2006/customXml" ds:itemID="{6F533B7A-DBDC-4E51-B28F-C655B492A6D1}"/>
</file>

<file path=docProps/app.xml><?xml version="1.0" encoding="utf-8"?>
<Properties xmlns="http://schemas.openxmlformats.org/officeDocument/2006/extended-properties" xmlns:vt="http://schemas.openxmlformats.org/officeDocument/2006/docPropsVTypes">
  <TotalTime>13294</TotalTime>
  <Words>653</Words>
  <Application>Microsoft Office PowerPoint</Application>
  <PresentationFormat>Widescreen</PresentationFormat>
  <Paragraphs>109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Linköpings universitet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Eduardo Tapia</dc:creator>
  <cp:lastModifiedBy>Eduardo Tapia</cp:lastModifiedBy>
  <cp:revision>169</cp:revision>
  <dcterms:created xsi:type="dcterms:W3CDTF">2016-09-19T15:22:17Z</dcterms:created>
  <dcterms:modified xsi:type="dcterms:W3CDTF">2026-03-23T14:46:15Z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0x0101000B7BE0EE43B23043AFE79A610A7C27D2</vt:lpwstr>
  </property>
</Properties>
</file>